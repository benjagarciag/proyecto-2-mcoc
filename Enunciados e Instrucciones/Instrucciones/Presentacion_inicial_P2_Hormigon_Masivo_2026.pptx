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Presentación inicial del proyecto. Duración sugerida: 40–50 minutos, incluyendo preguntas. La fotografía muestra Punta Palmeras, Chile, como contexto eólico; no representa la fundación del artículo ni uno de los nueve sitios asignados. El recorrido principal termina en la diapositiva 28; los anexos quedan para consulta.</a:t>
            </a:r>
          </a:p>
          <a:p/>
          <a:p>
            <a:r>
              <a:t>FUENTES</a:t>
            </a:r>
          </a:p>
          <a:p>
            <a:r>
              <a:t>README.md</a:t>
            </a:r>
          </a:p>
          <a:p>
            <a:r>
              <a:t>entregas/E00_KICKOFF.md</a:t>
            </a:r>
          </a:p>
          <a:p>
            <a:r>
              <a:t>Foto: ACCIONA · https://www.acciona.cl/proyectos/parque-eolico-punta-palmeras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Pedir a los estudiantes que identifiquen qué decisiones puede tomar un constructor. El producto final es una recomendación ejecutable, apoyada por un programa que permita cambiar inputs y volver a evaluar. Fotografía del caso experimental: antes de hormigonar y después del desmolde.</a:t>
            </a:r>
          </a:p>
          <a:p/>
          <a:p>
            <a:r>
              <a:t>FUENTES</a:t>
            </a:r>
          </a:p>
          <a:p>
            <a:r>
              <a:t>00_PROYECTO_GENERAL.md</a:t>
            </a:r>
          </a:p>
          <a:p>
            <a:r>
              <a:t>Ju y Lei (2019), fig. 1, p. 3 · https://doi.org/10.1155/2019/7029671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Esquema cualitativo, sin resultados simulados. El concepto de hormigón masivo depende del calor generado y de la dificultad para disiparlo, no sólo del volumen. Una temperatura ambiente baja puede ayudar a limitar el máximo y al mismo tiempo aumentar el enfriamiento superficial. No convertir esta explicación en una conclusión anticipada para un sitio.</a:t>
            </a:r>
          </a:p>
          <a:p/>
          <a:p>
            <a:r>
              <a:t>FUENTES</a:t>
            </a:r>
          </a:p>
          <a:p>
            <a:r>
              <a:t>00_PROYECTO_GENERAL.md</a:t>
            </a:r>
          </a:p>
          <a:p>
            <a:r>
              <a:t>https://doi.org/10.1155/2019/7029671</a:t>
            </a:r>
          </a:p>
          <a:p>
            <a:r>
              <a:t>https://ich.cl/documentos-ich/especificacion-para-hormigon-masivo-estructural/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caso es una fundación de turbina eólica en el norte de China. La figura muestra la disposición de sensores y parte de la geometría. No debe reconstruirse cada detalle por conjetura ni tratar 18 × 18 × 3,3 como volumen exacto del sólido. El profesor entregará o validará la geometría oficial.</a:t>
            </a:r>
          </a:p>
          <a:p/>
          <a:p>
            <a:r>
              <a:t>FUENTES</a:t>
            </a:r>
          </a:p>
          <a:p>
            <a:r>
              <a:t>00_PROYECTO_GENERAL.md §4</a:t>
            </a:r>
          </a:p>
          <a:p>
            <a:r>
              <a:t>02_CASO_BASE_CRITERIOS_Y_REFERENCIAS.md</a:t>
            </a:r>
          </a:p>
          <a:p>
            <a:r>
              <a:t>https://doi.org/10.1155/2019/7029671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fundación de referencia sin control térmico se colocó en 24 horas. El máximo de temperatura del núcleo aparece alrededor del día 4; el diferencial vertical máximo se reporta a los 9 días. Son métricas diferentes y no necesariamente ocurren al mismo tiempo. No exigir que cada grupo reproduzca exactamente 73 °C: cambian sitio, mezcla, geometría oficial y decisiones de construcción.</a:t>
            </a:r>
          </a:p>
          <a:p/>
          <a:p>
            <a:r>
              <a:t>FUENTES</a:t>
            </a:r>
          </a:p>
          <a:p>
            <a:r>
              <a:t>Ju y Lei (2019), §3.1 y conclusiones, figs. 4 y 7 · https://doi.org/10.1155/2019/7029671</a:t>
            </a:r>
          </a:p>
          <a:p>
            <a:r>
              <a:t>entregas/E09_W3_VIERNES_BASELINE_3D.md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Tmax ≤ 70 °C y ΔTmax ≤ 20 °C son requisitos únicos del caso docente. No afirmar que el ICH exige siempre 70 °C ni que define un único diferencial para toda edad. El curso adopta 20 °C fijo como criterio conservador y no exige un modelo termo-viscoelástico. La definición operacional y su tratamiento numérico se detallan en el anexo.</a:t>
            </a:r>
          </a:p>
          <a:p/>
          <a:p>
            <a:r>
              <a:t>FUENTES</a:t>
            </a:r>
          </a:p>
          <a:p>
            <a:r>
              <a:t>00_PROYECTO_GENERAL.md §3</a:t>
            </a:r>
          </a:p>
          <a:p>
            <a:r>
              <a:t>02_CASO_BASE_CRITERIOS_Y_REFERENCIAS.md</a:t>
            </a:r>
          </a:p>
          <a:p>
            <a:r>
              <a:t>https://ich.cl/documentos-ich/especificacion-para-hormigon-masivo-estructural/</a:t>
            </a:r>
          </a:p>
          <a:p>
            <a:r>
              <a:t>https://www.concrete.org/frequentlyaskedquestions/faqid/889.aspx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aislación reduce el intercambio con el exterior; puede disminuir el diferencial núcleo-superficie y prolongar el enfriamiento o elevar el máximo. El artículo de Smolana lo estudia mediante análisis termo-mecánico. El informe Iowa muestra sensibilidad a temperatura de colocación, curado y retiro de moldaje. Estas observaciones orientan alternativas, pero no constituyen una receta universal.</a:t>
            </a:r>
          </a:p>
          <a:p/>
          <a:p>
            <a:r>
              <a:t>FUENTES</a:t>
            </a:r>
          </a:p>
          <a:p>
            <a:r>
              <a:t>00_PROYECTO_GENERAL.md §2</a:t>
            </a:r>
          </a:p>
          <a:p>
            <a:r>
              <a:t>https://doi.org/10.1155/2019/7029671</a:t>
            </a:r>
          </a:p>
          <a:p>
            <a:r>
              <a:t>https://doi.org/10.1016/j.jobe.2021.102947</a:t>
            </a:r>
          </a:p>
          <a:p>
            <a:r>
              <a:t>bib/mass_concrete_i_w_cvr.pdf, capítulo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coordenadas son puntos meteorológicos oficiales del caso docente, no necesariamente centros de fundaciones reales. No modificar sin autorización del profesor. El mapa es sólo localización y no representa resultados. Las descripciones climáticas del documento son hipótesis a comprobar; evitar anticipar qué criterio dominará en cada sitio. No se actualizan ni se afirman estados administrativos de los parques.</a:t>
            </a:r>
          </a:p>
          <a:p/>
          <a:p>
            <a:r>
              <a:t>FUENTES</a:t>
            </a:r>
          </a:p>
          <a:p>
            <a:r>
              <a:t>03_SITIOS_POR_GRUPO.md</a:t>
            </a:r>
          </a:p>
          <a:p>
            <a:r>
              <a:t>sitios.yaml</a:t>
            </a:r>
          </a:p>
          <a:p>
            <a:r>
              <a:t>Natural Earth (dominio público): https://www.naturalearthdata.com/</a:t>
            </a:r>
          </a:p>
          <a:p>
            <a:r>
              <a:t>Datos cartográficos: https://github.com/nvkelso/natural-earth-vector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BIM, solver y visualizador tienen funciones distintas. La información constructiva debe atravesar el flujo sin depender del estado interno de Blender. Los alumnos desarrollan el núcleo térmico; un solver comercial o externo no lo sustituye. Monte Carlo se paraleliza a nivel de realizaciones.</a:t>
            </a:r>
          </a:p>
          <a:p/>
          <a:p>
            <a:r>
              <a:t>FUENTES</a:t>
            </a:r>
          </a:p>
          <a:p>
            <a:r>
              <a:t>guias/G00_MAPA_CONCEPTUAL.md</a:t>
            </a:r>
          </a:p>
          <a:p>
            <a:r>
              <a:t>guias/G08_ARQUITECTURA_DEL_PROYECTO.md</a:t>
            </a:r>
          </a:p>
          <a:p>
            <a:r>
              <a:t>00_PROYECTO_GENERAL.md §5–7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captura es un ejemplo de interfaz de Bonsai, no el modelo del caso. BIM es información estructurada del activo, IFC es intercambio abierto, Blender es la interfaz de modelación y Bonsai agrega autoría BIM. Validar unidades, placements, GUID y property sets. El solver debe funcionar sin abrir Blender. Primer laboratorio: modificar un objeto, guardar IFC y detectar el cambio desde Python.</a:t>
            </a:r>
          </a:p>
          <a:p/>
          <a:p>
            <a:r>
              <a:t>FUENTES</a:t>
            </a:r>
          </a:p>
          <a:p>
            <a:r>
              <a:t>guias/G01_BIM_IFC_REVIT_OPENBIM.md</a:t>
            </a:r>
          </a:p>
          <a:p>
            <a:r>
              <a:t>guias/G02_BLENDER_BONSAI.md</a:t>
            </a:r>
          </a:p>
          <a:p>
            <a:r>
              <a:t>guias/G03_IFCOPENSHELL_PYTHON.md</a:t>
            </a:r>
          </a:p>
          <a:p>
            <a:r>
              <a:t>https://docs.bonsaibim.org/studio/reference/general/interface.html</a:t>
            </a:r>
          </a:p>
          <a:p>
            <a:r>
              <a:t>https://docs.ifcopenshell.org/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mostrado es un esquema genérico para ilustrar voxeles y etapas; no se ofrece como geometría oficial. En el baseline basta clasificar por el centro de la celda y estudiar la frontera escalonada. Evaluar el error relativo de volumen y luego la convergencia de Tmax, ΔTmax y tiempo al máximo. Una cara entre dos celdas activas es interna; una cara exterior requiere condición de borde.</a:t>
            </a:r>
          </a:p>
          <a:p/>
          <a:p>
            <a:r>
              <a:t>FUENTES</a:t>
            </a:r>
          </a:p>
          <a:p>
            <a:r>
              <a:t>guias/G04_VOXELIZACION_CARTESIANA.md</a:t>
            </a:r>
          </a:p>
          <a:p>
            <a:r>
              <a:t>entregas/E07_W3_MIERCOLES_VOXEL_HIDRATACION.md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 = ρi cp,i Vi tiene unidades J/K; Gij tiene unidades W/K; la fuente volumétrica Qdot está en W/m³ y se multiplica por el volumen. Todos los términos de la derecha son potencias en W. Qborde debe usar una convención consistente, por ejemplo positivo hacia la celda. El enfoque puede interpretarse como diferencias finitas por balance o volúmenes finitos cartesianos. No se permite sustituir el núcleo por ANSYS, Kratos u otro solver.</a:t>
            </a:r>
          </a:p>
          <a:p/>
          <a:p>
            <a:r>
              <a:t>FUENTES</a:t>
            </a:r>
          </a:p>
          <a:p>
            <a:r>
              <a:t>guias/G05_DIFUSION_TERMICA_FD.md</a:t>
            </a:r>
          </a:p>
          <a:p>
            <a:r>
              <a:t>00_PROYECTO_GENERAL.md §5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figura muestra el ensayo de aumento adiabático del artículo. Para propiedades constantes, la derivada de Tad se relaciona con la fuente volumétrica por ρcp. Cada vertida debe tener reloj local; si el modelo incluye dependencia con la temperatura, justificar cinética o madurez. Documentar parámetros y unidades. No copiar automáticamente la mezcla del paper. Las interfaces entre vertidas aparecen cuando se activa la nueva etapa.</a:t>
            </a:r>
          </a:p>
          <a:p/>
          <a:p>
            <a:r>
              <a:t>FUENTES</a:t>
            </a:r>
          </a:p>
          <a:p>
            <a:r>
              <a:t>guias/G04_VOXELIZACION_CARTESIANA.md</a:t>
            </a:r>
          </a:p>
          <a:p>
            <a:r>
              <a:t>guias/G05_DIFUSION_TERMICA_FD.md</a:t>
            </a:r>
          </a:p>
          <a:p>
            <a:r>
              <a:t>entregas/E07_W3_MIERCOLES_VOXEL_HIDRATACION.md</a:t>
            </a:r>
          </a:p>
          <a:p>
            <a:r>
              <a:t>https://doi.org/10.1155/2019/7029671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convección es intercambio superficial, no generación interna. La ecuación mostrada define qsalida positivo desde el hormigón al ambiente. La radiación solar absorbida tiene unidades W/m²; la hidratación, W/m³. No agregar variables meteorológicas sin una ecuación que las utilice ni contar dos veces el intercambio radiativo.</a:t>
            </a:r>
          </a:p>
          <a:p/>
          <a:p>
            <a:r>
              <a:t>FUENTES</a:t>
            </a:r>
          </a:p>
          <a:p>
            <a:r>
              <a:t>00_PROYECTO_GENERAL.md §6</a:t>
            </a:r>
          </a:p>
          <a:p>
            <a:r>
              <a:t>guias/G05_DIFUSION_TERMICA_FD.md</a:t>
            </a:r>
          </a:p>
          <a:p>
            <a:r>
              <a:t>entregas/E10_W4_MIERCOLES_ENTORNO_CLIMA.md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solución sinusoidal corresponde a extremos a T0 y propiedades constantes. Separar el refinamiento espacial del temporal, manteniendo estabilidad. La verificación comprueba que se resuelve correctamente la ecuación; comparar con el paper es contraste físico y no reemplaza la verificación. E03 exige exacto vs numérico y convergencia; E06 consolida la batería y el BIM.</a:t>
            </a:r>
          </a:p>
          <a:p/>
          <a:p>
            <a:r>
              <a:t>FUENTES</a:t>
            </a:r>
          </a:p>
          <a:p>
            <a:r>
              <a:t>guias/G05_DIFUSION_TERMICA_FD.md</a:t>
            </a:r>
          </a:p>
          <a:p>
            <a:r>
              <a:t>entregas/E03_W1_VIERNES_VERIFICACION_1D.md</a:t>
            </a:r>
          </a:p>
          <a:p>
            <a:r>
              <a:t>entregas/E05_W2_JUEVES_LAB_VERIFICACION.md</a:t>
            </a:r>
          </a:p>
          <a:p>
            <a:r>
              <a:t>entregas/E06_W2_VIERNES_DOSSIER_VERIFICACION.md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API recomendada permite consultar temperatura del aire y otras variables. No se muestra un forecast inventado ni se descarga uno como si fuera el de la defensa, cuya fecha es TBD. Preservar pronósticos anteriores y usar el más reciente en la entrega final. F01 requiere contrastar al menos dos snapshots y explicar si cambió la decisión. La correlación temporal del clima importa: no usar normales independientes por hora sin justificación.</a:t>
            </a:r>
          </a:p>
          <a:p/>
          <a:p>
            <a:r>
              <a:t>FUENTES</a:t>
            </a:r>
          </a:p>
          <a:p>
            <a:r>
              <a:t>guias/G07_CLIMA_Y_PRONOSTICOS.md</a:t>
            </a:r>
          </a:p>
          <a:p>
            <a:r>
              <a:t>entregas/F01_PLAN_CONTROL_TEMPERATURA_FINAL.md</a:t>
            </a:r>
          </a:p>
          <a:p>
            <a:r>
              <a:t>https://open-meteo.com/en/docs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Separar incertidumbre del material, de ejecución y meteorológica; explicitar limitaciones del modelo. Definir gT = 70 − Tmax y gΔ = 20 − ΔTmax. El evento es exceder estrictamente el límite. No basta reportar un promedio. El documento del curso no fija una probabilidad admisible universal; no inventar una. Informar tamaño de muestra, convergencia e intervalo de confianza. Cero excedencias observadas no implica riesgo cero.</a:t>
            </a:r>
          </a:p>
          <a:p/>
          <a:p>
            <a:r>
              <a:t>FUENTES</a:t>
            </a:r>
          </a:p>
          <a:p>
            <a:r>
              <a:t>00_PROYECTO_GENERAL.md §10</a:t>
            </a:r>
          </a:p>
          <a:p>
            <a:r>
              <a:t>entregas/E13_W5_MIERCOLES_INCERTIDUMBRE.md</a:t>
            </a:r>
          </a:p>
          <a:p>
            <a:r>
              <a:t>entregas/E15_W5_VIERNES_COMPARACION_PLANES.md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paralelismo natural es a nivel de realizaciones independientes. Mantener coherencia entre muestras y su metadato. Registrar fallos de ejecución sin confundirlos con excedencias físicas ni descartar selectivamente resultados. El laboratorio revisa sampler, batch, job y agregación; no exige complejidad de MPI.</a:t>
            </a:r>
          </a:p>
          <a:p/>
          <a:p>
            <a:r>
              <a:t>FUENTES</a:t>
            </a:r>
          </a:p>
          <a:p>
            <a:r>
              <a:t>entregas/E14_W5_JUEVES_HPC.md</a:t>
            </a:r>
          </a:p>
          <a:p>
            <a:r>
              <a:t>00_PROYECTO_GENERAL.md §11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figura corresponde a la malla de elementos finitos del artículo, no al método exigido al alumnado. Se usa como referencia geométrica: nuestro solver es cartesiano. Cada figura final debe tener unidades, tiempo, input y comando para regenerarla. Distinguir una visualización de geometría de un campo térmico calculado. Exportar temperatura y vertida_id a VTK.</a:t>
            </a:r>
          </a:p>
          <a:p/>
          <a:p>
            <a:r>
              <a:t>FUENTES</a:t>
            </a:r>
          </a:p>
          <a:p>
            <a:r>
              <a:t>Ju y Lei (2019), fig. 11 · https://doi.org/10.1155/2019/7029671</a:t>
            </a:r>
          </a:p>
          <a:p>
            <a:r>
              <a:t>guias/G06_PYVISTA_VTK_PARAVIEW.md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diagrama de Wang es una referencia de instrumentación de otro proyecto; no trasladar automáticamente posiciones ni número de sensores al caso docente. La especificación general recoge una pauta ICH de registros cada 30 minutos o menos en las primeras 48 horas y luego cada hora, por al menos 7 días. El plan del curso debe ser compatible con su horizonte de 14 días. No se exige construir hardware. Definir contingencias consistentes con ambos límites y las limitaciones del modelo.</a:t>
            </a:r>
          </a:p>
          <a:p/>
          <a:p>
            <a:r>
              <a:t>FUENTES</a:t>
            </a:r>
          </a:p>
          <a:p>
            <a:r>
              <a:t>Wang et al. (2025), fig. 3 · https://doi.org/10.1155/stc/7847074</a:t>
            </a:r>
          </a:p>
          <a:p>
            <a:r>
              <a:t>00_PROYECTO_GENERAL.md §13</a:t>
            </a:r>
          </a:p>
          <a:p>
            <a:r>
              <a:t>entregas/F01_PLAN_CONTROL_TEMPERATURA_FINAL.md</a:t>
            </a:r>
          </a:p>
          <a:p>
            <a:r>
              <a:t>https://ich.cl/documentos-ich/especificacion-para-hormigon-masivo-estructural/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llenar la tabla con resultados inventados. E15 requiere al menos tres planes constructivos realmente distintos, número de simulaciones, convergencia e intervalo de confianza. La recomendación es provisional hasta incorporar la información final, especialmente el forecast. No se requiere un optimizador automático ni una función de costos que el curso no define.</a:t>
            </a:r>
          </a:p>
          <a:p/>
          <a:p>
            <a:r>
              <a:t>FUENTES</a:t>
            </a:r>
          </a:p>
          <a:p>
            <a:r>
              <a:t>entregas/E15_W5_VIERNES_COMPARACION_PLANES.md</a:t>
            </a:r>
          </a:p>
          <a:p>
            <a:r>
              <a:t>entregas/F01_PLAN_CONTROL_TEMPERATURA_FINAL.md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F01 admite Markdown o PDF de máximo 3000 palabras más figuras y tablas. Debe incluir dos snapshots meteorológicos y una explicación de su efecto sobre la decisión. Congelar commit, coordenadas, inputs y snapshot final. La arquitectura funcional es equivalente a simulate, reliability y compare, aunque los nombres exactos no son obligatorios.</a:t>
            </a:r>
          </a:p>
          <a:p/>
          <a:p>
            <a:r>
              <a:t>FUENTES</a:t>
            </a:r>
          </a:p>
          <a:p>
            <a:r>
              <a:t>entregas/F01_PLAN_CONTROL_TEMPERATURA_FINAL.md</a:t>
            </a:r>
          </a:p>
          <a:p>
            <a:r>
              <a:t>entregas/F02_DEFENSA_FINAL.md</a:t>
            </a:r>
          </a:p>
          <a:p>
            <a:r>
              <a:t>guias/G08_ARQUITECTURA_DEL_PROYECTO.md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secuencia completa suma 50 puntos durante el semestre. Los miércoles hay revisión oral de 10:30 a 13:20; los jueves laboratorio de 10:30 a 12:30; el viernes se entrega lo indicado en Canvas. El período posterior al 20 de noviembre se reserva para cierre, correcciones, producción, actualización del forecast y defensa. La fecha final permanece por definir.</a:t>
            </a:r>
          </a:p>
          <a:p/>
          <a:p>
            <a:r>
              <a:t>FUENTES</a:t>
            </a:r>
          </a:p>
          <a:p>
            <a:r>
              <a:t>01_CALENDARIO_Y_PUNTAJES.md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mitad del puntaje se obtiene durante el desarrollo y la otra mitad en el cierre. Las evaluaciones orales pueden dirigirse a cualquier integrante; la nota individual puede diferir. Se permite IA, pero no se concede crédito por código o análisis que la persona no pueda explicar. Toda entrega es trazable a un SHA explícito.</a:t>
            </a:r>
          </a:p>
          <a:p/>
          <a:p>
            <a:r>
              <a:t>FUENTES</a:t>
            </a:r>
          </a:p>
          <a:p>
            <a:r>
              <a:t>01_CALENDARIO_Y_PUNTAJES.md</a:t>
            </a:r>
          </a:p>
          <a:p>
            <a:r>
              <a:t>00_PROYECTO_GENERAL.md §14–15</a:t>
            </a:r>
          </a:p>
          <a:p>
            <a:r>
              <a:t>entregas/F02_DEFENSA_FINAL.md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evaluador podrá modificar temperatura de colocación, hora de inicio, intervalo entre vertidas, aislación, retiro de moldaje o clima. Se admite una grilla más gruesa, menos realizaciones o un caso determinista para la demo. Debe mantenerse la arquitectura. La rúbrica de 40 puntos incluye 9 de preguntas individuales y 4 de demo.</a:t>
            </a:r>
          </a:p>
          <a:p/>
          <a:p>
            <a:r>
              <a:t>FUENTES</a:t>
            </a:r>
          </a:p>
          <a:p>
            <a:r>
              <a:t>entregas/F02_DEFENSA_FINAL.md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esperar a completar toda la interfaz BIM para comenzar el solver 1D: son frentes que pueden avanzar en paralelo dentro del equipo. El miércoles se revisa código real. El jueves se exige round-trip de IFC y al menos un test automático. El viernes las figuras deben poder regenerarse desde el repositorio.</a:t>
            </a:r>
          </a:p>
          <a:p/>
          <a:p>
            <a:r>
              <a:t>FUENTES</a:t>
            </a:r>
          </a:p>
          <a:p>
            <a:r>
              <a:t>entregas/E01_W1_MIERCOLES_REVISION_ORAL.md</a:t>
            </a:r>
          </a:p>
          <a:p>
            <a:r>
              <a:t>entregas/E02_W1_JUEVES_LAB.md</a:t>
            </a:r>
          </a:p>
          <a:p>
            <a:r>
              <a:t>entregas/E03_W1_VIERNES_VERIFICACION_1D.md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Reservar tiempo para confirmar equipos, asignaciones y repositorios. Al final de la sesión registrar grupo, integrantes, URL y SHA inicial. E00 tiene cero puntos, pero es requisito para evaluaciones posteriores. Cerrar volviendo a la pregunta de ingeniería y resolver dudas sobre el alcance.</a:t>
            </a:r>
          </a:p>
          <a:p/>
          <a:p>
            <a:r>
              <a:t>FUENTES</a:t>
            </a:r>
          </a:p>
          <a:p>
            <a:r>
              <a:t>entregas/E00_KICKOFF.md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bibliografía complementaria aporta contexto: Smolana sobre secuencia, aislación y construcción; Wang sobre sensores; Iowa sobre sensibilidad; Bester sobre requisitos de hormigón para edificios altos. El manuscrito 26-009 trata creep y retracción y queda fuera del núcleo térmico exigido. El ZIP fue comparado con los documentos desplegados y coincide byte a byte. Los anexos contienen detalles de calendario y fuentes.</a:t>
            </a:r>
          </a:p>
          <a:p/>
          <a:p>
            <a:r>
              <a:t>FUENTES</a:t>
            </a:r>
          </a:p>
          <a:p>
            <a:r>
              <a:t>README.md</a:t>
            </a:r>
          </a:p>
          <a:p>
            <a:r>
              <a:t>guias/</a:t>
            </a:r>
          </a:p>
          <a:p>
            <a:r>
              <a:t>entregas/</a:t>
            </a:r>
          </a:p>
          <a:p>
            <a:r>
              <a:t>https://doi.org/10.1155/2019/7029671</a:t>
            </a:r>
          </a:p>
          <a:p>
            <a:r>
              <a:t>https://ich.cl/documentos-ich/especificacion-para-hormigon-masivo-estructural/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lanzamiento E00 es el jueves 15 de octubre, 10:30, sin puntaje. Mantener la fecha final TBD conforme al calendario y las especificaciones generales. Existe una mención residual al día 27 en E10 y un ejemplo de fecha en G08; no se interpretan como fecha oficial ni se trasladan a la presentación.</a:t>
            </a:r>
          </a:p>
          <a:p/>
          <a:p>
            <a:r>
              <a:t>FUENTES</a:t>
            </a:r>
          </a:p>
          <a:p>
            <a:r>
              <a:t>01_CALENDARIO_Y_PUNTAJES.md</a:t>
            </a:r>
          </a:p>
          <a:p>
            <a:r>
              <a:t>entregas/E00_KICKOFF.md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ΔTmax = max_t [Tmax,Ω(t) − Tmin,S25(t)]. No restar máximos y mínimos ocurridos en tiempos distintos. Si la grilla es más gruesa que 25 mm, no afirmar que el centro de la primera celda está a esa profundidad: justificar aproximación, reconstrucción o refinamiento y mantener trazabilidad núcleo-superficie. ACI y la especificación ICH no se reducen a los límites únicos del curso. ICH Tabla 4: 20 °C para resistencia real &lt;10 MPa, 25 °C para 10–25 MPa y 30 °C para &gt;25 MPa, según los documentos del curso.</a:t>
            </a:r>
          </a:p>
          <a:p/>
          <a:p>
            <a:r>
              <a:t>FUENTES</a:t>
            </a:r>
          </a:p>
          <a:p>
            <a:r>
              <a:t>00_PROYECTO_GENERAL.md §3</a:t>
            </a:r>
          </a:p>
          <a:p>
            <a:r>
              <a:t>02_CASO_BASE_CRITERIOS_Y_REFERENCIAS.md</a:t>
            </a:r>
          </a:p>
          <a:p>
            <a:r>
              <a:t>guias/G04_VOXELIZACION_CARTESIANA.md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condiciones corresponden a Euler explícito para difusión pura. Para balances heterogéneos, una guía local es Δt ≲ Ci/(Σj Gij + Gborde,i). Un modelo de hidratación no lineal puede introducir otras restricciones. Verificar estabilidad y convergencia del esquema realmente implementado; no extrapolar automáticamente Fo ≤ 1/6 a cualquier modelo.</a:t>
            </a:r>
          </a:p>
          <a:p/>
          <a:p>
            <a:r>
              <a:t>FUENTES</a:t>
            </a:r>
          </a:p>
          <a:p>
            <a:r>
              <a:t>guias/G05_DIFUSION_TERMICA_FD.md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revisaron los siete PDFs del directorio. mass_concrete_i_t2.pdf es el resumen de transferencia del informe mass_concrete_i_w_cvr.pdf. Bester es un trabajo académico de revisión sobre edificios altos. 26-009.pdf se identifica como manuscrito prepublicado, con DOI placeholder; no se presenta como artículo definitivo ni se reproduce material suyo. No se agrega análisis mecánico de creep/retracción a las exigencias del curso.</a:t>
            </a:r>
          </a:p>
          <a:p/>
          <a:p>
            <a:r>
              <a:t>FUENTES</a:t>
            </a:r>
          </a:p>
          <a:p>
            <a:r>
              <a:t>https://doi.org/10.1016/j.jobe.2021.102947</a:t>
            </a:r>
          </a:p>
          <a:p>
            <a:r>
              <a:t>https://doi.org/10.1155/stc/7847074</a:t>
            </a:r>
          </a:p>
          <a:p>
            <a:r>
              <a:t>bib/mass_concrete_i_w_cvr.pdf</a:t>
            </a:r>
          </a:p>
          <a:p>
            <a:r>
              <a:t>bib/mass_concrete_i_t2.pdf</a:t>
            </a:r>
          </a:p>
          <a:p>
            <a:r>
              <a:t>bib/BesterN2013-Concreteforhigh-risebuildings-Performancerequirementsmixdesignandconstructionconsiderations.pdf</a:t>
            </a:r>
          </a:p>
          <a:p>
            <a:r>
              <a:t>bib/26-009.pdf</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Imágenes extraídas de PDFs proporcionados por el usuario y descargadas de páginas oficiales. Se conservan los archivos de origen y la identificación de figuras. Los esquemas se rotulan como conceptuales; no son resultados de simulación. La fotografía ACCIONA no se presenta como imagen de un sitio asignado. Las referencias web se consultaron al elaborar esta presentación.</a:t>
            </a:r>
          </a:p>
          <a:p/>
          <a:p>
            <a:r>
              <a:t>FUENTES</a:t>
            </a:r>
          </a:p>
          <a:p>
            <a:r>
              <a:t>https://doi.org/10.1155/2019/7029671</a:t>
            </a:r>
          </a:p>
          <a:p>
            <a:r>
              <a:t>https://doi.org/10.1155/stc/7847074</a:t>
            </a:r>
          </a:p>
          <a:p>
            <a:r>
              <a:t>https://doi.org/10.1016/j.jobe.2021.102947</a:t>
            </a:r>
          </a:p>
          <a:p>
            <a:r>
              <a:t>https://www.acciona.cl/proyectos/parque-eolico-punta-palmeras</a:t>
            </a:r>
          </a:p>
          <a:p>
            <a:r>
              <a:t>https://docs.bonsaibim.org/studio/reference/general/interface.html</a:t>
            </a:r>
          </a:p>
          <a:p>
            <a:r>
              <a:t>https://ich.cl/documentos-ich/especificacion-para-hormigon-masivo-estructural/</a:t>
            </a:r>
          </a:p>
          <a:p>
            <a:r>
              <a:t>https://open-meteo.com/en/docs</a:t>
            </a:r>
          </a:p>
          <a:p>
            <a:r>
              <a:t>https://www.concrete.org/frequentlyaskedquestions/faqid/889.aspx</a:t>
            </a:r>
          </a:p>
          <a:p>
            <a:r>
              <a:t>https://www.naturalearthdata.com/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55/2019/7029671" TargetMode="External"/><Relationship Id="rId3" Type="http://schemas.openxmlformats.org/officeDocument/2006/relationships/hyperlink" Target="https://doi.org/10.1155/stc/7847074" TargetMode="External"/><Relationship Id="rId4" Type="http://schemas.openxmlformats.org/officeDocument/2006/relationships/hyperlink" Target="https://www.acciona.cl/proyectos/parque-eolico-punta-palmeras" TargetMode="External"/><Relationship Id="rId5" Type="http://schemas.openxmlformats.org/officeDocument/2006/relationships/hyperlink" Target="https://docs.bonsaibim.org/studio/reference/general/interface.html" TargetMode="External"/><Relationship Id="rId6" Type="http://schemas.openxmlformats.org/officeDocument/2006/relationships/hyperlink" Target="https://www.naturalearthdata.com/" TargetMode="External"/><Relationship Id="rId7" Type="http://schemas.openxmlformats.org/officeDocument/2006/relationships/hyperlink" Target="https://ich.cl/documentos-ich/especificacion-para-hormigon-masivo-estructural/" TargetMode="External"/><Relationship Id="rId8"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D3B"/>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CDE4DE"/>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CDE4DE"/>
                </a:solidFill>
                <a:latin typeface="Liberation Sans"/>
              </a:defRPr>
            </a:pPr>
            <a:r>
              <a:t>INICIO</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FFFFFF"/>
                </a:solidFill>
                <a:latin typeface="Liberation Sans"/>
              </a:defRPr>
            </a:pPr>
          </a:p>
        </p:txBody>
      </p:sp>
      <p:cxnSp>
        <p:nvCxnSpPr>
          <p:cNvPr id="5" name="Connector 4"/>
          <p:cNvCxnSpPr/>
          <p:nvPr/>
        </p:nvCxnSpPr>
        <p:spPr>
          <a:xfrm>
            <a:off x="502920" y="6382512"/>
            <a:ext cx="11183112" cy="0"/>
          </a:xfrm>
          <a:prstGeom prst="line">
            <a:avLst/>
          </a:prstGeom>
          <a:ln w="10160">
            <a:solidFill>
              <a:srgbClr val="267F8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CDE4DE"/>
                </a:solidFill>
                <a:latin typeface="Liberation Sans"/>
              </a:defRPr>
            </a:pPr>
            <a:r>
              <a:t>Proyecto docente · 2026</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CDE4DE"/>
                </a:solidFill>
                <a:latin typeface="Liberation Sans"/>
              </a:defRPr>
            </a:pPr>
            <a:r>
              <a:t>01</a:t>
            </a:r>
          </a:p>
        </p:txBody>
      </p:sp>
      <p:pic>
        <p:nvPicPr>
          <p:cNvPr id="8" name="Picture 7" descr="punta_palmeras.jpg"/>
          <p:cNvPicPr>
            <a:picLocks noChangeAspect="1"/>
          </p:cNvPicPr>
          <p:nvPr/>
        </p:nvPicPr>
        <p:blipFill>
          <a:blip r:embed="rId2"/>
          <a:srcRect l="25418" r="25418"/>
          <a:stretch>
            <a:fillRect/>
          </a:stretch>
        </p:blipFill>
        <p:spPr>
          <a:xfrm>
            <a:off x="6309360" y="594360"/>
            <a:ext cx="5879592" cy="5788152"/>
          </a:xfrm>
          <a:prstGeom prst="rect">
            <a:avLst/>
          </a:prstGeom>
        </p:spPr>
      </p:pic>
      <p:sp>
        <p:nvSpPr>
          <p:cNvPr id="9" name="Rectangle 8"/>
          <p:cNvSpPr/>
          <p:nvPr/>
        </p:nvSpPr>
        <p:spPr>
          <a:xfrm>
            <a:off x="0" y="594360"/>
            <a:ext cx="6537960" cy="5788152"/>
          </a:xfrm>
          <a:prstGeom prst="rect">
            <a:avLst/>
          </a:prstGeom>
          <a:solidFill>
            <a:srgbClr val="102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051560"/>
            <a:ext cx="5760720" cy="1645920"/>
          </a:xfrm>
          <a:prstGeom prst="rect">
            <a:avLst/>
          </a:prstGeom>
          <a:noFill/>
        </p:spPr>
        <p:txBody>
          <a:bodyPr wrap="square" lIns="0" rIns="0" tIns="0" bIns="0">
            <a:spAutoFit/>
          </a:bodyPr>
          <a:lstStyle/>
          <a:p>
            <a:pPr>
              <a:spcAft>
                <a:spcPts val="1290"/>
              </a:spcAft>
              <a:defRPr sz="4300" b="1">
                <a:solidFill>
                  <a:srgbClr val="FFFFFF"/>
                </a:solidFill>
                <a:latin typeface="Liberation Sans"/>
              </a:defRPr>
            </a:pPr>
            <a:r>
              <a:t>PLANIFICAR</a:t>
            </a:r>
          </a:p>
          <a:p>
            <a:pPr>
              <a:spcAft>
                <a:spcPts val="1290"/>
              </a:spcAft>
              <a:defRPr sz="4300" b="1">
                <a:solidFill>
                  <a:srgbClr val="FFFFFF"/>
                </a:solidFill>
                <a:latin typeface="Liberation Sans"/>
              </a:defRPr>
            </a:pPr>
            <a:r>
              <a:t>LAS VERTIDAS</a:t>
            </a:r>
          </a:p>
        </p:txBody>
      </p:sp>
      <p:sp>
        <p:nvSpPr>
          <p:cNvPr id="11" name="TextBox 10"/>
          <p:cNvSpPr txBox="1"/>
          <p:nvPr/>
        </p:nvSpPr>
        <p:spPr>
          <a:xfrm>
            <a:off x="594360" y="3063240"/>
            <a:ext cx="5486400" cy="1097280"/>
          </a:xfrm>
          <a:prstGeom prst="rect">
            <a:avLst/>
          </a:prstGeom>
          <a:noFill/>
        </p:spPr>
        <p:txBody>
          <a:bodyPr wrap="square" lIns="0" rIns="0" tIns="0" bIns="0">
            <a:spAutoFit/>
          </a:bodyPr>
          <a:lstStyle/>
          <a:p>
            <a:pPr>
              <a:spcAft>
                <a:spcPts val="840"/>
              </a:spcAft>
              <a:defRPr sz="2800" b="0">
                <a:solidFill>
                  <a:srgbClr val="CDE4DE"/>
                </a:solidFill>
                <a:latin typeface="Liberation Sans"/>
              </a:defRPr>
            </a:pPr>
            <a:r>
              <a:t>Hormigón masivo</a:t>
            </a:r>
          </a:p>
          <a:p>
            <a:pPr>
              <a:spcAft>
                <a:spcPts val="840"/>
              </a:spcAft>
              <a:defRPr sz="2800" b="0">
                <a:solidFill>
                  <a:srgbClr val="CDE4DE"/>
                </a:solidFill>
                <a:latin typeface="Liberation Sans"/>
              </a:defRPr>
            </a:pPr>
            <a:r>
              <a:t>y simulación computacional</a:t>
            </a:r>
          </a:p>
        </p:txBody>
      </p:sp>
      <p:sp>
        <p:nvSpPr>
          <p:cNvPr id="12" name="TextBox 11"/>
          <p:cNvSpPr txBox="1"/>
          <p:nvPr/>
        </p:nvSpPr>
        <p:spPr>
          <a:xfrm>
            <a:off x="594360" y="4663440"/>
            <a:ext cx="5577840" cy="731520"/>
          </a:xfrm>
          <a:prstGeom prst="rect">
            <a:avLst/>
          </a:prstGeom>
          <a:noFill/>
        </p:spPr>
        <p:txBody>
          <a:bodyPr wrap="square" lIns="0" rIns="0" tIns="0" bIns="0">
            <a:spAutoFit/>
          </a:bodyPr>
          <a:lstStyle/>
          <a:p>
            <a:pPr>
              <a:spcAft>
                <a:spcPts val="570"/>
              </a:spcAft>
              <a:defRPr sz="1900" b="0">
                <a:solidFill>
                  <a:srgbClr val="FFFFFF"/>
                </a:solidFill>
                <a:latin typeface="Liberation Sans"/>
              </a:defRPr>
            </a:pPr>
            <a:r>
              <a:t>BIM  →  física  →  incertidumbre  →  decisión</a:t>
            </a:r>
          </a:p>
        </p:txBody>
      </p:sp>
      <p:sp>
        <p:nvSpPr>
          <p:cNvPr id="13" name="TextBox 12"/>
          <p:cNvSpPr txBox="1"/>
          <p:nvPr/>
        </p:nvSpPr>
        <p:spPr>
          <a:xfrm>
            <a:off x="594360" y="5623560"/>
            <a:ext cx="5394960" cy="365760"/>
          </a:xfrm>
          <a:prstGeom prst="rect">
            <a:avLst/>
          </a:prstGeom>
          <a:noFill/>
        </p:spPr>
        <p:txBody>
          <a:bodyPr wrap="square" lIns="0" rIns="0" tIns="0" bIns="0">
            <a:spAutoFit/>
          </a:bodyPr>
          <a:lstStyle/>
          <a:p>
            <a:pPr>
              <a:spcAft>
                <a:spcPts val="509"/>
              </a:spcAft>
              <a:defRPr sz="1700" b="1">
                <a:solidFill>
                  <a:srgbClr val="CDE4DE"/>
                </a:solidFill>
                <a:latin typeface="Liberation Sans"/>
              </a:defRPr>
            </a:pPr>
            <a:r>
              <a:t>Lanzamiento · 15 octubre 2026</a:t>
            </a:r>
          </a:p>
        </p:txBody>
      </p:sp>
      <p:sp>
        <p:nvSpPr>
          <p:cNvPr id="14" name="TextBox 13"/>
          <p:cNvSpPr txBox="1"/>
          <p:nvPr/>
        </p:nvSpPr>
        <p:spPr>
          <a:xfrm>
            <a:off x="6629400" y="6099048"/>
            <a:ext cx="5120640" cy="182880"/>
          </a:xfrm>
          <a:prstGeom prst="rect">
            <a:avLst/>
          </a:prstGeom>
          <a:noFill/>
        </p:spPr>
        <p:txBody>
          <a:bodyPr wrap="square" lIns="0" rIns="0" tIns="0" bIns="0">
            <a:spAutoFit/>
          </a:bodyPr>
          <a:lstStyle/>
          <a:p>
            <a:pPr>
              <a:spcAft>
                <a:spcPts val="270"/>
              </a:spcAft>
              <a:defRPr sz="900" b="0">
                <a:solidFill>
                  <a:srgbClr val="FFFFFF"/>
                </a:solidFill>
                <a:latin typeface="Liberation Sans"/>
              </a:defRPr>
            </a:pPr>
            <a:r>
              <a:t>Foto: ACCIONA · Punta Palmeras, Chile (contexto)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EL DESAFÍO</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La entrega es una decisión constructiva</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Fuente: 00_PROYECTO_GENERAL.md</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02</a:t>
            </a:r>
          </a:p>
        </p:txBody>
      </p:sp>
      <p:sp>
        <p:nvSpPr>
          <p:cNvPr id="8" name="TextBox 7"/>
          <p:cNvSpPr txBox="1"/>
          <p:nvPr/>
        </p:nvSpPr>
        <p:spPr>
          <a:xfrm>
            <a:off x="548640" y="1737360"/>
            <a:ext cx="5715000" cy="1645920"/>
          </a:xfrm>
          <a:prstGeom prst="rect">
            <a:avLst/>
          </a:prstGeom>
          <a:noFill/>
        </p:spPr>
        <p:txBody>
          <a:bodyPr wrap="square" lIns="0" rIns="0" tIns="0" bIns="0">
            <a:spAutoFit/>
          </a:bodyPr>
          <a:lstStyle/>
          <a:p>
            <a:pPr>
              <a:spcAft>
                <a:spcPts val="929"/>
              </a:spcAft>
              <a:defRPr sz="3100" b="1">
                <a:solidFill>
                  <a:srgbClr val="163244"/>
                </a:solidFill>
                <a:latin typeface="Liberation Sans"/>
              </a:defRPr>
            </a:pPr>
            <a:r>
              <a:t>¿Cómo ejecutar las vertidas</a:t>
            </a:r>
          </a:p>
          <a:p>
            <a:pPr>
              <a:spcAft>
                <a:spcPts val="929"/>
              </a:spcAft>
              <a:defRPr sz="3100" b="1">
                <a:solidFill>
                  <a:srgbClr val="163244"/>
                </a:solidFill>
                <a:latin typeface="Liberation Sans"/>
              </a:defRPr>
            </a:pPr>
            <a:r>
              <a:t>para controlar el riesgo térmico?</a:t>
            </a:r>
          </a:p>
        </p:txBody>
      </p:sp>
      <p:sp>
        <p:nvSpPr>
          <p:cNvPr id="9" name="TextBox 8"/>
          <p:cNvSpPr txBox="1"/>
          <p:nvPr/>
        </p:nvSpPr>
        <p:spPr>
          <a:xfrm>
            <a:off x="548640" y="3685032"/>
            <a:ext cx="5577840" cy="914400"/>
          </a:xfrm>
          <a:prstGeom prst="rect">
            <a:avLst/>
          </a:prstGeom>
          <a:noFill/>
        </p:spPr>
        <p:txBody>
          <a:bodyPr wrap="square" lIns="0" rIns="0" tIns="0" bIns="0">
            <a:spAutoFit/>
          </a:bodyPr>
          <a:lstStyle/>
          <a:p>
            <a:pPr>
              <a:spcAft>
                <a:spcPts val="719"/>
              </a:spcAft>
              <a:defRPr sz="2400" b="0">
                <a:solidFill>
                  <a:srgbClr val="526572"/>
                </a:solidFill>
                <a:latin typeface="Liberation Sans"/>
              </a:defRPr>
            </a:pPr>
            <a:r>
              <a:t>Diseñar, comparar y defender un plan</a:t>
            </a:r>
          </a:p>
          <a:p>
            <a:pPr>
              <a:spcAft>
                <a:spcPts val="719"/>
              </a:spcAft>
              <a:defRPr sz="2400" b="0">
                <a:solidFill>
                  <a:srgbClr val="526572"/>
                </a:solidFill>
                <a:latin typeface="Liberation Sans"/>
              </a:defRPr>
            </a:pPr>
            <a:r>
              <a:t>con evidencia física y probabilística.</a:t>
            </a:r>
          </a:p>
        </p:txBody>
      </p:sp>
      <p:pic>
        <p:nvPicPr>
          <p:cNvPr id="10" name="Picture 9" descr="ju_obra.png"/>
          <p:cNvPicPr>
            <a:picLocks noChangeAspect="1"/>
          </p:cNvPicPr>
          <p:nvPr/>
        </p:nvPicPr>
        <p:blipFill>
          <a:blip r:embed="rId2"/>
          <a:stretch>
            <a:fillRect/>
          </a:stretch>
        </p:blipFill>
        <p:spPr>
          <a:xfrm>
            <a:off x="7198161" y="1572768"/>
            <a:ext cx="3708797" cy="3931920"/>
          </a:xfrm>
          <a:prstGeom prst="rect">
            <a:avLst/>
          </a:prstGeom>
        </p:spPr>
      </p:pic>
      <p:sp>
        <p:nvSpPr>
          <p:cNvPr id="11" name="Rounded Rectangle 10"/>
          <p:cNvSpPr/>
          <p:nvPr/>
        </p:nvSpPr>
        <p:spPr>
          <a:xfrm>
            <a:off x="502920" y="5705856"/>
            <a:ext cx="11183112" cy="457200"/>
          </a:xfrm>
          <a:prstGeom prst="roundRect">
            <a:avLst>
              <a:gd name="adj" fmla="val 8000"/>
            </a:avLst>
          </a:prstGeom>
          <a:solidFill>
            <a:srgbClr val="CD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5779008"/>
            <a:ext cx="10789920" cy="320040"/>
          </a:xfrm>
          <a:prstGeom prst="rect">
            <a:avLst/>
          </a:prstGeom>
          <a:noFill/>
        </p:spPr>
        <p:txBody>
          <a:bodyPr wrap="square" lIns="0" rIns="0" tIns="0" bIns="0">
            <a:spAutoFit/>
          </a:bodyPr>
          <a:lstStyle/>
          <a:p>
            <a:pPr>
              <a:spcAft>
                <a:spcPts val="480"/>
              </a:spcAft>
              <a:defRPr sz="1600" b="1">
                <a:solidFill>
                  <a:srgbClr val="163244"/>
                </a:solidFill>
                <a:latin typeface="Liberation Sans"/>
              </a:defRPr>
            </a:pPr>
            <a:r>
              <a:t>14 días de análisis desde la primera vertida · Inicio de construcción = defensa final (TBD)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EL FENÓMENO</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El núcleo se calienta; la superficie responde al clima</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Esquema conceptual · Ju y Lei (2019); especificación general del proyecto</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03</a:t>
            </a:r>
          </a:p>
        </p:txBody>
      </p:sp>
      <p:sp>
        <p:nvSpPr>
          <p:cNvPr id="8" name="Rectangle 7"/>
          <p:cNvSpPr/>
          <p:nvPr/>
        </p:nvSpPr>
        <p:spPr>
          <a:xfrm>
            <a:off x="1005840" y="2743200"/>
            <a:ext cx="5806440" cy="2606040"/>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371600" y="3090672"/>
            <a:ext cx="5074920" cy="1856231"/>
          </a:xfrm>
          <a:prstGeom prst="roundRect">
            <a:avLst>
              <a:gd name="adj" fmla="val 8000"/>
            </a:avLst>
          </a:prstGeom>
          <a:solidFill>
            <a:srgbClr val="DE6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011680" y="3474720"/>
            <a:ext cx="3749039" cy="1115568"/>
          </a:xfrm>
          <a:prstGeom prst="roundRect">
            <a:avLst>
              <a:gd name="adj" fmla="val 8000"/>
            </a:avLst>
          </a:prstGeom>
          <a:solidFill>
            <a:srgbClr val="DE8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40280" y="3858768"/>
            <a:ext cx="3291840" cy="457200"/>
          </a:xfrm>
          <a:prstGeom prst="rect">
            <a:avLst/>
          </a:prstGeom>
          <a:noFill/>
        </p:spPr>
        <p:txBody>
          <a:bodyPr wrap="square" lIns="0" rIns="0" tIns="0" bIns="0">
            <a:spAutoFit/>
          </a:bodyPr>
          <a:lstStyle/>
          <a:p>
            <a:pPr algn="ctr">
              <a:spcAft>
                <a:spcPts val="600"/>
              </a:spcAft>
              <a:defRPr sz="2000" b="1">
                <a:solidFill>
                  <a:srgbClr val="FFFFFF"/>
                </a:solidFill>
                <a:latin typeface="Liberation Sans"/>
              </a:defRPr>
            </a:pPr>
            <a:r>
              <a:t>CALOR DE HIDRATACIÓN</a:t>
            </a:r>
          </a:p>
        </p:txBody>
      </p:sp>
      <p:sp>
        <p:nvSpPr>
          <p:cNvPr id="12" name="TextBox 11"/>
          <p:cNvSpPr txBox="1"/>
          <p:nvPr/>
        </p:nvSpPr>
        <p:spPr>
          <a:xfrm>
            <a:off x="868680" y="1847088"/>
            <a:ext cx="6309360" cy="548640"/>
          </a:xfrm>
          <a:prstGeom prst="rect">
            <a:avLst/>
          </a:prstGeom>
          <a:noFill/>
        </p:spPr>
        <p:txBody>
          <a:bodyPr wrap="square" lIns="0" rIns="0" tIns="0" bIns="0">
            <a:spAutoFit/>
          </a:bodyPr>
          <a:lstStyle/>
          <a:p>
            <a:pPr algn="ctr">
              <a:spcAft>
                <a:spcPts val="570"/>
              </a:spcAft>
              <a:defRPr sz="1900" b="1">
                <a:solidFill>
                  <a:srgbClr val="267F83"/>
                </a:solidFill>
                <a:latin typeface="Liberation Sans"/>
              </a:defRPr>
            </a:pPr>
            <a:r>
              <a:t>AMBIENTE · viento · intercambio de calor</a:t>
            </a:r>
          </a:p>
        </p:txBody>
      </p:sp>
      <p:sp>
        <p:nvSpPr>
          <p:cNvPr id="13" name="TextBox 12"/>
          <p:cNvSpPr txBox="1"/>
          <p:nvPr/>
        </p:nvSpPr>
        <p:spPr>
          <a:xfrm>
            <a:off x="1920240" y="2331720"/>
            <a:ext cx="502920" cy="457200"/>
          </a:xfrm>
          <a:prstGeom prst="rect">
            <a:avLst/>
          </a:prstGeom>
          <a:noFill/>
        </p:spPr>
        <p:txBody>
          <a:bodyPr wrap="square" lIns="0" rIns="0" tIns="0" bIns="0">
            <a:spAutoFit/>
          </a:bodyPr>
          <a:lstStyle/>
          <a:p>
            <a:pPr>
              <a:spcAft>
                <a:spcPts val="960"/>
              </a:spcAft>
              <a:defRPr sz="3200" b="1">
                <a:solidFill>
                  <a:srgbClr val="267F83"/>
                </a:solidFill>
                <a:latin typeface="Liberation Sans"/>
              </a:defRPr>
            </a:pPr>
            <a:r>
              <a:t>↑</a:t>
            </a:r>
          </a:p>
        </p:txBody>
      </p:sp>
      <p:sp>
        <p:nvSpPr>
          <p:cNvPr id="14" name="TextBox 13"/>
          <p:cNvSpPr txBox="1"/>
          <p:nvPr/>
        </p:nvSpPr>
        <p:spPr>
          <a:xfrm>
            <a:off x="3931920" y="2331720"/>
            <a:ext cx="502920" cy="457200"/>
          </a:xfrm>
          <a:prstGeom prst="rect">
            <a:avLst/>
          </a:prstGeom>
          <a:noFill/>
        </p:spPr>
        <p:txBody>
          <a:bodyPr wrap="square" lIns="0" rIns="0" tIns="0" bIns="0">
            <a:spAutoFit/>
          </a:bodyPr>
          <a:lstStyle/>
          <a:p>
            <a:pPr>
              <a:spcAft>
                <a:spcPts val="960"/>
              </a:spcAft>
              <a:defRPr sz="3200" b="1">
                <a:solidFill>
                  <a:srgbClr val="267F83"/>
                </a:solidFill>
                <a:latin typeface="Liberation Sans"/>
              </a:defRPr>
            </a:pPr>
            <a:r>
              <a:t>↑</a:t>
            </a:r>
          </a:p>
        </p:txBody>
      </p:sp>
      <p:sp>
        <p:nvSpPr>
          <p:cNvPr id="15" name="TextBox 14"/>
          <p:cNvSpPr txBox="1"/>
          <p:nvPr/>
        </p:nvSpPr>
        <p:spPr>
          <a:xfrm>
            <a:off x="5852160" y="2331720"/>
            <a:ext cx="502920" cy="457200"/>
          </a:xfrm>
          <a:prstGeom prst="rect">
            <a:avLst/>
          </a:prstGeom>
          <a:noFill/>
        </p:spPr>
        <p:txBody>
          <a:bodyPr wrap="square" lIns="0" rIns="0" tIns="0" bIns="0">
            <a:spAutoFit/>
          </a:bodyPr>
          <a:lstStyle/>
          <a:p>
            <a:pPr>
              <a:spcAft>
                <a:spcPts val="960"/>
              </a:spcAft>
              <a:defRPr sz="3200" b="1">
                <a:solidFill>
                  <a:srgbClr val="267F83"/>
                </a:solidFill>
                <a:latin typeface="Liberation Sans"/>
              </a:defRPr>
            </a:pPr>
            <a:r>
              <a:t>↑</a:t>
            </a:r>
          </a:p>
        </p:txBody>
      </p:sp>
      <p:sp>
        <p:nvSpPr>
          <p:cNvPr id="16" name="Rectangle 15"/>
          <p:cNvSpPr/>
          <p:nvPr/>
        </p:nvSpPr>
        <p:spPr>
          <a:xfrm>
            <a:off x="822960" y="5349240"/>
            <a:ext cx="6172200" cy="219456"/>
          </a:xfrm>
          <a:prstGeom prst="rect">
            <a:avLst/>
          </a:prstGeom>
          <a:solidFill>
            <a:srgbClr val="5265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0" y="5623560"/>
            <a:ext cx="1554480" cy="320040"/>
          </a:xfrm>
          <a:prstGeom prst="rect">
            <a:avLst/>
          </a:prstGeom>
          <a:noFill/>
        </p:spPr>
        <p:txBody>
          <a:bodyPr wrap="square" lIns="0" rIns="0" tIns="0" bIns="0">
            <a:spAutoFit/>
          </a:bodyPr>
          <a:lstStyle/>
          <a:p>
            <a:pPr>
              <a:spcAft>
                <a:spcPts val="420"/>
              </a:spcAft>
              <a:defRPr sz="1400" b="1">
                <a:solidFill>
                  <a:srgbClr val="526572"/>
                </a:solidFill>
                <a:latin typeface="Liberation Sans"/>
              </a:defRPr>
            </a:pPr>
            <a:r>
              <a:t>SUELO</a:t>
            </a:r>
          </a:p>
        </p:txBody>
      </p:sp>
      <p:sp>
        <p:nvSpPr>
          <p:cNvPr id="18" name="Rectangle 17"/>
          <p:cNvSpPr/>
          <p:nvPr/>
        </p:nvSpPr>
        <p:spPr>
          <a:xfrm>
            <a:off x="7315200" y="1920240"/>
            <a:ext cx="82296" cy="82296"/>
          </a:xfrm>
          <a:prstGeom prst="rect">
            <a:avLst/>
          </a:prstGeom>
          <a:solidFill>
            <a:srgbClr val="DE6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43800" y="1847088"/>
            <a:ext cx="4069080" cy="411480"/>
          </a:xfrm>
          <a:prstGeom prst="rect">
            <a:avLst/>
          </a:prstGeom>
          <a:noFill/>
        </p:spPr>
        <p:txBody>
          <a:bodyPr wrap="square" lIns="0" rIns="0" tIns="0" bIns="0">
            <a:spAutoFit/>
          </a:bodyPr>
          <a:lstStyle/>
          <a:p>
            <a:pPr>
              <a:spcAft>
                <a:spcPts val="630"/>
              </a:spcAft>
              <a:defRPr sz="2100" b="1">
                <a:solidFill>
                  <a:srgbClr val="163244"/>
                </a:solidFill>
                <a:latin typeface="Liberation Sans"/>
              </a:defRPr>
            </a:pPr>
            <a:r>
              <a:t>Acumulación</a:t>
            </a:r>
          </a:p>
        </p:txBody>
      </p:sp>
      <p:sp>
        <p:nvSpPr>
          <p:cNvPr id="20" name="TextBox 19"/>
          <p:cNvSpPr txBox="1"/>
          <p:nvPr/>
        </p:nvSpPr>
        <p:spPr>
          <a:xfrm>
            <a:off x="7543800" y="2350008"/>
            <a:ext cx="4069080" cy="768096"/>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La generación interna puede superar</a:t>
            </a:r>
          </a:p>
          <a:p>
            <a:pPr>
              <a:spcAft>
                <a:spcPts val="540"/>
              </a:spcAft>
              <a:defRPr sz="1800" b="0">
                <a:solidFill>
                  <a:srgbClr val="526572"/>
                </a:solidFill>
                <a:latin typeface="Liberation Sans"/>
              </a:defRPr>
            </a:pPr>
            <a:r>
              <a:t>la disipación de calor.</a:t>
            </a:r>
          </a:p>
        </p:txBody>
      </p:sp>
      <p:sp>
        <p:nvSpPr>
          <p:cNvPr id="21" name="Rectangle 20"/>
          <p:cNvSpPr/>
          <p:nvPr/>
        </p:nvSpPr>
        <p:spPr>
          <a:xfrm>
            <a:off x="7315200" y="3410712"/>
            <a:ext cx="82296" cy="82296"/>
          </a:xfrm>
          <a:prstGeom prst="rect">
            <a:avLst/>
          </a:prstGeom>
          <a:solidFill>
            <a:srgbClr val="DE6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43800" y="3337560"/>
            <a:ext cx="4069080" cy="411480"/>
          </a:xfrm>
          <a:prstGeom prst="rect">
            <a:avLst/>
          </a:prstGeom>
          <a:noFill/>
        </p:spPr>
        <p:txBody>
          <a:bodyPr wrap="square" lIns="0" rIns="0" tIns="0" bIns="0">
            <a:spAutoFit/>
          </a:bodyPr>
          <a:lstStyle/>
          <a:p>
            <a:pPr>
              <a:spcAft>
                <a:spcPts val="630"/>
              </a:spcAft>
              <a:defRPr sz="2100" b="1">
                <a:solidFill>
                  <a:srgbClr val="163244"/>
                </a:solidFill>
                <a:latin typeface="Liberation Sans"/>
              </a:defRPr>
            </a:pPr>
            <a:r>
              <a:t>Diferencial térmico</a:t>
            </a:r>
          </a:p>
        </p:txBody>
      </p:sp>
      <p:sp>
        <p:nvSpPr>
          <p:cNvPr id="23" name="TextBox 22"/>
          <p:cNvSpPr txBox="1"/>
          <p:nvPr/>
        </p:nvSpPr>
        <p:spPr>
          <a:xfrm>
            <a:off x="7543800" y="3840480"/>
            <a:ext cx="4069080" cy="768096"/>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El enfriamiento superficial puede</a:t>
            </a:r>
          </a:p>
          <a:p>
            <a:pPr>
              <a:spcAft>
                <a:spcPts val="540"/>
              </a:spcAft>
              <a:defRPr sz="1800" b="0">
                <a:solidFill>
                  <a:srgbClr val="526572"/>
                </a:solidFill>
                <a:latin typeface="Liberation Sans"/>
              </a:defRPr>
            </a:pPr>
            <a:r>
              <a:t>aumentar el contraste con el núcleo.</a:t>
            </a:r>
          </a:p>
        </p:txBody>
      </p:sp>
      <p:sp>
        <p:nvSpPr>
          <p:cNvPr id="24" name="TextBox 23"/>
          <p:cNvSpPr txBox="1"/>
          <p:nvPr/>
        </p:nvSpPr>
        <p:spPr>
          <a:xfrm>
            <a:off x="7498079" y="4983480"/>
            <a:ext cx="4023360" cy="731520"/>
          </a:xfrm>
          <a:prstGeom prst="rect">
            <a:avLst/>
          </a:prstGeom>
          <a:noFill/>
        </p:spPr>
        <p:txBody>
          <a:bodyPr wrap="square" lIns="0" rIns="0" tIns="0" bIns="0">
            <a:spAutoFit/>
          </a:bodyPr>
          <a:lstStyle/>
          <a:p>
            <a:pPr>
              <a:spcAft>
                <a:spcPts val="570"/>
              </a:spcAft>
              <a:defRPr sz="1900" b="1">
                <a:solidFill>
                  <a:srgbClr val="267F83"/>
                </a:solidFill>
                <a:latin typeface="Liberation Sans"/>
              </a:defRPr>
            </a:pPr>
            <a:r>
              <a:t>Controlar temperatura y diferencial</a:t>
            </a:r>
          </a:p>
          <a:p>
            <a:pPr>
              <a:spcAft>
                <a:spcPts val="570"/>
              </a:spcAft>
              <a:defRPr sz="1900" b="1">
                <a:solidFill>
                  <a:srgbClr val="267F83"/>
                </a:solidFill>
                <a:latin typeface="Liberation Sans"/>
              </a:defRPr>
            </a:pPr>
            <a:r>
              <a:t>requiere mirar ambos mecanismos.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CASO BASE</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Una fundación real como punto de partida</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Ju y Lei (2019), figs. 1–2 · Geometría oficial del curso sujeta a validación del profesor</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04</a:t>
            </a:r>
          </a:p>
        </p:txBody>
      </p:sp>
      <p:pic>
        <p:nvPicPr>
          <p:cNvPr id="8" name="Picture 7" descr="ju_geometria.png"/>
          <p:cNvPicPr>
            <a:picLocks noChangeAspect="1"/>
          </p:cNvPicPr>
          <p:nvPr/>
        </p:nvPicPr>
        <p:blipFill>
          <a:blip r:embed="rId2"/>
          <a:stretch>
            <a:fillRect/>
          </a:stretch>
        </p:blipFill>
        <p:spPr>
          <a:xfrm>
            <a:off x="1860369" y="1554480"/>
            <a:ext cx="2954381" cy="4480559"/>
          </a:xfrm>
          <a:prstGeom prst="rect">
            <a:avLst/>
          </a:prstGeom>
        </p:spPr>
      </p:pic>
      <p:sp>
        <p:nvSpPr>
          <p:cNvPr id="9" name="TextBox 8"/>
          <p:cNvSpPr txBox="1"/>
          <p:nvPr/>
        </p:nvSpPr>
        <p:spPr>
          <a:xfrm>
            <a:off x="6492240" y="1783080"/>
            <a:ext cx="4846320" cy="548640"/>
          </a:xfrm>
          <a:prstGeom prst="rect">
            <a:avLst/>
          </a:prstGeom>
          <a:noFill/>
        </p:spPr>
        <p:txBody>
          <a:bodyPr wrap="square" lIns="0" rIns="0" tIns="0" bIns="0">
            <a:spAutoFit/>
          </a:bodyPr>
          <a:lstStyle/>
          <a:p>
            <a:pPr>
              <a:spcAft>
                <a:spcPts val="1050"/>
              </a:spcAft>
              <a:defRPr sz="3500" b="1">
                <a:solidFill>
                  <a:srgbClr val="267F83"/>
                </a:solidFill>
                <a:latin typeface="Liberation Sans"/>
              </a:defRPr>
            </a:pPr>
            <a:r>
              <a:t>18 × 18 m</a:t>
            </a:r>
          </a:p>
        </p:txBody>
      </p:sp>
      <p:sp>
        <p:nvSpPr>
          <p:cNvPr id="10" name="TextBox 9"/>
          <p:cNvSpPr txBox="1"/>
          <p:nvPr/>
        </p:nvSpPr>
        <p:spPr>
          <a:xfrm>
            <a:off x="6492240" y="2395728"/>
            <a:ext cx="4846320" cy="365760"/>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Dimensiones globales aproximadas</a:t>
            </a:r>
          </a:p>
        </p:txBody>
      </p:sp>
      <p:sp>
        <p:nvSpPr>
          <p:cNvPr id="11" name="TextBox 10"/>
          <p:cNvSpPr txBox="1"/>
          <p:nvPr/>
        </p:nvSpPr>
        <p:spPr>
          <a:xfrm>
            <a:off x="6492240" y="2926080"/>
            <a:ext cx="4846320" cy="548640"/>
          </a:xfrm>
          <a:prstGeom prst="rect">
            <a:avLst/>
          </a:prstGeom>
          <a:noFill/>
        </p:spPr>
        <p:txBody>
          <a:bodyPr wrap="square" lIns="0" rIns="0" tIns="0" bIns="0">
            <a:spAutoFit/>
          </a:bodyPr>
          <a:lstStyle/>
          <a:p>
            <a:pPr>
              <a:spcAft>
                <a:spcPts val="1050"/>
              </a:spcAft>
              <a:defRPr sz="3500" b="1">
                <a:solidFill>
                  <a:srgbClr val="267F83"/>
                </a:solidFill>
                <a:latin typeface="Liberation Sans"/>
              </a:defRPr>
            </a:pPr>
            <a:r>
              <a:t>3,30 m</a:t>
            </a:r>
          </a:p>
        </p:txBody>
      </p:sp>
      <p:sp>
        <p:nvSpPr>
          <p:cNvPr id="12" name="TextBox 11"/>
          <p:cNvSpPr txBox="1"/>
          <p:nvPr/>
        </p:nvSpPr>
        <p:spPr>
          <a:xfrm>
            <a:off x="6492240" y="3538728"/>
            <a:ext cx="4846320" cy="365760"/>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Espesor reportado</a:t>
            </a:r>
          </a:p>
        </p:txBody>
      </p:sp>
      <p:sp>
        <p:nvSpPr>
          <p:cNvPr id="13" name="TextBox 12"/>
          <p:cNvSpPr txBox="1"/>
          <p:nvPr/>
        </p:nvSpPr>
        <p:spPr>
          <a:xfrm>
            <a:off x="6492240" y="4069080"/>
            <a:ext cx="4846320" cy="548640"/>
          </a:xfrm>
          <a:prstGeom prst="rect">
            <a:avLst/>
          </a:prstGeom>
          <a:noFill/>
        </p:spPr>
        <p:txBody>
          <a:bodyPr wrap="square" lIns="0" rIns="0" tIns="0" bIns="0">
            <a:spAutoFit/>
          </a:bodyPr>
          <a:lstStyle/>
          <a:p>
            <a:pPr>
              <a:spcAft>
                <a:spcPts val="1050"/>
              </a:spcAft>
              <a:defRPr sz="3500" b="1">
                <a:solidFill>
                  <a:srgbClr val="267F83"/>
                </a:solidFill>
                <a:latin typeface="Liberation Sans"/>
              </a:defRPr>
            </a:pPr>
            <a:r>
              <a:t>Ø 7 m</a:t>
            </a:r>
          </a:p>
        </p:txBody>
      </p:sp>
      <p:sp>
        <p:nvSpPr>
          <p:cNvPr id="14" name="TextBox 13"/>
          <p:cNvSpPr txBox="1"/>
          <p:nvPr/>
        </p:nvSpPr>
        <p:spPr>
          <a:xfrm>
            <a:off x="6492240" y="4681728"/>
            <a:ext cx="4846320" cy="365760"/>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Parte superior cilíndrica</a:t>
            </a:r>
          </a:p>
        </p:txBody>
      </p:sp>
      <p:sp>
        <p:nvSpPr>
          <p:cNvPr id="15" name="TextBox 14"/>
          <p:cNvSpPr txBox="1"/>
          <p:nvPr/>
        </p:nvSpPr>
        <p:spPr>
          <a:xfrm>
            <a:off x="6492240" y="5303520"/>
            <a:ext cx="4754880" cy="640080"/>
          </a:xfrm>
          <a:prstGeom prst="rect">
            <a:avLst/>
          </a:prstGeom>
          <a:noFill/>
        </p:spPr>
        <p:txBody>
          <a:bodyPr wrap="square" lIns="0" rIns="0" tIns="0" bIns="0">
            <a:spAutoFit/>
          </a:bodyPr>
          <a:lstStyle/>
          <a:p>
            <a:pPr>
              <a:spcAft>
                <a:spcPts val="570"/>
              </a:spcAft>
              <a:defRPr sz="1900" b="1">
                <a:solidFill>
                  <a:srgbClr val="163244"/>
                </a:solidFill>
                <a:latin typeface="Liberation Sans"/>
              </a:defRPr>
            </a:pPr>
            <a:r>
              <a:t>Documentar simplificaciones y validar</a:t>
            </a:r>
          </a:p>
          <a:p>
            <a:pPr>
              <a:spcAft>
                <a:spcPts val="570"/>
              </a:spcAft>
              <a:defRPr sz="1900" b="1">
                <a:solidFill>
                  <a:srgbClr val="163244"/>
                </a:solidFill>
                <a:latin typeface="Liberation Sans"/>
              </a:defRPr>
            </a:pPr>
            <a:r>
              <a:t>las cotas que el artículo no define.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EVIDENCIA EXPERIMENTAL</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Las mediciones muestran dos desafíos distintos</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Ju y Lei (2019), figs. 4 y 7 · Resultados del artículo; no son resultados del proyecto</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05</a:t>
            </a:r>
          </a:p>
        </p:txBody>
      </p:sp>
      <p:pic>
        <p:nvPicPr>
          <p:cNvPr id="8" name="Picture 7" descr="ju_curvas.png"/>
          <p:cNvPicPr>
            <a:picLocks noChangeAspect="1"/>
          </p:cNvPicPr>
          <p:nvPr/>
        </p:nvPicPr>
        <p:blipFill>
          <a:blip r:embed="rId2"/>
          <a:stretch>
            <a:fillRect/>
          </a:stretch>
        </p:blipFill>
        <p:spPr>
          <a:xfrm>
            <a:off x="1221785" y="1691640"/>
            <a:ext cx="4231549" cy="3246120"/>
          </a:xfrm>
          <a:prstGeom prst="rect">
            <a:avLst/>
          </a:prstGeom>
        </p:spPr>
      </p:pic>
      <p:pic>
        <p:nvPicPr>
          <p:cNvPr id="9" name="Picture 8" descr="ju_perfil.png"/>
          <p:cNvPicPr>
            <a:picLocks noChangeAspect="1"/>
          </p:cNvPicPr>
          <p:nvPr/>
        </p:nvPicPr>
        <p:blipFill>
          <a:blip r:embed="rId3"/>
          <a:stretch>
            <a:fillRect/>
          </a:stretch>
        </p:blipFill>
        <p:spPr>
          <a:xfrm>
            <a:off x="6980599" y="1691640"/>
            <a:ext cx="4006761" cy="3246120"/>
          </a:xfrm>
          <a:prstGeom prst="rect">
            <a:avLst/>
          </a:prstGeom>
        </p:spPr>
      </p:pic>
      <p:sp>
        <p:nvSpPr>
          <p:cNvPr id="10" name="TextBox 9"/>
          <p:cNvSpPr txBox="1"/>
          <p:nvPr/>
        </p:nvSpPr>
        <p:spPr>
          <a:xfrm>
            <a:off x="822960" y="5029200"/>
            <a:ext cx="2103120" cy="640080"/>
          </a:xfrm>
          <a:prstGeom prst="rect">
            <a:avLst/>
          </a:prstGeom>
          <a:noFill/>
        </p:spPr>
        <p:txBody>
          <a:bodyPr wrap="square" lIns="0" rIns="0" tIns="0" bIns="0">
            <a:spAutoFit/>
          </a:bodyPr>
          <a:lstStyle/>
          <a:p>
            <a:pPr>
              <a:spcAft>
                <a:spcPts val="1050"/>
              </a:spcAft>
              <a:defRPr sz="3500" b="1">
                <a:solidFill>
                  <a:srgbClr val="DE633F"/>
                </a:solidFill>
                <a:latin typeface="Liberation Sans"/>
              </a:defRPr>
            </a:pPr>
            <a:r>
              <a:t>≈73 °C</a:t>
            </a:r>
          </a:p>
        </p:txBody>
      </p:sp>
      <p:sp>
        <p:nvSpPr>
          <p:cNvPr id="11" name="TextBox 10"/>
          <p:cNvSpPr txBox="1"/>
          <p:nvPr/>
        </p:nvSpPr>
        <p:spPr>
          <a:xfrm>
            <a:off x="3017520" y="5157216"/>
            <a:ext cx="3108960" cy="640080"/>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Núcleo · alrededor del día 4</a:t>
            </a:r>
          </a:p>
        </p:txBody>
      </p:sp>
      <p:sp>
        <p:nvSpPr>
          <p:cNvPr id="12" name="TextBox 11"/>
          <p:cNvSpPr txBox="1"/>
          <p:nvPr/>
        </p:nvSpPr>
        <p:spPr>
          <a:xfrm>
            <a:off x="6537960" y="5029200"/>
            <a:ext cx="2194560" cy="640080"/>
          </a:xfrm>
          <a:prstGeom prst="rect">
            <a:avLst/>
          </a:prstGeom>
          <a:noFill/>
        </p:spPr>
        <p:txBody>
          <a:bodyPr wrap="square" lIns="0" rIns="0" tIns="0" bIns="0">
            <a:spAutoFit/>
          </a:bodyPr>
          <a:lstStyle/>
          <a:p>
            <a:pPr>
              <a:spcAft>
                <a:spcPts val="1050"/>
              </a:spcAft>
              <a:defRPr sz="3500" b="1">
                <a:solidFill>
                  <a:srgbClr val="DE633F"/>
                </a:solidFill>
                <a:latin typeface="Liberation Sans"/>
              </a:defRPr>
            </a:pPr>
            <a:r>
              <a:t>≈35 °C</a:t>
            </a:r>
          </a:p>
        </p:txBody>
      </p:sp>
      <p:sp>
        <p:nvSpPr>
          <p:cNvPr id="13" name="TextBox 12"/>
          <p:cNvSpPr txBox="1"/>
          <p:nvPr/>
        </p:nvSpPr>
        <p:spPr>
          <a:xfrm>
            <a:off x="8732520" y="5157216"/>
            <a:ext cx="2880360" cy="640080"/>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Diferencial vertical · día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CRITERIOS DEL CURSO</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Dos límites comunes para todos los grupos</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Fuentes: 00_PROYECTO_GENERAL.md; 02_CASO_BASE_CRITERIOS_Y_REFERENCIAS.md</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06</a:t>
            </a:r>
          </a:p>
        </p:txBody>
      </p:sp>
      <p:sp>
        <p:nvSpPr>
          <p:cNvPr id="8" name="Rounded Rectangle 7"/>
          <p:cNvSpPr/>
          <p:nvPr/>
        </p:nvSpPr>
        <p:spPr>
          <a:xfrm>
            <a:off x="594360" y="1783080"/>
            <a:ext cx="5330952" cy="3246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65960"/>
            <a:ext cx="4754880" cy="914400"/>
          </a:xfrm>
          <a:prstGeom prst="rect">
            <a:avLst/>
          </a:prstGeom>
          <a:noFill/>
        </p:spPr>
        <p:txBody>
          <a:bodyPr wrap="square" lIns="0" rIns="0" tIns="0" bIns="0">
            <a:spAutoFit/>
          </a:bodyPr>
          <a:lstStyle/>
          <a:p>
            <a:pPr>
              <a:spcAft>
                <a:spcPts val="1800"/>
              </a:spcAft>
              <a:defRPr sz="6000" b="1">
                <a:solidFill>
                  <a:srgbClr val="DE633F"/>
                </a:solidFill>
                <a:latin typeface="Liberation Sans"/>
              </a:defRPr>
            </a:pPr>
            <a:r>
              <a:t>70 °C</a:t>
            </a:r>
          </a:p>
        </p:txBody>
      </p:sp>
      <p:sp>
        <p:nvSpPr>
          <p:cNvPr id="10" name="TextBox 9"/>
          <p:cNvSpPr txBox="1"/>
          <p:nvPr/>
        </p:nvSpPr>
        <p:spPr>
          <a:xfrm>
            <a:off x="868680" y="3200400"/>
            <a:ext cx="4754880" cy="502920"/>
          </a:xfrm>
          <a:prstGeom prst="rect">
            <a:avLst/>
          </a:prstGeom>
          <a:noFill/>
        </p:spPr>
        <p:txBody>
          <a:bodyPr wrap="square" lIns="0" rIns="0" tIns="0" bIns="0">
            <a:spAutoFit/>
          </a:bodyPr>
          <a:lstStyle/>
          <a:p>
            <a:pPr>
              <a:spcAft>
                <a:spcPts val="780"/>
              </a:spcAft>
              <a:defRPr sz="2600" b="1">
                <a:solidFill>
                  <a:srgbClr val="163244"/>
                </a:solidFill>
                <a:latin typeface="Liberation Sans"/>
              </a:defRPr>
            </a:pPr>
            <a:r>
              <a:t>Temperatura máxima</a:t>
            </a:r>
          </a:p>
        </p:txBody>
      </p:sp>
      <p:sp>
        <p:nvSpPr>
          <p:cNvPr id="11" name="TextBox 10"/>
          <p:cNvSpPr txBox="1"/>
          <p:nvPr/>
        </p:nvSpPr>
        <p:spPr>
          <a:xfrm>
            <a:off x="868680" y="3977639"/>
            <a:ext cx="4709160" cy="868680"/>
          </a:xfrm>
          <a:prstGeom prst="rect">
            <a:avLst/>
          </a:prstGeom>
          <a:noFill/>
        </p:spPr>
        <p:txBody>
          <a:bodyPr wrap="square" lIns="0" rIns="0" tIns="0" bIns="0">
            <a:spAutoFit/>
          </a:bodyPr>
          <a:lstStyle/>
          <a:p>
            <a:pPr>
              <a:spcAft>
                <a:spcPts val="630"/>
              </a:spcAft>
              <a:defRPr sz="2100" b="0">
                <a:solidFill>
                  <a:srgbClr val="526572"/>
                </a:solidFill>
                <a:latin typeface="Liberation Sans"/>
              </a:defRPr>
            </a:pPr>
            <a:r>
              <a:t>Máximo dentro del hormigón</a:t>
            </a:r>
          </a:p>
          <a:p>
            <a:pPr>
              <a:spcAft>
                <a:spcPts val="630"/>
              </a:spcAft>
              <a:defRPr sz="2100" b="0">
                <a:solidFill>
                  <a:srgbClr val="526572"/>
                </a:solidFill>
                <a:latin typeface="Liberation Sans"/>
              </a:defRPr>
            </a:pPr>
            <a:r>
              <a:t>durante los 14 días.</a:t>
            </a:r>
          </a:p>
        </p:txBody>
      </p:sp>
      <p:sp>
        <p:nvSpPr>
          <p:cNvPr id="12" name="Rounded Rectangle 11"/>
          <p:cNvSpPr/>
          <p:nvPr/>
        </p:nvSpPr>
        <p:spPr>
          <a:xfrm>
            <a:off x="6263640" y="1783080"/>
            <a:ext cx="5330952" cy="3246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59" y="1965960"/>
            <a:ext cx="4754880" cy="914400"/>
          </a:xfrm>
          <a:prstGeom prst="rect">
            <a:avLst/>
          </a:prstGeom>
          <a:noFill/>
        </p:spPr>
        <p:txBody>
          <a:bodyPr wrap="square" lIns="0" rIns="0" tIns="0" bIns="0">
            <a:spAutoFit/>
          </a:bodyPr>
          <a:lstStyle/>
          <a:p>
            <a:pPr>
              <a:spcAft>
                <a:spcPts val="1800"/>
              </a:spcAft>
              <a:defRPr sz="6000" b="1">
                <a:solidFill>
                  <a:srgbClr val="DE633F"/>
                </a:solidFill>
                <a:latin typeface="Liberation Sans"/>
              </a:defRPr>
            </a:pPr>
            <a:r>
              <a:t>20 °C</a:t>
            </a:r>
          </a:p>
        </p:txBody>
      </p:sp>
      <p:sp>
        <p:nvSpPr>
          <p:cNvPr id="14" name="TextBox 13"/>
          <p:cNvSpPr txBox="1"/>
          <p:nvPr/>
        </p:nvSpPr>
        <p:spPr>
          <a:xfrm>
            <a:off x="6537959" y="3200400"/>
            <a:ext cx="4754880" cy="502920"/>
          </a:xfrm>
          <a:prstGeom prst="rect">
            <a:avLst/>
          </a:prstGeom>
          <a:noFill/>
        </p:spPr>
        <p:txBody>
          <a:bodyPr wrap="square" lIns="0" rIns="0" tIns="0" bIns="0">
            <a:spAutoFit/>
          </a:bodyPr>
          <a:lstStyle/>
          <a:p>
            <a:pPr>
              <a:spcAft>
                <a:spcPts val="780"/>
              </a:spcAft>
              <a:defRPr sz="2600" b="1">
                <a:solidFill>
                  <a:srgbClr val="163244"/>
                </a:solidFill>
                <a:latin typeface="Liberation Sans"/>
              </a:defRPr>
            </a:pPr>
            <a:r>
              <a:t>Diferencial máximo</a:t>
            </a:r>
          </a:p>
        </p:txBody>
      </p:sp>
      <p:sp>
        <p:nvSpPr>
          <p:cNvPr id="15" name="TextBox 14"/>
          <p:cNvSpPr txBox="1"/>
          <p:nvPr/>
        </p:nvSpPr>
        <p:spPr>
          <a:xfrm>
            <a:off x="6537959" y="3977639"/>
            <a:ext cx="4709160" cy="868680"/>
          </a:xfrm>
          <a:prstGeom prst="rect">
            <a:avLst/>
          </a:prstGeom>
          <a:noFill/>
        </p:spPr>
        <p:txBody>
          <a:bodyPr wrap="square" lIns="0" rIns="0" tIns="0" bIns="0">
            <a:spAutoFit/>
          </a:bodyPr>
          <a:lstStyle/>
          <a:p>
            <a:pPr>
              <a:spcAft>
                <a:spcPts val="630"/>
              </a:spcAft>
              <a:defRPr sz="2100" b="0">
                <a:solidFill>
                  <a:srgbClr val="526572"/>
                </a:solidFill>
                <a:latin typeface="Liberation Sans"/>
              </a:defRPr>
            </a:pPr>
            <a:r>
              <a:t>Núcleo respecto de puntos</a:t>
            </a:r>
          </a:p>
          <a:p>
            <a:pPr>
              <a:spcAft>
                <a:spcPts val="630"/>
              </a:spcAft>
              <a:defRPr sz="2100" b="0">
                <a:solidFill>
                  <a:srgbClr val="526572"/>
                </a:solidFill>
                <a:latin typeface="Liberation Sans"/>
              </a:defRPr>
            </a:pPr>
            <a:r>
              <a:t>a ≈25 mm bajo la superficie.</a:t>
            </a:r>
          </a:p>
        </p:txBody>
      </p:sp>
      <p:sp>
        <p:nvSpPr>
          <p:cNvPr id="16" name="TextBox 15"/>
          <p:cNvSpPr txBox="1"/>
          <p:nvPr/>
        </p:nvSpPr>
        <p:spPr>
          <a:xfrm>
            <a:off x="731520" y="5303520"/>
            <a:ext cx="10698480" cy="502920"/>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Son requisitos del proyecto docente. El ICH considera categorías, exposición y resistencia.</a:t>
            </a:r>
          </a:p>
        </p:txBody>
      </p:sp>
      <p:sp>
        <p:nvSpPr>
          <p:cNvPr id="17" name="Rounded Rectangle 16"/>
          <p:cNvSpPr/>
          <p:nvPr/>
        </p:nvSpPr>
        <p:spPr>
          <a:xfrm>
            <a:off x="502920" y="5705856"/>
            <a:ext cx="11183112" cy="457200"/>
          </a:xfrm>
          <a:prstGeom prst="roundRect">
            <a:avLst>
              <a:gd name="adj" fmla="val 8000"/>
            </a:avLst>
          </a:prstGeom>
          <a:solidFill>
            <a:srgbClr val="CD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5779008"/>
            <a:ext cx="10789920" cy="320040"/>
          </a:xfrm>
          <a:prstGeom prst="rect">
            <a:avLst/>
          </a:prstGeom>
          <a:noFill/>
        </p:spPr>
        <p:txBody>
          <a:bodyPr wrap="square" lIns="0" rIns="0" tIns="0" bIns="0">
            <a:spAutoFit/>
          </a:bodyPr>
          <a:lstStyle/>
          <a:p>
            <a:pPr>
              <a:spcAft>
                <a:spcPts val="480"/>
              </a:spcAft>
              <a:defRPr sz="1600" b="1">
                <a:solidFill>
                  <a:srgbClr val="163244"/>
                </a:solidFill>
                <a:latin typeface="Liberation Sans"/>
              </a:defRPr>
            </a:pPr>
            <a:r>
              <a:t>Cumplir el diferencial controla el riesgo térmico; no demuestra mecánicamente “cero grietas”.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DECISIONES DE CONSTRUCCIÓN</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Cada medida cambia el balance térmico</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Ju y Lei (2019); Smolana et al. (2021); Iowa / InTrans (2011)</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07</a:t>
            </a:r>
          </a:p>
        </p:txBody>
      </p:sp>
      <p:sp>
        <p:nvSpPr>
          <p:cNvPr id="8" name="Rounded Rectangle 7"/>
          <p:cNvSpPr/>
          <p:nvPr/>
        </p:nvSpPr>
        <p:spPr>
          <a:xfrm>
            <a:off x="594360" y="1783080"/>
            <a:ext cx="3566160" cy="3566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50292" cy="3566160"/>
          </a:xfrm>
          <a:prstGeom prst="rect">
            <a:avLst/>
          </a:prstGeom>
          <a:solidFill>
            <a:srgbClr val="26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947672"/>
            <a:ext cx="3163824" cy="320040"/>
          </a:xfrm>
          <a:prstGeom prst="rect">
            <a:avLst/>
          </a:prstGeom>
          <a:noFill/>
        </p:spPr>
        <p:txBody>
          <a:bodyPr wrap="square" lIns="0" rIns="0" tIns="0" bIns="0">
            <a:spAutoFit/>
          </a:bodyPr>
          <a:lstStyle/>
          <a:p>
            <a:pPr>
              <a:spcAft>
                <a:spcPts val="359"/>
              </a:spcAft>
              <a:defRPr sz="1200" b="1">
                <a:solidFill>
                  <a:srgbClr val="267F83"/>
                </a:solidFill>
                <a:latin typeface="Liberation Sans"/>
              </a:defRPr>
            </a:pPr>
            <a:r>
              <a:t>01 / EJECUCIÓN</a:t>
            </a:r>
          </a:p>
        </p:txBody>
      </p:sp>
      <p:sp>
        <p:nvSpPr>
          <p:cNvPr id="11" name="TextBox 10"/>
          <p:cNvSpPr txBox="1"/>
          <p:nvPr/>
        </p:nvSpPr>
        <p:spPr>
          <a:xfrm>
            <a:off x="795528" y="2377440"/>
            <a:ext cx="3163824" cy="731520"/>
          </a:xfrm>
          <a:prstGeom prst="rect">
            <a:avLst/>
          </a:prstGeom>
          <a:noFill/>
        </p:spPr>
        <p:txBody>
          <a:bodyPr wrap="square" lIns="0" rIns="0" tIns="0" bIns="0">
            <a:spAutoFit/>
          </a:bodyPr>
          <a:lstStyle/>
          <a:p>
            <a:pPr>
              <a:spcAft>
                <a:spcPts val="719"/>
              </a:spcAft>
              <a:defRPr sz="2400" b="1">
                <a:solidFill>
                  <a:srgbClr val="163244"/>
                </a:solidFill>
                <a:latin typeface="Liberation Sans"/>
              </a:defRPr>
            </a:pPr>
            <a:r>
              <a:t>Dividir y secuenciar</a:t>
            </a:r>
          </a:p>
        </p:txBody>
      </p:sp>
      <p:sp>
        <p:nvSpPr>
          <p:cNvPr id="12" name="TextBox 11"/>
          <p:cNvSpPr txBox="1"/>
          <p:nvPr/>
        </p:nvSpPr>
        <p:spPr>
          <a:xfrm>
            <a:off x="795528" y="3200400"/>
            <a:ext cx="3163824" cy="2011679"/>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Geometría y número de vertidas.</a:t>
            </a:r>
          </a:p>
          <a:p>
            <a:pPr>
              <a:spcAft>
                <a:spcPts val="540"/>
              </a:spcAft>
              <a:defRPr sz="1800" b="0">
                <a:solidFill>
                  <a:srgbClr val="526572"/>
                </a:solidFill>
                <a:latin typeface="Liberation Sans"/>
              </a:defRPr>
            </a:pPr>
          </a:p>
          <a:p>
            <a:pPr>
              <a:spcAft>
                <a:spcPts val="540"/>
              </a:spcAft>
              <a:defRPr sz="1800" b="0">
                <a:solidFill>
                  <a:srgbClr val="526572"/>
                </a:solidFill>
                <a:latin typeface="Liberation Sans"/>
              </a:defRPr>
            </a:pPr>
            <a:r>
              <a:t>Hora de inicio e intervalos.</a:t>
            </a:r>
          </a:p>
        </p:txBody>
      </p:sp>
      <p:sp>
        <p:nvSpPr>
          <p:cNvPr id="13" name="Rounded Rectangle 12"/>
          <p:cNvSpPr/>
          <p:nvPr/>
        </p:nvSpPr>
        <p:spPr>
          <a:xfrm>
            <a:off x="4315968" y="1783080"/>
            <a:ext cx="3566160" cy="3566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783080"/>
            <a:ext cx="50292" cy="3566160"/>
          </a:xfrm>
          <a:prstGeom prst="rect">
            <a:avLst/>
          </a:prstGeom>
          <a:solidFill>
            <a:srgbClr val="26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1947672"/>
            <a:ext cx="3163824" cy="320040"/>
          </a:xfrm>
          <a:prstGeom prst="rect">
            <a:avLst/>
          </a:prstGeom>
          <a:noFill/>
        </p:spPr>
        <p:txBody>
          <a:bodyPr wrap="square" lIns="0" rIns="0" tIns="0" bIns="0">
            <a:spAutoFit/>
          </a:bodyPr>
          <a:lstStyle/>
          <a:p>
            <a:pPr>
              <a:spcAft>
                <a:spcPts val="359"/>
              </a:spcAft>
              <a:defRPr sz="1200" b="1">
                <a:solidFill>
                  <a:srgbClr val="267F83"/>
                </a:solidFill>
                <a:latin typeface="Liberation Sans"/>
              </a:defRPr>
            </a:pPr>
            <a:r>
              <a:t>02 / MATERIAL</a:t>
            </a:r>
          </a:p>
        </p:txBody>
      </p:sp>
      <p:sp>
        <p:nvSpPr>
          <p:cNvPr id="16" name="TextBox 15"/>
          <p:cNvSpPr txBox="1"/>
          <p:nvPr/>
        </p:nvSpPr>
        <p:spPr>
          <a:xfrm>
            <a:off x="4517136" y="2377440"/>
            <a:ext cx="3163824" cy="731520"/>
          </a:xfrm>
          <a:prstGeom prst="rect">
            <a:avLst/>
          </a:prstGeom>
          <a:noFill/>
        </p:spPr>
        <p:txBody>
          <a:bodyPr wrap="square" lIns="0" rIns="0" tIns="0" bIns="0">
            <a:spAutoFit/>
          </a:bodyPr>
          <a:lstStyle/>
          <a:p>
            <a:pPr>
              <a:spcAft>
                <a:spcPts val="719"/>
              </a:spcAft>
              <a:defRPr sz="2400" b="1">
                <a:solidFill>
                  <a:srgbClr val="163244"/>
                </a:solidFill>
                <a:latin typeface="Liberation Sans"/>
              </a:defRPr>
            </a:pPr>
            <a:r>
              <a:t>Controlar el inicio</a:t>
            </a:r>
          </a:p>
        </p:txBody>
      </p:sp>
      <p:sp>
        <p:nvSpPr>
          <p:cNvPr id="17" name="TextBox 16"/>
          <p:cNvSpPr txBox="1"/>
          <p:nvPr/>
        </p:nvSpPr>
        <p:spPr>
          <a:xfrm>
            <a:off x="4517136" y="3200400"/>
            <a:ext cx="3163824" cy="2011679"/>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Temperatura de colocación.</a:t>
            </a:r>
          </a:p>
          <a:p>
            <a:pPr>
              <a:spcAft>
                <a:spcPts val="540"/>
              </a:spcAft>
              <a:defRPr sz="1800" b="0">
                <a:solidFill>
                  <a:srgbClr val="526572"/>
                </a:solidFill>
                <a:latin typeface="Liberation Sans"/>
              </a:defRPr>
            </a:pPr>
          </a:p>
          <a:p>
            <a:pPr>
              <a:spcAft>
                <a:spcPts val="540"/>
              </a:spcAft>
              <a:defRPr sz="1800" b="0">
                <a:solidFill>
                  <a:srgbClr val="526572"/>
                </a:solidFill>
                <a:latin typeface="Liberation Sans"/>
              </a:defRPr>
            </a:pPr>
            <a:r>
              <a:t>Parámetros térmicos e hidratación.</a:t>
            </a:r>
          </a:p>
        </p:txBody>
      </p:sp>
      <p:sp>
        <p:nvSpPr>
          <p:cNvPr id="18" name="Rounded Rectangle 17"/>
          <p:cNvSpPr/>
          <p:nvPr/>
        </p:nvSpPr>
        <p:spPr>
          <a:xfrm>
            <a:off x="8037575" y="1783080"/>
            <a:ext cx="3566160" cy="3566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7575" y="1783080"/>
            <a:ext cx="50292" cy="3566160"/>
          </a:xfrm>
          <a:prstGeom prst="rect">
            <a:avLst/>
          </a:prstGeom>
          <a:solidFill>
            <a:srgbClr val="26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1947672"/>
            <a:ext cx="3163824" cy="320040"/>
          </a:xfrm>
          <a:prstGeom prst="rect">
            <a:avLst/>
          </a:prstGeom>
          <a:noFill/>
        </p:spPr>
        <p:txBody>
          <a:bodyPr wrap="square" lIns="0" rIns="0" tIns="0" bIns="0">
            <a:spAutoFit/>
          </a:bodyPr>
          <a:lstStyle/>
          <a:p>
            <a:pPr>
              <a:spcAft>
                <a:spcPts val="359"/>
              </a:spcAft>
              <a:defRPr sz="1200" b="1">
                <a:solidFill>
                  <a:srgbClr val="267F83"/>
                </a:solidFill>
                <a:latin typeface="Liberation Sans"/>
              </a:defRPr>
            </a:pPr>
            <a:r>
              <a:t>03 / PROTECCIÓN</a:t>
            </a:r>
          </a:p>
        </p:txBody>
      </p:sp>
      <p:sp>
        <p:nvSpPr>
          <p:cNvPr id="21" name="TextBox 20"/>
          <p:cNvSpPr txBox="1"/>
          <p:nvPr/>
        </p:nvSpPr>
        <p:spPr>
          <a:xfrm>
            <a:off x="8238744" y="2377440"/>
            <a:ext cx="3163824" cy="731520"/>
          </a:xfrm>
          <a:prstGeom prst="rect">
            <a:avLst/>
          </a:prstGeom>
          <a:noFill/>
        </p:spPr>
        <p:txBody>
          <a:bodyPr wrap="square" lIns="0" rIns="0" tIns="0" bIns="0">
            <a:spAutoFit/>
          </a:bodyPr>
          <a:lstStyle/>
          <a:p>
            <a:pPr>
              <a:spcAft>
                <a:spcPts val="719"/>
              </a:spcAft>
              <a:defRPr sz="2400" b="1">
                <a:solidFill>
                  <a:srgbClr val="163244"/>
                </a:solidFill>
                <a:latin typeface="Liberation Sans"/>
              </a:defRPr>
            </a:pPr>
            <a:r>
              <a:t>Gestionar el intercambio</a:t>
            </a:r>
          </a:p>
        </p:txBody>
      </p:sp>
      <p:sp>
        <p:nvSpPr>
          <p:cNvPr id="22" name="TextBox 21"/>
          <p:cNvSpPr txBox="1"/>
          <p:nvPr/>
        </p:nvSpPr>
        <p:spPr>
          <a:xfrm>
            <a:off x="8238744" y="3200400"/>
            <a:ext cx="3163824" cy="2011679"/>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Moldaje y aislación.</a:t>
            </a:r>
          </a:p>
          <a:p>
            <a:pPr>
              <a:spcAft>
                <a:spcPts val="540"/>
              </a:spcAft>
              <a:defRPr sz="1800" b="0">
                <a:solidFill>
                  <a:srgbClr val="526572"/>
                </a:solidFill>
                <a:latin typeface="Liberation Sans"/>
              </a:defRPr>
            </a:pPr>
          </a:p>
          <a:p>
            <a:pPr>
              <a:spcAft>
                <a:spcPts val="540"/>
              </a:spcAft>
              <a:defRPr sz="1800" b="0">
                <a:solidFill>
                  <a:srgbClr val="526572"/>
                </a:solidFill>
                <a:latin typeface="Liberation Sans"/>
              </a:defRPr>
            </a:pPr>
            <a:r>
              <a:t>Momento de retiro y contingencias.</a:t>
            </a:r>
          </a:p>
        </p:txBody>
      </p:sp>
      <p:sp>
        <p:nvSpPr>
          <p:cNvPr id="23" name="Rounded Rectangle 22"/>
          <p:cNvSpPr/>
          <p:nvPr/>
        </p:nvSpPr>
        <p:spPr>
          <a:xfrm>
            <a:off x="502920" y="5705856"/>
            <a:ext cx="11183112" cy="457200"/>
          </a:xfrm>
          <a:prstGeom prst="roundRect">
            <a:avLst>
              <a:gd name="adj" fmla="val 8000"/>
            </a:avLst>
          </a:prstGeom>
          <a:solidFill>
            <a:srgbClr val="CD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5779008"/>
            <a:ext cx="10789920" cy="320040"/>
          </a:xfrm>
          <a:prstGeom prst="rect">
            <a:avLst/>
          </a:prstGeom>
          <a:noFill/>
        </p:spPr>
        <p:txBody>
          <a:bodyPr wrap="square" lIns="0" rIns="0" tIns="0" bIns="0">
            <a:spAutoFit/>
          </a:bodyPr>
          <a:lstStyle/>
          <a:p>
            <a:pPr>
              <a:spcAft>
                <a:spcPts val="480"/>
              </a:spcAft>
              <a:defRPr sz="1600" b="1">
                <a:solidFill>
                  <a:srgbClr val="163244"/>
                </a:solidFill>
                <a:latin typeface="Liberation Sans"/>
              </a:defRPr>
            </a:pPr>
            <a:r>
              <a:t>Más aislación puede reducir ΔT y elevar Tmax: hay que comparar ambos criterios.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SITIOS POR GRUPO</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La misma fundación, nueve climas de Chile</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Asignación docente: 03_SITIOS_POR_GRUPO.md y sitios.yaml · Cartografía: Natural Earth</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08</a:t>
            </a:r>
          </a:p>
        </p:txBody>
      </p:sp>
      <p:pic>
        <p:nvPicPr>
          <p:cNvPr id="8" name="Picture 7" descr="mapa_sitios.png"/>
          <p:cNvPicPr>
            <a:picLocks noChangeAspect="1"/>
          </p:cNvPicPr>
          <p:nvPr/>
        </p:nvPicPr>
        <p:blipFill>
          <a:blip r:embed="rId2"/>
          <a:stretch>
            <a:fillRect/>
          </a:stretch>
        </p:blipFill>
        <p:spPr>
          <a:xfrm>
            <a:off x="979706" y="1417320"/>
            <a:ext cx="2054802" cy="4800600"/>
          </a:xfrm>
          <a:prstGeom prst="rect">
            <a:avLst/>
          </a:prstGeom>
        </p:spPr>
      </p:pic>
      <p:sp>
        <p:nvSpPr>
          <p:cNvPr id="9" name="Rectangle 8"/>
          <p:cNvSpPr/>
          <p:nvPr/>
        </p:nvSpPr>
        <p:spPr>
          <a:xfrm>
            <a:off x="3703320" y="1645920"/>
            <a:ext cx="7909560" cy="475488"/>
          </a:xfrm>
          <a:prstGeom prst="rect">
            <a:avLst/>
          </a:prstGeom>
          <a:solidFill>
            <a:srgbClr val="16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22191" y="1755648"/>
            <a:ext cx="768096" cy="310896"/>
          </a:xfrm>
          <a:prstGeom prst="rect">
            <a:avLst/>
          </a:prstGeom>
          <a:noFill/>
        </p:spPr>
        <p:txBody>
          <a:bodyPr wrap="square" lIns="0" rIns="0" tIns="0" bIns="0">
            <a:spAutoFit/>
          </a:bodyPr>
          <a:lstStyle/>
          <a:p>
            <a:pPr>
              <a:spcAft>
                <a:spcPts val="480"/>
              </a:spcAft>
              <a:defRPr sz="1600" b="1">
                <a:solidFill>
                  <a:srgbClr val="FFFFFF"/>
                </a:solidFill>
                <a:latin typeface="Liberation Sans"/>
              </a:defRPr>
            </a:pPr>
            <a:r>
              <a:t>Grupo</a:t>
            </a:r>
          </a:p>
        </p:txBody>
      </p:sp>
      <p:sp>
        <p:nvSpPr>
          <p:cNvPr id="11" name="TextBox 10"/>
          <p:cNvSpPr txBox="1"/>
          <p:nvPr/>
        </p:nvSpPr>
        <p:spPr>
          <a:xfrm>
            <a:off x="4828032" y="1755648"/>
            <a:ext cx="4014216" cy="310896"/>
          </a:xfrm>
          <a:prstGeom prst="rect">
            <a:avLst/>
          </a:prstGeom>
          <a:noFill/>
        </p:spPr>
        <p:txBody>
          <a:bodyPr wrap="square" lIns="0" rIns="0" tIns="0" bIns="0">
            <a:spAutoFit/>
          </a:bodyPr>
          <a:lstStyle/>
          <a:p>
            <a:pPr>
              <a:spcAft>
                <a:spcPts val="480"/>
              </a:spcAft>
              <a:defRPr sz="1600" b="1">
                <a:solidFill>
                  <a:srgbClr val="FFFFFF"/>
                </a:solidFill>
                <a:latin typeface="Liberation Sans"/>
              </a:defRPr>
            </a:pPr>
            <a:r>
              <a:t>Sitio de referencia</a:t>
            </a:r>
          </a:p>
        </p:txBody>
      </p:sp>
      <p:sp>
        <p:nvSpPr>
          <p:cNvPr id="12" name="TextBox 11"/>
          <p:cNvSpPr txBox="1"/>
          <p:nvPr/>
        </p:nvSpPr>
        <p:spPr>
          <a:xfrm>
            <a:off x="9079992" y="1755648"/>
            <a:ext cx="2414015" cy="310896"/>
          </a:xfrm>
          <a:prstGeom prst="rect">
            <a:avLst/>
          </a:prstGeom>
          <a:noFill/>
        </p:spPr>
        <p:txBody>
          <a:bodyPr wrap="square" lIns="0" rIns="0" tIns="0" bIns="0">
            <a:spAutoFit/>
          </a:bodyPr>
          <a:lstStyle/>
          <a:p>
            <a:pPr>
              <a:spcAft>
                <a:spcPts val="480"/>
              </a:spcAft>
              <a:defRPr sz="1600" b="1">
                <a:solidFill>
                  <a:srgbClr val="FFFFFF"/>
                </a:solidFill>
                <a:latin typeface="Liberation Sans"/>
              </a:defRPr>
            </a:pPr>
            <a:r>
              <a:t>Región</a:t>
            </a:r>
          </a:p>
        </p:txBody>
      </p:sp>
      <p:sp>
        <p:nvSpPr>
          <p:cNvPr id="13" name="Rectangle 12"/>
          <p:cNvSpPr/>
          <p:nvPr/>
        </p:nvSpPr>
        <p:spPr>
          <a:xfrm>
            <a:off x="3703320" y="2121408"/>
            <a:ext cx="7909560" cy="3931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22191" y="2231136"/>
            <a:ext cx="76809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G1</a:t>
            </a:r>
          </a:p>
        </p:txBody>
      </p:sp>
      <p:sp>
        <p:nvSpPr>
          <p:cNvPr id="15" name="TextBox 14"/>
          <p:cNvSpPr txBox="1"/>
          <p:nvPr/>
        </p:nvSpPr>
        <p:spPr>
          <a:xfrm>
            <a:off x="4828032" y="2231136"/>
            <a:ext cx="401421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Taltal / Wayra</a:t>
            </a:r>
          </a:p>
        </p:txBody>
      </p:sp>
      <p:sp>
        <p:nvSpPr>
          <p:cNvPr id="16" name="TextBox 15"/>
          <p:cNvSpPr txBox="1"/>
          <p:nvPr/>
        </p:nvSpPr>
        <p:spPr>
          <a:xfrm>
            <a:off x="9079992" y="2231136"/>
            <a:ext cx="2414015"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Antofagasta</a:t>
            </a:r>
          </a:p>
        </p:txBody>
      </p:sp>
      <p:sp>
        <p:nvSpPr>
          <p:cNvPr id="17" name="Rectangle 16"/>
          <p:cNvSpPr/>
          <p:nvPr/>
        </p:nvSpPr>
        <p:spPr>
          <a:xfrm>
            <a:off x="3703320" y="2514600"/>
            <a:ext cx="7909560" cy="393192"/>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22191" y="2624328"/>
            <a:ext cx="76809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G2</a:t>
            </a:r>
          </a:p>
        </p:txBody>
      </p:sp>
      <p:sp>
        <p:nvSpPr>
          <p:cNvPr id="19" name="TextBox 18"/>
          <p:cNvSpPr txBox="1"/>
          <p:nvPr/>
        </p:nvSpPr>
        <p:spPr>
          <a:xfrm>
            <a:off x="4828032" y="2624328"/>
            <a:ext cx="401421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Freirina / Sarco</a:t>
            </a:r>
          </a:p>
        </p:txBody>
      </p:sp>
      <p:sp>
        <p:nvSpPr>
          <p:cNvPr id="20" name="TextBox 19"/>
          <p:cNvSpPr txBox="1"/>
          <p:nvPr/>
        </p:nvSpPr>
        <p:spPr>
          <a:xfrm>
            <a:off x="9079992" y="2624328"/>
            <a:ext cx="2414015"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Atacama</a:t>
            </a:r>
          </a:p>
        </p:txBody>
      </p:sp>
      <p:sp>
        <p:nvSpPr>
          <p:cNvPr id="21" name="Rectangle 20"/>
          <p:cNvSpPr/>
          <p:nvPr/>
        </p:nvSpPr>
        <p:spPr>
          <a:xfrm>
            <a:off x="3703320" y="2907792"/>
            <a:ext cx="7909560" cy="3931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22191" y="3017520"/>
            <a:ext cx="76809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G3</a:t>
            </a:r>
          </a:p>
        </p:txBody>
      </p:sp>
      <p:sp>
        <p:nvSpPr>
          <p:cNvPr id="23" name="TextBox 22"/>
          <p:cNvSpPr txBox="1"/>
          <p:nvPr/>
        </p:nvSpPr>
        <p:spPr>
          <a:xfrm>
            <a:off x="4828032" y="3017520"/>
            <a:ext cx="401421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Ovalle / Ecos del Mar</a:t>
            </a:r>
          </a:p>
        </p:txBody>
      </p:sp>
      <p:sp>
        <p:nvSpPr>
          <p:cNvPr id="24" name="TextBox 23"/>
          <p:cNvSpPr txBox="1"/>
          <p:nvPr/>
        </p:nvSpPr>
        <p:spPr>
          <a:xfrm>
            <a:off x="9079992" y="3017520"/>
            <a:ext cx="2414015"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Coquimbo</a:t>
            </a:r>
          </a:p>
        </p:txBody>
      </p:sp>
      <p:sp>
        <p:nvSpPr>
          <p:cNvPr id="25" name="Rectangle 24"/>
          <p:cNvSpPr/>
          <p:nvPr/>
        </p:nvSpPr>
        <p:spPr>
          <a:xfrm>
            <a:off x="3703320" y="3300984"/>
            <a:ext cx="7909560" cy="393192"/>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22191" y="3410712"/>
            <a:ext cx="76809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G4</a:t>
            </a:r>
          </a:p>
        </p:txBody>
      </p:sp>
      <p:sp>
        <p:nvSpPr>
          <p:cNvPr id="27" name="TextBox 26"/>
          <p:cNvSpPr txBox="1"/>
          <p:nvPr/>
        </p:nvSpPr>
        <p:spPr>
          <a:xfrm>
            <a:off x="4828032" y="3410712"/>
            <a:ext cx="401421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Litueche</a:t>
            </a:r>
          </a:p>
        </p:txBody>
      </p:sp>
      <p:sp>
        <p:nvSpPr>
          <p:cNvPr id="28" name="TextBox 27"/>
          <p:cNvSpPr txBox="1"/>
          <p:nvPr/>
        </p:nvSpPr>
        <p:spPr>
          <a:xfrm>
            <a:off x="9079992" y="3410712"/>
            <a:ext cx="2414015"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O’Higgins</a:t>
            </a:r>
          </a:p>
        </p:txBody>
      </p:sp>
      <p:sp>
        <p:nvSpPr>
          <p:cNvPr id="29" name="Rectangle 28"/>
          <p:cNvSpPr/>
          <p:nvPr/>
        </p:nvSpPr>
        <p:spPr>
          <a:xfrm>
            <a:off x="3703320" y="3694176"/>
            <a:ext cx="7909560" cy="3931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22191" y="3803904"/>
            <a:ext cx="76809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G5</a:t>
            </a:r>
          </a:p>
        </p:txBody>
      </p:sp>
      <p:sp>
        <p:nvSpPr>
          <p:cNvPr id="31" name="TextBox 30"/>
          <p:cNvSpPr txBox="1"/>
          <p:nvPr/>
        </p:nvSpPr>
        <p:spPr>
          <a:xfrm>
            <a:off x="4828032" y="3803904"/>
            <a:ext cx="401421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Pahuil / Chanco</a:t>
            </a:r>
          </a:p>
        </p:txBody>
      </p:sp>
      <p:sp>
        <p:nvSpPr>
          <p:cNvPr id="32" name="TextBox 31"/>
          <p:cNvSpPr txBox="1"/>
          <p:nvPr/>
        </p:nvSpPr>
        <p:spPr>
          <a:xfrm>
            <a:off x="9079992" y="3803904"/>
            <a:ext cx="2414015"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Maule</a:t>
            </a:r>
          </a:p>
        </p:txBody>
      </p:sp>
      <p:sp>
        <p:nvSpPr>
          <p:cNvPr id="33" name="Rectangle 32"/>
          <p:cNvSpPr/>
          <p:nvPr/>
        </p:nvSpPr>
        <p:spPr>
          <a:xfrm>
            <a:off x="3703320" y="4087368"/>
            <a:ext cx="7909560" cy="393192"/>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22191" y="4197096"/>
            <a:ext cx="76809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G6</a:t>
            </a:r>
          </a:p>
        </p:txBody>
      </p:sp>
      <p:sp>
        <p:nvSpPr>
          <p:cNvPr id="35" name="TextBox 34"/>
          <p:cNvSpPr txBox="1"/>
          <p:nvPr/>
        </p:nvSpPr>
        <p:spPr>
          <a:xfrm>
            <a:off x="4828032" y="4197096"/>
            <a:ext cx="401421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Los Ángeles / El Rosal</a:t>
            </a:r>
          </a:p>
        </p:txBody>
      </p:sp>
      <p:sp>
        <p:nvSpPr>
          <p:cNvPr id="36" name="TextBox 35"/>
          <p:cNvSpPr txBox="1"/>
          <p:nvPr/>
        </p:nvSpPr>
        <p:spPr>
          <a:xfrm>
            <a:off x="9079992" y="4197096"/>
            <a:ext cx="2414015"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Biobío</a:t>
            </a:r>
          </a:p>
        </p:txBody>
      </p:sp>
      <p:sp>
        <p:nvSpPr>
          <p:cNvPr id="37" name="Rectangle 36"/>
          <p:cNvSpPr/>
          <p:nvPr/>
        </p:nvSpPr>
        <p:spPr>
          <a:xfrm>
            <a:off x="3703320" y="4480560"/>
            <a:ext cx="7909560" cy="3931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22191" y="4590288"/>
            <a:ext cx="76809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G7</a:t>
            </a:r>
          </a:p>
        </p:txBody>
      </p:sp>
      <p:sp>
        <p:nvSpPr>
          <p:cNvPr id="39" name="TextBox 38"/>
          <p:cNvSpPr txBox="1"/>
          <p:nvPr/>
        </p:nvSpPr>
        <p:spPr>
          <a:xfrm>
            <a:off x="4828032" y="4590288"/>
            <a:ext cx="401421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Renaico / Vergara</a:t>
            </a:r>
          </a:p>
        </p:txBody>
      </p:sp>
      <p:sp>
        <p:nvSpPr>
          <p:cNvPr id="40" name="TextBox 39"/>
          <p:cNvSpPr txBox="1"/>
          <p:nvPr/>
        </p:nvSpPr>
        <p:spPr>
          <a:xfrm>
            <a:off x="9079992" y="4590288"/>
            <a:ext cx="2414015"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La Araucanía</a:t>
            </a:r>
          </a:p>
        </p:txBody>
      </p:sp>
      <p:sp>
        <p:nvSpPr>
          <p:cNvPr id="41" name="Rectangle 40"/>
          <p:cNvSpPr/>
          <p:nvPr/>
        </p:nvSpPr>
        <p:spPr>
          <a:xfrm>
            <a:off x="3703320" y="4873752"/>
            <a:ext cx="7909560" cy="393192"/>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22191" y="4983480"/>
            <a:ext cx="76809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G8</a:t>
            </a:r>
          </a:p>
        </p:txBody>
      </p:sp>
      <p:sp>
        <p:nvSpPr>
          <p:cNvPr id="43" name="TextBox 42"/>
          <p:cNvSpPr txBox="1"/>
          <p:nvPr/>
        </p:nvSpPr>
        <p:spPr>
          <a:xfrm>
            <a:off x="4828032" y="4983480"/>
            <a:ext cx="401421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Llanquihue / Cuatro Vientos</a:t>
            </a:r>
          </a:p>
        </p:txBody>
      </p:sp>
      <p:sp>
        <p:nvSpPr>
          <p:cNvPr id="44" name="TextBox 43"/>
          <p:cNvSpPr txBox="1"/>
          <p:nvPr/>
        </p:nvSpPr>
        <p:spPr>
          <a:xfrm>
            <a:off x="9079992" y="4983480"/>
            <a:ext cx="2414015"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Los Lagos</a:t>
            </a:r>
          </a:p>
        </p:txBody>
      </p:sp>
      <p:sp>
        <p:nvSpPr>
          <p:cNvPr id="45" name="Rectangle 44"/>
          <p:cNvSpPr/>
          <p:nvPr/>
        </p:nvSpPr>
        <p:spPr>
          <a:xfrm>
            <a:off x="3703320" y="5266944"/>
            <a:ext cx="7909560" cy="3931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22191" y="5376672"/>
            <a:ext cx="76809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G9</a:t>
            </a:r>
          </a:p>
        </p:txBody>
      </p:sp>
      <p:sp>
        <p:nvSpPr>
          <p:cNvPr id="47" name="TextBox 46"/>
          <p:cNvSpPr txBox="1"/>
          <p:nvPr/>
        </p:nvSpPr>
        <p:spPr>
          <a:xfrm>
            <a:off x="4828032" y="5376672"/>
            <a:ext cx="4014216"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Punta Arenas / Faro del Sur</a:t>
            </a:r>
          </a:p>
        </p:txBody>
      </p:sp>
      <p:sp>
        <p:nvSpPr>
          <p:cNvPr id="48" name="TextBox 47"/>
          <p:cNvSpPr txBox="1"/>
          <p:nvPr/>
        </p:nvSpPr>
        <p:spPr>
          <a:xfrm>
            <a:off x="9079992" y="5376672"/>
            <a:ext cx="2414015" cy="246888"/>
          </a:xfrm>
          <a:prstGeom prst="rect">
            <a:avLst/>
          </a:prstGeom>
          <a:noFill/>
        </p:spPr>
        <p:txBody>
          <a:bodyPr wrap="square" lIns="0" rIns="0" tIns="0" bIns="0">
            <a:spAutoFit/>
          </a:bodyPr>
          <a:lstStyle/>
          <a:p>
            <a:pPr>
              <a:spcAft>
                <a:spcPts val="480"/>
              </a:spcAft>
              <a:defRPr sz="1600" b="0">
                <a:solidFill>
                  <a:srgbClr val="163244"/>
                </a:solidFill>
                <a:latin typeface="Liberation Sans"/>
              </a:defRPr>
            </a:pPr>
            <a:r>
              <a:t>Magallanes</a:t>
            </a:r>
          </a:p>
        </p:txBody>
      </p:sp>
      <p:sp>
        <p:nvSpPr>
          <p:cNvPr id="49" name="TextBox 48"/>
          <p:cNvSpPr txBox="1"/>
          <p:nvPr/>
        </p:nvSpPr>
        <p:spPr>
          <a:xfrm>
            <a:off x="3794760" y="5760720"/>
            <a:ext cx="7589520" cy="502920"/>
          </a:xfrm>
          <a:prstGeom prst="rect">
            <a:avLst/>
          </a:prstGeom>
          <a:noFill/>
        </p:spPr>
        <p:txBody>
          <a:bodyPr wrap="square" lIns="0" rIns="0" tIns="0" bIns="0">
            <a:spAutoFit/>
          </a:bodyPr>
          <a:lstStyle/>
          <a:p>
            <a:pPr>
              <a:spcAft>
                <a:spcPts val="480"/>
              </a:spcAft>
              <a:defRPr sz="1600" b="1">
                <a:solidFill>
                  <a:srgbClr val="267F83"/>
                </a:solidFill>
                <a:latin typeface="Liberation Sans"/>
              </a:defRPr>
            </a:pPr>
            <a:r>
              <a:t>Usar las coordenadas exactas de sitios.yaml.</a:t>
            </a:r>
          </a:p>
          <a:p>
            <a:pPr>
              <a:spcAft>
                <a:spcPts val="480"/>
              </a:spcAft>
              <a:defRPr sz="1600" b="1">
                <a:solidFill>
                  <a:srgbClr val="267F83"/>
                </a:solidFill>
                <a:latin typeface="Liberation Sans"/>
              </a:defRPr>
            </a:pPr>
            <a:r>
              <a:t>Las diferencias climáticas se demuestran con datos.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ARQUITECTURA</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Un flujo completo, con responsabilidades claras</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Guías G00 y G08</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09</a:t>
            </a:r>
          </a:p>
        </p:txBody>
      </p:sp>
      <p:sp>
        <p:nvSpPr>
          <p:cNvPr id="8" name="Rounded Rectangle 7"/>
          <p:cNvSpPr/>
          <p:nvPr/>
        </p:nvSpPr>
        <p:spPr>
          <a:xfrm>
            <a:off x="594360" y="2194560"/>
            <a:ext cx="2039112" cy="2423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377440"/>
            <a:ext cx="1645920" cy="365760"/>
          </a:xfrm>
          <a:prstGeom prst="rect">
            <a:avLst/>
          </a:prstGeom>
          <a:noFill/>
        </p:spPr>
        <p:txBody>
          <a:bodyPr wrap="square" lIns="0" rIns="0" tIns="0" bIns="0">
            <a:spAutoFit/>
          </a:bodyPr>
          <a:lstStyle/>
          <a:p>
            <a:pPr>
              <a:spcAft>
                <a:spcPts val="540"/>
              </a:spcAft>
              <a:defRPr sz="1800" b="1">
                <a:solidFill>
                  <a:srgbClr val="DE633F"/>
                </a:solidFill>
                <a:latin typeface="Liberation Sans"/>
              </a:defRPr>
            </a:pPr>
            <a:r>
              <a:t>01</a:t>
            </a:r>
          </a:p>
        </p:txBody>
      </p:sp>
      <p:sp>
        <p:nvSpPr>
          <p:cNvPr id="10" name="TextBox 9"/>
          <p:cNvSpPr txBox="1"/>
          <p:nvPr/>
        </p:nvSpPr>
        <p:spPr>
          <a:xfrm>
            <a:off x="758952" y="2926080"/>
            <a:ext cx="1737360" cy="640080"/>
          </a:xfrm>
          <a:prstGeom prst="rect">
            <a:avLst/>
          </a:prstGeom>
          <a:noFill/>
        </p:spPr>
        <p:txBody>
          <a:bodyPr wrap="square" lIns="0" rIns="0" tIns="0" bIns="0">
            <a:spAutoFit/>
          </a:bodyPr>
          <a:lstStyle/>
          <a:p>
            <a:pPr>
              <a:spcAft>
                <a:spcPts val="690"/>
              </a:spcAft>
              <a:defRPr sz="2300" b="1">
                <a:solidFill>
                  <a:srgbClr val="163244"/>
                </a:solidFill>
                <a:latin typeface="Liberation Sans"/>
              </a:defRPr>
            </a:pPr>
            <a:r>
              <a:t>BIM / IFC</a:t>
            </a:r>
          </a:p>
        </p:txBody>
      </p:sp>
      <p:sp>
        <p:nvSpPr>
          <p:cNvPr id="11" name="TextBox 10"/>
          <p:cNvSpPr txBox="1"/>
          <p:nvPr/>
        </p:nvSpPr>
        <p:spPr>
          <a:xfrm>
            <a:off x="758952" y="3785615"/>
            <a:ext cx="1737360" cy="640080"/>
          </a:xfrm>
          <a:prstGeom prst="rect">
            <a:avLst/>
          </a:prstGeom>
          <a:noFill/>
        </p:spPr>
        <p:txBody>
          <a:bodyPr wrap="square" lIns="0" rIns="0" tIns="0" bIns="0">
            <a:spAutoFit/>
          </a:bodyPr>
          <a:lstStyle/>
          <a:p>
            <a:pPr>
              <a:spcAft>
                <a:spcPts val="509"/>
              </a:spcAft>
              <a:defRPr sz="1700" b="0">
                <a:solidFill>
                  <a:srgbClr val="526572"/>
                </a:solidFill>
                <a:latin typeface="Liberation Sans"/>
              </a:defRPr>
            </a:pPr>
            <a:r>
              <a:t>Geometría +</a:t>
            </a:r>
          </a:p>
          <a:p>
            <a:pPr>
              <a:spcAft>
                <a:spcPts val="509"/>
              </a:spcAft>
              <a:defRPr sz="1700" b="0">
                <a:solidFill>
                  <a:srgbClr val="526572"/>
                </a:solidFill>
                <a:latin typeface="Liberation Sans"/>
              </a:defRPr>
            </a:pPr>
            <a:r>
              <a:t>propiedades</a:t>
            </a:r>
          </a:p>
        </p:txBody>
      </p:sp>
      <p:sp>
        <p:nvSpPr>
          <p:cNvPr id="12" name="TextBox 11"/>
          <p:cNvSpPr txBox="1"/>
          <p:nvPr/>
        </p:nvSpPr>
        <p:spPr>
          <a:xfrm>
            <a:off x="2642616" y="3200400"/>
            <a:ext cx="228600" cy="457200"/>
          </a:xfrm>
          <a:prstGeom prst="rect">
            <a:avLst/>
          </a:prstGeom>
          <a:noFill/>
        </p:spPr>
        <p:txBody>
          <a:bodyPr wrap="square" lIns="0" rIns="0" tIns="0" bIns="0">
            <a:spAutoFit/>
          </a:bodyPr>
          <a:lstStyle/>
          <a:p>
            <a:pPr>
              <a:spcAft>
                <a:spcPts val="660"/>
              </a:spcAft>
              <a:defRPr sz="2200" b="0">
                <a:solidFill>
                  <a:srgbClr val="267F83"/>
                </a:solidFill>
                <a:latin typeface="Liberation Sans"/>
              </a:defRPr>
            </a:pPr>
            <a:r>
              <a:t>→</a:t>
            </a:r>
          </a:p>
        </p:txBody>
      </p:sp>
      <p:sp>
        <p:nvSpPr>
          <p:cNvPr id="13" name="Rounded Rectangle 12"/>
          <p:cNvSpPr/>
          <p:nvPr/>
        </p:nvSpPr>
        <p:spPr>
          <a:xfrm>
            <a:off x="2825496" y="2194560"/>
            <a:ext cx="2039112" cy="2423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90088" y="2377440"/>
            <a:ext cx="1645920" cy="365760"/>
          </a:xfrm>
          <a:prstGeom prst="rect">
            <a:avLst/>
          </a:prstGeom>
          <a:noFill/>
        </p:spPr>
        <p:txBody>
          <a:bodyPr wrap="square" lIns="0" rIns="0" tIns="0" bIns="0">
            <a:spAutoFit/>
          </a:bodyPr>
          <a:lstStyle/>
          <a:p>
            <a:pPr>
              <a:spcAft>
                <a:spcPts val="540"/>
              </a:spcAft>
              <a:defRPr sz="1800" b="1">
                <a:solidFill>
                  <a:srgbClr val="DE633F"/>
                </a:solidFill>
                <a:latin typeface="Liberation Sans"/>
              </a:defRPr>
            </a:pPr>
            <a:r>
              <a:t>02</a:t>
            </a:r>
          </a:p>
        </p:txBody>
      </p:sp>
      <p:sp>
        <p:nvSpPr>
          <p:cNvPr id="15" name="TextBox 14"/>
          <p:cNvSpPr txBox="1"/>
          <p:nvPr/>
        </p:nvSpPr>
        <p:spPr>
          <a:xfrm>
            <a:off x="2990088" y="2926080"/>
            <a:ext cx="1737360" cy="640080"/>
          </a:xfrm>
          <a:prstGeom prst="rect">
            <a:avLst/>
          </a:prstGeom>
          <a:noFill/>
        </p:spPr>
        <p:txBody>
          <a:bodyPr wrap="square" lIns="0" rIns="0" tIns="0" bIns="0">
            <a:spAutoFit/>
          </a:bodyPr>
          <a:lstStyle/>
          <a:p>
            <a:pPr>
              <a:spcAft>
                <a:spcPts val="690"/>
              </a:spcAft>
              <a:defRPr sz="2300" b="1">
                <a:solidFill>
                  <a:srgbClr val="163244"/>
                </a:solidFill>
                <a:latin typeface="Liberation Sans"/>
              </a:defRPr>
            </a:pPr>
            <a:r>
              <a:t>Voxeles</a:t>
            </a:r>
          </a:p>
        </p:txBody>
      </p:sp>
      <p:sp>
        <p:nvSpPr>
          <p:cNvPr id="16" name="TextBox 15"/>
          <p:cNvSpPr txBox="1"/>
          <p:nvPr/>
        </p:nvSpPr>
        <p:spPr>
          <a:xfrm>
            <a:off x="2990088" y="3785615"/>
            <a:ext cx="1737360" cy="640080"/>
          </a:xfrm>
          <a:prstGeom prst="rect">
            <a:avLst/>
          </a:prstGeom>
          <a:noFill/>
        </p:spPr>
        <p:txBody>
          <a:bodyPr wrap="square" lIns="0" rIns="0" tIns="0" bIns="0">
            <a:spAutoFit/>
          </a:bodyPr>
          <a:lstStyle/>
          <a:p>
            <a:pPr>
              <a:spcAft>
                <a:spcPts val="509"/>
              </a:spcAft>
              <a:defRPr sz="1700" b="0">
                <a:solidFill>
                  <a:srgbClr val="526572"/>
                </a:solidFill>
                <a:latin typeface="Liberation Sans"/>
              </a:defRPr>
            </a:pPr>
            <a:r>
              <a:t>Material +</a:t>
            </a:r>
          </a:p>
          <a:p>
            <a:pPr>
              <a:spcAft>
                <a:spcPts val="509"/>
              </a:spcAft>
              <a:defRPr sz="1700" b="0">
                <a:solidFill>
                  <a:srgbClr val="526572"/>
                </a:solidFill>
                <a:latin typeface="Liberation Sans"/>
              </a:defRPr>
            </a:pPr>
            <a:r>
              <a:t>vertida + estado</a:t>
            </a:r>
          </a:p>
        </p:txBody>
      </p:sp>
      <p:sp>
        <p:nvSpPr>
          <p:cNvPr id="17" name="TextBox 16"/>
          <p:cNvSpPr txBox="1"/>
          <p:nvPr/>
        </p:nvSpPr>
        <p:spPr>
          <a:xfrm>
            <a:off x="4873752" y="3200400"/>
            <a:ext cx="228600" cy="457200"/>
          </a:xfrm>
          <a:prstGeom prst="rect">
            <a:avLst/>
          </a:prstGeom>
          <a:noFill/>
        </p:spPr>
        <p:txBody>
          <a:bodyPr wrap="square" lIns="0" rIns="0" tIns="0" bIns="0">
            <a:spAutoFit/>
          </a:bodyPr>
          <a:lstStyle/>
          <a:p>
            <a:pPr>
              <a:spcAft>
                <a:spcPts val="660"/>
              </a:spcAft>
              <a:defRPr sz="2200" b="0">
                <a:solidFill>
                  <a:srgbClr val="267F83"/>
                </a:solidFill>
                <a:latin typeface="Liberation Sans"/>
              </a:defRPr>
            </a:pPr>
            <a:r>
              <a:t>→</a:t>
            </a:r>
          </a:p>
        </p:txBody>
      </p:sp>
      <p:sp>
        <p:nvSpPr>
          <p:cNvPr id="18" name="Rounded Rectangle 17"/>
          <p:cNvSpPr/>
          <p:nvPr/>
        </p:nvSpPr>
        <p:spPr>
          <a:xfrm>
            <a:off x="5056632" y="2194560"/>
            <a:ext cx="2039112" cy="2423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21224" y="2377440"/>
            <a:ext cx="1645920" cy="365760"/>
          </a:xfrm>
          <a:prstGeom prst="rect">
            <a:avLst/>
          </a:prstGeom>
          <a:noFill/>
        </p:spPr>
        <p:txBody>
          <a:bodyPr wrap="square" lIns="0" rIns="0" tIns="0" bIns="0">
            <a:spAutoFit/>
          </a:bodyPr>
          <a:lstStyle/>
          <a:p>
            <a:pPr>
              <a:spcAft>
                <a:spcPts val="540"/>
              </a:spcAft>
              <a:defRPr sz="1800" b="1">
                <a:solidFill>
                  <a:srgbClr val="DE633F"/>
                </a:solidFill>
                <a:latin typeface="Liberation Sans"/>
              </a:defRPr>
            </a:pPr>
            <a:r>
              <a:t>03</a:t>
            </a:r>
          </a:p>
        </p:txBody>
      </p:sp>
      <p:sp>
        <p:nvSpPr>
          <p:cNvPr id="20" name="TextBox 19"/>
          <p:cNvSpPr txBox="1"/>
          <p:nvPr/>
        </p:nvSpPr>
        <p:spPr>
          <a:xfrm>
            <a:off x="5221224" y="2926080"/>
            <a:ext cx="1737360" cy="640080"/>
          </a:xfrm>
          <a:prstGeom prst="rect">
            <a:avLst/>
          </a:prstGeom>
          <a:noFill/>
        </p:spPr>
        <p:txBody>
          <a:bodyPr wrap="square" lIns="0" rIns="0" tIns="0" bIns="0">
            <a:spAutoFit/>
          </a:bodyPr>
          <a:lstStyle/>
          <a:p>
            <a:pPr>
              <a:spcAft>
                <a:spcPts val="690"/>
              </a:spcAft>
              <a:defRPr sz="2300" b="1">
                <a:solidFill>
                  <a:srgbClr val="163244"/>
                </a:solidFill>
                <a:latin typeface="Liberation Sans"/>
              </a:defRPr>
            </a:pPr>
            <a:r>
              <a:t>Solver propio</a:t>
            </a:r>
          </a:p>
        </p:txBody>
      </p:sp>
      <p:sp>
        <p:nvSpPr>
          <p:cNvPr id="21" name="TextBox 20"/>
          <p:cNvSpPr txBox="1"/>
          <p:nvPr/>
        </p:nvSpPr>
        <p:spPr>
          <a:xfrm>
            <a:off x="5221224" y="3785615"/>
            <a:ext cx="1737360" cy="640080"/>
          </a:xfrm>
          <a:prstGeom prst="rect">
            <a:avLst/>
          </a:prstGeom>
          <a:noFill/>
        </p:spPr>
        <p:txBody>
          <a:bodyPr wrap="square" lIns="0" rIns="0" tIns="0" bIns="0">
            <a:spAutoFit/>
          </a:bodyPr>
          <a:lstStyle/>
          <a:p>
            <a:pPr>
              <a:spcAft>
                <a:spcPts val="509"/>
              </a:spcAft>
              <a:defRPr sz="1700" b="0">
                <a:solidFill>
                  <a:srgbClr val="526572"/>
                </a:solidFill>
                <a:latin typeface="Liberation Sans"/>
              </a:defRPr>
            </a:pPr>
            <a:r>
              <a:t>Temperatura</a:t>
            </a:r>
          </a:p>
          <a:p>
            <a:pPr>
              <a:spcAft>
                <a:spcPts val="509"/>
              </a:spcAft>
              <a:defRPr sz="1700" b="0">
                <a:solidFill>
                  <a:srgbClr val="526572"/>
                </a:solidFill>
                <a:latin typeface="Liberation Sans"/>
              </a:defRPr>
            </a:pPr>
            <a:r>
              <a:t>en el tiempo</a:t>
            </a:r>
          </a:p>
        </p:txBody>
      </p:sp>
      <p:sp>
        <p:nvSpPr>
          <p:cNvPr id="22" name="TextBox 21"/>
          <p:cNvSpPr txBox="1"/>
          <p:nvPr/>
        </p:nvSpPr>
        <p:spPr>
          <a:xfrm>
            <a:off x="7104888" y="3200400"/>
            <a:ext cx="228600" cy="457200"/>
          </a:xfrm>
          <a:prstGeom prst="rect">
            <a:avLst/>
          </a:prstGeom>
          <a:noFill/>
        </p:spPr>
        <p:txBody>
          <a:bodyPr wrap="square" lIns="0" rIns="0" tIns="0" bIns="0">
            <a:spAutoFit/>
          </a:bodyPr>
          <a:lstStyle/>
          <a:p>
            <a:pPr>
              <a:spcAft>
                <a:spcPts val="660"/>
              </a:spcAft>
              <a:defRPr sz="2200" b="0">
                <a:solidFill>
                  <a:srgbClr val="267F83"/>
                </a:solidFill>
                <a:latin typeface="Liberation Sans"/>
              </a:defRPr>
            </a:pPr>
            <a:r>
              <a:t>→</a:t>
            </a:r>
          </a:p>
        </p:txBody>
      </p:sp>
      <p:sp>
        <p:nvSpPr>
          <p:cNvPr id="23" name="Rounded Rectangle 22"/>
          <p:cNvSpPr/>
          <p:nvPr/>
        </p:nvSpPr>
        <p:spPr>
          <a:xfrm>
            <a:off x="7287768" y="2194560"/>
            <a:ext cx="2039112" cy="2423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2377440"/>
            <a:ext cx="1645920" cy="365760"/>
          </a:xfrm>
          <a:prstGeom prst="rect">
            <a:avLst/>
          </a:prstGeom>
          <a:noFill/>
        </p:spPr>
        <p:txBody>
          <a:bodyPr wrap="square" lIns="0" rIns="0" tIns="0" bIns="0">
            <a:spAutoFit/>
          </a:bodyPr>
          <a:lstStyle/>
          <a:p>
            <a:pPr>
              <a:spcAft>
                <a:spcPts val="540"/>
              </a:spcAft>
              <a:defRPr sz="1800" b="1">
                <a:solidFill>
                  <a:srgbClr val="DE633F"/>
                </a:solidFill>
                <a:latin typeface="Liberation Sans"/>
              </a:defRPr>
            </a:pPr>
            <a:r>
              <a:t>04</a:t>
            </a:r>
          </a:p>
        </p:txBody>
      </p:sp>
      <p:sp>
        <p:nvSpPr>
          <p:cNvPr id="25" name="TextBox 24"/>
          <p:cNvSpPr txBox="1"/>
          <p:nvPr/>
        </p:nvSpPr>
        <p:spPr>
          <a:xfrm>
            <a:off x="7452360" y="2926080"/>
            <a:ext cx="1737360" cy="640080"/>
          </a:xfrm>
          <a:prstGeom prst="rect">
            <a:avLst/>
          </a:prstGeom>
          <a:noFill/>
        </p:spPr>
        <p:txBody>
          <a:bodyPr wrap="square" lIns="0" rIns="0" tIns="0" bIns="0">
            <a:spAutoFit/>
          </a:bodyPr>
          <a:lstStyle/>
          <a:p>
            <a:pPr>
              <a:spcAft>
                <a:spcPts val="690"/>
              </a:spcAft>
              <a:defRPr sz="2300" b="1">
                <a:solidFill>
                  <a:srgbClr val="163244"/>
                </a:solidFill>
                <a:latin typeface="Liberation Sans"/>
              </a:defRPr>
            </a:pPr>
            <a:r>
              <a:t>Monte Carlo</a:t>
            </a:r>
          </a:p>
        </p:txBody>
      </p:sp>
      <p:sp>
        <p:nvSpPr>
          <p:cNvPr id="26" name="TextBox 25"/>
          <p:cNvSpPr txBox="1"/>
          <p:nvPr/>
        </p:nvSpPr>
        <p:spPr>
          <a:xfrm>
            <a:off x="7452360" y="3785615"/>
            <a:ext cx="1737360" cy="640080"/>
          </a:xfrm>
          <a:prstGeom prst="rect">
            <a:avLst/>
          </a:prstGeom>
          <a:noFill/>
        </p:spPr>
        <p:txBody>
          <a:bodyPr wrap="square" lIns="0" rIns="0" tIns="0" bIns="0">
            <a:spAutoFit/>
          </a:bodyPr>
          <a:lstStyle/>
          <a:p>
            <a:pPr>
              <a:spcAft>
                <a:spcPts val="509"/>
              </a:spcAft>
              <a:defRPr sz="1700" b="0">
                <a:solidFill>
                  <a:srgbClr val="526572"/>
                </a:solidFill>
                <a:latin typeface="Liberation Sans"/>
              </a:defRPr>
            </a:pPr>
            <a:r>
              <a:t>Variabilidad</a:t>
            </a:r>
          </a:p>
          <a:p>
            <a:pPr>
              <a:spcAft>
                <a:spcPts val="509"/>
              </a:spcAft>
              <a:defRPr sz="1700" b="0">
                <a:solidFill>
                  <a:srgbClr val="526572"/>
                </a:solidFill>
                <a:latin typeface="Liberation Sans"/>
              </a:defRPr>
            </a:pPr>
            <a:r>
              <a:t>y excedencias</a:t>
            </a:r>
          </a:p>
        </p:txBody>
      </p:sp>
      <p:sp>
        <p:nvSpPr>
          <p:cNvPr id="27" name="TextBox 26"/>
          <p:cNvSpPr txBox="1"/>
          <p:nvPr/>
        </p:nvSpPr>
        <p:spPr>
          <a:xfrm>
            <a:off x="9336024" y="3200400"/>
            <a:ext cx="228600" cy="457200"/>
          </a:xfrm>
          <a:prstGeom prst="rect">
            <a:avLst/>
          </a:prstGeom>
          <a:noFill/>
        </p:spPr>
        <p:txBody>
          <a:bodyPr wrap="square" lIns="0" rIns="0" tIns="0" bIns="0">
            <a:spAutoFit/>
          </a:bodyPr>
          <a:lstStyle/>
          <a:p>
            <a:pPr>
              <a:spcAft>
                <a:spcPts val="660"/>
              </a:spcAft>
              <a:defRPr sz="2200" b="0">
                <a:solidFill>
                  <a:srgbClr val="267F83"/>
                </a:solidFill>
                <a:latin typeface="Liberation Sans"/>
              </a:defRPr>
            </a:pPr>
            <a:r>
              <a:t>→</a:t>
            </a:r>
          </a:p>
        </p:txBody>
      </p:sp>
      <p:sp>
        <p:nvSpPr>
          <p:cNvPr id="28" name="Rounded Rectangle 27"/>
          <p:cNvSpPr/>
          <p:nvPr/>
        </p:nvSpPr>
        <p:spPr>
          <a:xfrm>
            <a:off x="9518904" y="2194560"/>
            <a:ext cx="2039112" cy="2423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83496" y="2377440"/>
            <a:ext cx="1645920" cy="365760"/>
          </a:xfrm>
          <a:prstGeom prst="rect">
            <a:avLst/>
          </a:prstGeom>
          <a:noFill/>
        </p:spPr>
        <p:txBody>
          <a:bodyPr wrap="square" lIns="0" rIns="0" tIns="0" bIns="0">
            <a:spAutoFit/>
          </a:bodyPr>
          <a:lstStyle/>
          <a:p>
            <a:pPr>
              <a:spcAft>
                <a:spcPts val="540"/>
              </a:spcAft>
              <a:defRPr sz="1800" b="1">
                <a:solidFill>
                  <a:srgbClr val="DE633F"/>
                </a:solidFill>
                <a:latin typeface="Liberation Sans"/>
              </a:defRPr>
            </a:pPr>
            <a:r>
              <a:t>05</a:t>
            </a:r>
          </a:p>
        </p:txBody>
      </p:sp>
      <p:sp>
        <p:nvSpPr>
          <p:cNvPr id="30" name="TextBox 29"/>
          <p:cNvSpPr txBox="1"/>
          <p:nvPr/>
        </p:nvSpPr>
        <p:spPr>
          <a:xfrm>
            <a:off x="9683496" y="2926080"/>
            <a:ext cx="1737360" cy="640080"/>
          </a:xfrm>
          <a:prstGeom prst="rect">
            <a:avLst/>
          </a:prstGeom>
          <a:noFill/>
        </p:spPr>
        <p:txBody>
          <a:bodyPr wrap="square" lIns="0" rIns="0" tIns="0" bIns="0">
            <a:spAutoFit/>
          </a:bodyPr>
          <a:lstStyle/>
          <a:p>
            <a:pPr>
              <a:spcAft>
                <a:spcPts val="690"/>
              </a:spcAft>
              <a:defRPr sz="2300" b="1">
                <a:solidFill>
                  <a:srgbClr val="163244"/>
                </a:solidFill>
                <a:latin typeface="Liberation Sans"/>
              </a:defRPr>
            </a:pPr>
            <a:r>
              <a:t>Decisión</a:t>
            </a:r>
          </a:p>
        </p:txBody>
      </p:sp>
      <p:sp>
        <p:nvSpPr>
          <p:cNvPr id="31" name="TextBox 30"/>
          <p:cNvSpPr txBox="1"/>
          <p:nvPr/>
        </p:nvSpPr>
        <p:spPr>
          <a:xfrm>
            <a:off x="9683496" y="3785615"/>
            <a:ext cx="1737360" cy="640080"/>
          </a:xfrm>
          <a:prstGeom prst="rect">
            <a:avLst/>
          </a:prstGeom>
          <a:noFill/>
        </p:spPr>
        <p:txBody>
          <a:bodyPr wrap="square" lIns="0" rIns="0" tIns="0" bIns="0">
            <a:spAutoFit/>
          </a:bodyPr>
          <a:lstStyle/>
          <a:p>
            <a:pPr>
              <a:spcAft>
                <a:spcPts val="509"/>
              </a:spcAft>
              <a:defRPr sz="1700" b="0">
                <a:solidFill>
                  <a:srgbClr val="526572"/>
                </a:solidFill>
                <a:latin typeface="Liberation Sans"/>
              </a:defRPr>
            </a:pPr>
            <a:r>
              <a:t>Plan + monitoreo</a:t>
            </a:r>
          </a:p>
          <a:p>
            <a:pPr>
              <a:spcAft>
                <a:spcPts val="509"/>
              </a:spcAft>
              <a:defRPr sz="1700" b="0">
                <a:solidFill>
                  <a:srgbClr val="526572"/>
                </a:solidFill>
                <a:latin typeface="Liberation Sans"/>
              </a:defRPr>
            </a:pPr>
            <a:r>
              <a:t>+ contingencia</a:t>
            </a:r>
          </a:p>
        </p:txBody>
      </p:sp>
      <p:sp>
        <p:nvSpPr>
          <p:cNvPr id="32" name="TextBox 31"/>
          <p:cNvSpPr txBox="1"/>
          <p:nvPr/>
        </p:nvSpPr>
        <p:spPr>
          <a:xfrm>
            <a:off x="4526280" y="1700784"/>
            <a:ext cx="6583680" cy="411480"/>
          </a:xfrm>
          <a:prstGeom prst="rect">
            <a:avLst/>
          </a:prstGeom>
          <a:noFill/>
        </p:spPr>
        <p:txBody>
          <a:bodyPr wrap="square" lIns="0" rIns="0" tIns="0" bIns="0">
            <a:spAutoFit/>
          </a:bodyPr>
          <a:lstStyle/>
          <a:p>
            <a:pPr>
              <a:spcAft>
                <a:spcPts val="600"/>
              </a:spcAft>
              <a:defRPr sz="2000" b="1">
                <a:solidFill>
                  <a:srgbClr val="267F83"/>
                </a:solidFill>
                <a:latin typeface="Liberation Sans"/>
              </a:defRPr>
            </a:pPr>
            <a:r>
              <a:t>Clima + materiales + secuencia constructiva</a:t>
            </a:r>
          </a:p>
        </p:txBody>
      </p:sp>
      <p:sp>
        <p:nvSpPr>
          <p:cNvPr id="33" name="TextBox 32"/>
          <p:cNvSpPr txBox="1"/>
          <p:nvPr/>
        </p:nvSpPr>
        <p:spPr>
          <a:xfrm>
            <a:off x="4251960" y="5074920"/>
            <a:ext cx="6400800" cy="411480"/>
          </a:xfrm>
          <a:prstGeom prst="rect">
            <a:avLst/>
          </a:prstGeom>
          <a:noFill/>
        </p:spPr>
        <p:txBody>
          <a:bodyPr wrap="square" lIns="0" rIns="0" tIns="0" bIns="0">
            <a:spAutoFit/>
          </a:bodyPr>
          <a:lstStyle/>
          <a:p>
            <a:pPr>
              <a:spcAft>
                <a:spcPts val="690"/>
              </a:spcAft>
              <a:defRPr sz="2300" b="1">
                <a:solidFill>
                  <a:srgbClr val="267F83"/>
                </a:solidFill>
                <a:latin typeface="Liberation Sans"/>
              </a:defRPr>
            </a:pPr>
            <a:r>
              <a:t>VTK · PyVista · ParaView</a:t>
            </a:r>
          </a:p>
        </p:txBody>
      </p:sp>
      <p:sp>
        <p:nvSpPr>
          <p:cNvPr id="34" name="Rounded Rectangle 33"/>
          <p:cNvSpPr/>
          <p:nvPr/>
        </p:nvSpPr>
        <p:spPr>
          <a:xfrm>
            <a:off x="502920" y="5705856"/>
            <a:ext cx="11183112" cy="457200"/>
          </a:xfrm>
          <a:prstGeom prst="roundRect">
            <a:avLst>
              <a:gd name="adj" fmla="val 8000"/>
            </a:avLst>
          </a:prstGeom>
          <a:solidFill>
            <a:srgbClr val="CD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3232" y="5779008"/>
            <a:ext cx="10789920" cy="320040"/>
          </a:xfrm>
          <a:prstGeom prst="rect">
            <a:avLst/>
          </a:prstGeom>
          <a:noFill/>
        </p:spPr>
        <p:txBody>
          <a:bodyPr wrap="square" lIns="0" rIns="0" tIns="0" bIns="0">
            <a:spAutoFit/>
          </a:bodyPr>
          <a:lstStyle/>
          <a:p>
            <a:pPr>
              <a:spcAft>
                <a:spcPts val="480"/>
              </a:spcAft>
              <a:defRPr sz="1600" b="1">
                <a:solidFill>
                  <a:srgbClr val="163244"/>
                </a:solidFill>
                <a:latin typeface="Liberation Sans"/>
              </a:defRPr>
            </a:pPr>
            <a:r>
              <a:t>El plan cambia mediante inputs; el programa permite volver a evaluar sin reescribir el solver.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BIM / IFC</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El BIM describe qué se construye y cuándo</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Imagen web: documentación oficial Bonsai · Guías G01–G03</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10</a:t>
            </a:r>
          </a:p>
        </p:txBody>
      </p:sp>
      <p:pic>
        <p:nvPicPr>
          <p:cNvPr id="8" name="Picture 7" descr="bonsai_interface.png"/>
          <p:cNvPicPr>
            <a:picLocks noChangeAspect="1"/>
          </p:cNvPicPr>
          <p:nvPr/>
        </p:nvPicPr>
        <p:blipFill>
          <a:blip r:embed="rId2"/>
          <a:stretch>
            <a:fillRect/>
          </a:stretch>
        </p:blipFill>
        <p:spPr>
          <a:xfrm>
            <a:off x="990049" y="1737360"/>
            <a:ext cx="6066621" cy="3840480"/>
          </a:xfrm>
          <a:prstGeom prst="rect">
            <a:avLst/>
          </a:prstGeom>
        </p:spPr>
      </p:pic>
      <p:sp>
        <p:nvSpPr>
          <p:cNvPr id="9" name="TextBox 8"/>
          <p:cNvSpPr txBox="1"/>
          <p:nvPr/>
        </p:nvSpPr>
        <p:spPr>
          <a:xfrm>
            <a:off x="7754112" y="1783080"/>
            <a:ext cx="3840480" cy="822960"/>
          </a:xfrm>
          <a:prstGeom prst="rect">
            <a:avLst/>
          </a:prstGeom>
          <a:noFill/>
        </p:spPr>
        <p:txBody>
          <a:bodyPr wrap="square" lIns="0" rIns="0" tIns="0" bIns="0">
            <a:spAutoFit/>
          </a:bodyPr>
          <a:lstStyle/>
          <a:p>
            <a:pPr>
              <a:spcAft>
                <a:spcPts val="780"/>
              </a:spcAft>
              <a:defRPr sz="2600" b="1">
                <a:solidFill>
                  <a:srgbClr val="163244"/>
                </a:solidFill>
                <a:latin typeface="Liberation Sans"/>
              </a:defRPr>
            </a:pPr>
            <a:r>
              <a:t>Cada vertida es identificable</a:t>
            </a:r>
          </a:p>
        </p:txBody>
      </p:sp>
      <p:sp>
        <p:nvSpPr>
          <p:cNvPr id="10" name="TextBox 9"/>
          <p:cNvSpPr txBox="1"/>
          <p:nvPr/>
        </p:nvSpPr>
        <p:spPr>
          <a:xfrm>
            <a:off x="7754112" y="2834640"/>
            <a:ext cx="3840480" cy="2651760"/>
          </a:xfrm>
          <a:prstGeom prst="rect">
            <a:avLst/>
          </a:prstGeom>
          <a:noFill/>
        </p:spPr>
        <p:txBody>
          <a:bodyPr wrap="square" lIns="0" rIns="0" tIns="0" bIns="0">
            <a:spAutoFit/>
          </a:bodyPr>
          <a:lstStyle/>
          <a:p>
            <a:pPr>
              <a:spcAft>
                <a:spcPts val="600"/>
              </a:spcAft>
              <a:defRPr sz="2000" b="0">
                <a:solidFill>
                  <a:srgbClr val="526572"/>
                </a:solidFill>
                <a:latin typeface="Liberation Sans"/>
              </a:defRPr>
            </a:pPr>
            <a:r>
              <a:t>Identidad / GUID</a:t>
            </a:r>
          </a:p>
          <a:p>
            <a:pPr>
              <a:spcAft>
                <a:spcPts val="600"/>
              </a:spcAft>
              <a:defRPr sz="2000" b="0">
                <a:solidFill>
                  <a:srgbClr val="526572"/>
                </a:solidFill>
                <a:latin typeface="Liberation Sans"/>
              </a:defRPr>
            </a:pPr>
            <a:r>
              <a:t>Tipo de hormigón</a:t>
            </a:r>
          </a:p>
          <a:p>
            <a:pPr>
              <a:spcAft>
                <a:spcPts val="600"/>
              </a:spcAft>
              <a:defRPr sz="2000" b="0">
                <a:solidFill>
                  <a:srgbClr val="526572"/>
                </a:solidFill>
                <a:latin typeface="Liberation Sans"/>
              </a:defRPr>
            </a:pPr>
            <a:r>
              <a:t>Inicio planificado</a:t>
            </a:r>
          </a:p>
          <a:p>
            <a:pPr>
              <a:spcAft>
                <a:spcPts val="600"/>
              </a:spcAft>
              <a:defRPr sz="2000" b="0">
                <a:solidFill>
                  <a:srgbClr val="526572"/>
                </a:solidFill>
                <a:latin typeface="Liberation Sans"/>
              </a:defRPr>
            </a:pPr>
            <a:r>
              <a:t>Temperatura de colocación</a:t>
            </a:r>
          </a:p>
          <a:p>
            <a:pPr>
              <a:spcAft>
                <a:spcPts val="600"/>
              </a:spcAft>
              <a:defRPr sz="2000" b="0">
                <a:solidFill>
                  <a:srgbClr val="526572"/>
                </a:solidFill>
                <a:latin typeface="Liberation Sans"/>
              </a:defRPr>
            </a:pPr>
            <a:r>
              <a:t>Moldaje y aislación</a:t>
            </a:r>
          </a:p>
          <a:p>
            <a:pPr>
              <a:spcAft>
                <a:spcPts val="600"/>
              </a:spcAft>
              <a:defRPr sz="2000" b="0">
                <a:solidFill>
                  <a:srgbClr val="526572"/>
                </a:solidFill>
                <a:latin typeface="Liberation Sans"/>
              </a:defRPr>
            </a:pPr>
            <a:r>
              <a:t>Retiro de moldaje</a:t>
            </a:r>
          </a:p>
        </p:txBody>
      </p:sp>
      <p:sp>
        <p:nvSpPr>
          <p:cNvPr id="11" name="TextBox 10"/>
          <p:cNvSpPr txBox="1"/>
          <p:nvPr/>
        </p:nvSpPr>
        <p:spPr>
          <a:xfrm>
            <a:off x="731520" y="5806440"/>
            <a:ext cx="10789920" cy="411480"/>
          </a:xfrm>
          <a:prstGeom prst="rect">
            <a:avLst/>
          </a:prstGeom>
          <a:noFill/>
        </p:spPr>
        <p:txBody>
          <a:bodyPr wrap="square" lIns="0" rIns="0" tIns="0" bIns="0">
            <a:spAutoFit/>
          </a:bodyPr>
          <a:lstStyle/>
          <a:p>
            <a:pPr>
              <a:spcAft>
                <a:spcPts val="630"/>
              </a:spcAft>
              <a:defRPr sz="2100" b="1">
                <a:solidFill>
                  <a:srgbClr val="267F83"/>
                </a:solidFill>
                <a:latin typeface="Liberation Sans"/>
              </a:defRPr>
            </a:pPr>
            <a:r>
              <a:t>Bonsai → IFC → IfcOpenShell → Python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VOXELIZACIÓN</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De la geometría a una grilla cartesiana</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Guía G04 · Ilustración conceptual, no geometría oficial ni resultado numérico</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11</a:t>
            </a:r>
          </a:p>
        </p:txBody>
      </p:sp>
      <p:pic>
        <p:nvPicPr>
          <p:cNvPr id="8" name="Picture 7" descr="voxeles.png"/>
          <p:cNvPicPr>
            <a:picLocks noChangeAspect="1"/>
          </p:cNvPicPr>
          <p:nvPr/>
        </p:nvPicPr>
        <p:blipFill>
          <a:blip r:embed="rId2"/>
          <a:stretch>
            <a:fillRect/>
          </a:stretch>
        </p:blipFill>
        <p:spPr>
          <a:xfrm>
            <a:off x="1086928" y="1508760"/>
            <a:ext cx="5507103" cy="4389120"/>
          </a:xfrm>
          <a:prstGeom prst="rect">
            <a:avLst/>
          </a:prstGeom>
        </p:spPr>
      </p:pic>
      <p:sp>
        <p:nvSpPr>
          <p:cNvPr id="9" name="Rectangle 8"/>
          <p:cNvSpPr/>
          <p:nvPr/>
        </p:nvSpPr>
        <p:spPr>
          <a:xfrm>
            <a:off x="7315200" y="1883664"/>
            <a:ext cx="82296" cy="82296"/>
          </a:xfrm>
          <a:prstGeom prst="rect">
            <a:avLst/>
          </a:prstGeom>
          <a:solidFill>
            <a:srgbClr val="DE6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810512"/>
            <a:ext cx="4069080" cy="411480"/>
          </a:xfrm>
          <a:prstGeom prst="rect">
            <a:avLst/>
          </a:prstGeom>
          <a:noFill/>
        </p:spPr>
        <p:txBody>
          <a:bodyPr wrap="square" lIns="0" rIns="0" tIns="0" bIns="0">
            <a:spAutoFit/>
          </a:bodyPr>
          <a:lstStyle/>
          <a:p>
            <a:pPr>
              <a:spcAft>
                <a:spcPts val="630"/>
              </a:spcAft>
              <a:defRPr sz="2100" b="1">
                <a:solidFill>
                  <a:srgbClr val="163244"/>
                </a:solidFill>
                <a:latin typeface="Liberation Sans"/>
              </a:defRPr>
            </a:pPr>
            <a:r>
              <a:t>Clasificar</a:t>
            </a:r>
          </a:p>
        </p:txBody>
      </p:sp>
      <p:sp>
        <p:nvSpPr>
          <p:cNvPr id="11" name="TextBox 10"/>
          <p:cNvSpPr txBox="1"/>
          <p:nvPr/>
        </p:nvSpPr>
        <p:spPr>
          <a:xfrm>
            <a:off x="7543800" y="2313432"/>
            <a:ext cx="4069080" cy="768096"/>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¿El centro de cada celda está</a:t>
            </a:r>
          </a:p>
          <a:p>
            <a:pPr>
              <a:spcAft>
                <a:spcPts val="540"/>
              </a:spcAft>
              <a:defRPr sz="1800" b="0">
                <a:solidFill>
                  <a:srgbClr val="526572"/>
                </a:solidFill>
                <a:latin typeface="Liberation Sans"/>
              </a:defRPr>
            </a:pPr>
            <a:r>
              <a:t>dentro del sólido?</a:t>
            </a:r>
          </a:p>
        </p:txBody>
      </p:sp>
      <p:sp>
        <p:nvSpPr>
          <p:cNvPr id="12" name="Rectangle 11"/>
          <p:cNvSpPr/>
          <p:nvPr/>
        </p:nvSpPr>
        <p:spPr>
          <a:xfrm>
            <a:off x="7315200" y="3227832"/>
            <a:ext cx="82296" cy="82296"/>
          </a:xfrm>
          <a:prstGeom prst="rect">
            <a:avLst/>
          </a:prstGeom>
          <a:solidFill>
            <a:srgbClr val="DE6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43800" y="3154680"/>
            <a:ext cx="4069080" cy="411480"/>
          </a:xfrm>
          <a:prstGeom prst="rect">
            <a:avLst/>
          </a:prstGeom>
          <a:noFill/>
        </p:spPr>
        <p:txBody>
          <a:bodyPr wrap="square" lIns="0" rIns="0" tIns="0" bIns="0">
            <a:spAutoFit/>
          </a:bodyPr>
          <a:lstStyle/>
          <a:p>
            <a:pPr>
              <a:spcAft>
                <a:spcPts val="630"/>
              </a:spcAft>
              <a:defRPr sz="2100" b="1">
                <a:solidFill>
                  <a:srgbClr val="163244"/>
                </a:solidFill>
                <a:latin typeface="Liberation Sans"/>
              </a:defRPr>
            </a:pPr>
            <a:r>
              <a:t>Conservar identidad</a:t>
            </a:r>
          </a:p>
        </p:txBody>
      </p:sp>
      <p:sp>
        <p:nvSpPr>
          <p:cNvPr id="14" name="TextBox 13"/>
          <p:cNvSpPr txBox="1"/>
          <p:nvPr/>
        </p:nvSpPr>
        <p:spPr>
          <a:xfrm>
            <a:off x="7543800" y="3657600"/>
            <a:ext cx="4069080" cy="768096"/>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Cada voxel conoce material,</a:t>
            </a:r>
          </a:p>
          <a:p>
            <a:pPr>
              <a:spcAft>
                <a:spcPts val="540"/>
              </a:spcAft>
              <a:defRPr sz="1800" b="0">
                <a:solidFill>
                  <a:srgbClr val="526572"/>
                </a:solidFill>
                <a:latin typeface="Liberation Sans"/>
              </a:defRPr>
            </a:pPr>
            <a:r>
              <a:t>vertida y estado de activación.</a:t>
            </a:r>
          </a:p>
        </p:txBody>
      </p:sp>
      <p:sp>
        <p:nvSpPr>
          <p:cNvPr id="15" name="Rectangle 14"/>
          <p:cNvSpPr/>
          <p:nvPr/>
        </p:nvSpPr>
        <p:spPr>
          <a:xfrm>
            <a:off x="7315200" y="4572000"/>
            <a:ext cx="82296" cy="82296"/>
          </a:xfrm>
          <a:prstGeom prst="rect">
            <a:avLst/>
          </a:prstGeom>
          <a:solidFill>
            <a:srgbClr val="DE6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43800" y="4498848"/>
            <a:ext cx="4069080" cy="411480"/>
          </a:xfrm>
          <a:prstGeom prst="rect">
            <a:avLst/>
          </a:prstGeom>
          <a:noFill/>
        </p:spPr>
        <p:txBody>
          <a:bodyPr wrap="square" lIns="0" rIns="0" tIns="0" bIns="0">
            <a:spAutoFit/>
          </a:bodyPr>
          <a:lstStyle/>
          <a:p>
            <a:pPr>
              <a:spcAft>
                <a:spcPts val="630"/>
              </a:spcAft>
              <a:defRPr sz="2100" b="1">
                <a:solidFill>
                  <a:srgbClr val="163244"/>
                </a:solidFill>
                <a:latin typeface="Liberation Sans"/>
              </a:defRPr>
            </a:pPr>
            <a:r>
              <a:t>Medir el error</a:t>
            </a:r>
          </a:p>
        </p:txBody>
      </p:sp>
      <p:sp>
        <p:nvSpPr>
          <p:cNvPr id="17" name="TextBox 16"/>
          <p:cNvSpPr txBox="1"/>
          <p:nvPr/>
        </p:nvSpPr>
        <p:spPr>
          <a:xfrm>
            <a:off x="7543800" y="5001768"/>
            <a:ext cx="4069080" cy="768096"/>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Comparar volumen con al menos</a:t>
            </a:r>
          </a:p>
          <a:p>
            <a:pPr>
              <a:spcAft>
                <a:spcPts val="540"/>
              </a:spcAft>
              <a:defRPr sz="1800" b="0">
                <a:solidFill>
                  <a:srgbClr val="526572"/>
                </a:solidFill>
                <a:latin typeface="Liberation Sans"/>
              </a:defRPr>
            </a:pPr>
            <a:r>
              <a:t>tres resoluciones.</a:t>
            </a:r>
          </a:p>
        </p:txBody>
      </p:sp>
      <p:sp>
        <p:nvSpPr>
          <p:cNvPr id="18" name="TextBox 17"/>
          <p:cNvSpPr txBox="1"/>
          <p:nvPr/>
        </p:nvSpPr>
        <p:spPr>
          <a:xfrm>
            <a:off x="1280160" y="5779008"/>
            <a:ext cx="5669280" cy="365760"/>
          </a:xfrm>
          <a:prstGeom prst="rect">
            <a:avLst/>
          </a:prstGeom>
          <a:noFill/>
        </p:spPr>
        <p:txBody>
          <a:bodyPr wrap="square" lIns="0" rIns="0" tIns="0" bIns="0">
            <a:spAutoFit/>
          </a:bodyPr>
          <a:lstStyle/>
          <a:p>
            <a:pPr>
              <a:spcAft>
                <a:spcPts val="719"/>
              </a:spcAft>
              <a:defRPr sz="2400" b="1">
                <a:solidFill>
                  <a:srgbClr val="267F83"/>
                </a:solidFill>
                <a:latin typeface="Liberation Sans"/>
              </a:defRPr>
            </a:pPr>
            <a:r>
              <a:t>Vh = Nactivo Δx Δy Δz</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FÍSICA Y DISCRETIZACIÓN</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El solver nace de un balance de energía</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Guía G05 · Núcleo numérico desarrollado por el equipo</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12</a:t>
            </a:r>
          </a:p>
        </p:txBody>
      </p:sp>
      <p:pic>
        <p:nvPicPr>
          <p:cNvPr id="8" name="Picture 7" descr="balance.png"/>
          <p:cNvPicPr>
            <a:picLocks noChangeAspect="1"/>
          </p:cNvPicPr>
          <p:nvPr/>
        </p:nvPicPr>
        <p:blipFill>
          <a:blip r:embed="rId2"/>
          <a:stretch>
            <a:fillRect/>
          </a:stretch>
        </p:blipFill>
        <p:spPr>
          <a:xfrm>
            <a:off x="778459" y="1828800"/>
            <a:ext cx="10696041" cy="1417320"/>
          </a:xfrm>
          <a:prstGeom prst="rect">
            <a:avLst/>
          </a:prstGeom>
        </p:spPr>
      </p:pic>
      <p:sp>
        <p:nvSpPr>
          <p:cNvPr id="9" name="TextBox 8"/>
          <p:cNvSpPr txBox="1"/>
          <p:nvPr/>
        </p:nvSpPr>
        <p:spPr>
          <a:xfrm>
            <a:off x="914400" y="3657600"/>
            <a:ext cx="3108960" cy="548640"/>
          </a:xfrm>
          <a:prstGeom prst="rect">
            <a:avLst/>
          </a:prstGeom>
          <a:noFill/>
        </p:spPr>
        <p:txBody>
          <a:bodyPr wrap="square" lIns="0" rIns="0" tIns="0" bIns="0">
            <a:spAutoFit/>
          </a:bodyPr>
          <a:lstStyle/>
          <a:p>
            <a:pPr>
              <a:spcAft>
                <a:spcPts val="750"/>
              </a:spcAft>
              <a:defRPr sz="2500" b="1">
                <a:solidFill>
                  <a:srgbClr val="267F83"/>
                </a:solidFill>
                <a:latin typeface="Liberation Sans"/>
              </a:defRPr>
            </a:pPr>
            <a:r>
              <a:t>Almacenamiento</a:t>
            </a:r>
          </a:p>
        </p:txBody>
      </p:sp>
      <p:sp>
        <p:nvSpPr>
          <p:cNvPr id="10" name="TextBox 9"/>
          <p:cNvSpPr txBox="1"/>
          <p:nvPr/>
        </p:nvSpPr>
        <p:spPr>
          <a:xfrm>
            <a:off x="914400" y="4434840"/>
            <a:ext cx="3108960" cy="914400"/>
          </a:xfrm>
          <a:prstGeom prst="rect">
            <a:avLst/>
          </a:prstGeom>
          <a:noFill/>
        </p:spPr>
        <p:txBody>
          <a:bodyPr wrap="square" lIns="0" rIns="0" tIns="0" bIns="0">
            <a:spAutoFit/>
          </a:bodyPr>
          <a:lstStyle/>
          <a:p>
            <a:pPr>
              <a:spcAft>
                <a:spcPts val="600"/>
              </a:spcAft>
              <a:defRPr sz="2000" b="0">
                <a:solidFill>
                  <a:srgbClr val="526572"/>
                </a:solidFill>
                <a:latin typeface="Liberation Sans"/>
              </a:defRPr>
            </a:pPr>
            <a:r>
              <a:t>ρ · cp · V</a:t>
            </a:r>
          </a:p>
          <a:p>
            <a:pPr>
              <a:spcAft>
                <a:spcPts val="600"/>
              </a:spcAft>
              <a:defRPr sz="2000" b="0">
                <a:solidFill>
                  <a:srgbClr val="526572"/>
                </a:solidFill>
                <a:latin typeface="Liberation Sans"/>
              </a:defRPr>
            </a:pPr>
            <a:r>
              <a:t>Capacidad térmica de la celda</a:t>
            </a:r>
          </a:p>
        </p:txBody>
      </p:sp>
      <p:sp>
        <p:nvSpPr>
          <p:cNvPr id="11" name="TextBox 10"/>
          <p:cNvSpPr txBox="1"/>
          <p:nvPr/>
        </p:nvSpPr>
        <p:spPr>
          <a:xfrm>
            <a:off x="4572000" y="3657600"/>
            <a:ext cx="3108960" cy="548640"/>
          </a:xfrm>
          <a:prstGeom prst="rect">
            <a:avLst/>
          </a:prstGeom>
          <a:noFill/>
        </p:spPr>
        <p:txBody>
          <a:bodyPr wrap="square" lIns="0" rIns="0" tIns="0" bIns="0">
            <a:spAutoFit/>
          </a:bodyPr>
          <a:lstStyle/>
          <a:p>
            <a:pPr>
              <a:spcAft>
                <a:spcPts val="750"/>
              </a:spcAft>
              <a:defRPr sz="2500" b="1">
                <a:solidFill>
                  <a:srgbClr val="267F83"/>
                </a:solidFill>
                <a:latin typeface="Liberation Sans"/>
              </a:defRPr>
            </a:pPr>
            <a:r>
              <a:t>Intercambio</a:t>
            </a:r>
          </a:p>
        </p:txBody>
      </p:sp>
      <p:sp>
        <p:nvSpPr>
          <p:cNvPr id="12" name="TextBox 11"/>
          <p:cNvSpPr txBox="1"/>
          <p:nvPr/>
        </p:nvSpPr>
        <p:spPr>
          <a:xfrm>
            <a:off x="4572000" y="4434840"/>
            <a:ext cx="3108960" cy="914400"/>
          </a:xfrm>
          <a:prstGeom prst="rect">
            <a:avLst/>
          </a:prstGeom>
          <a:noFill/>
        </p:spPr>
        <p:txBody>
          <a:bodyPr wrap="square" lIns="0" rIns="0" tIns="0" bIns="0">
            <a:spAutoFit/>
          </a:bodyPr>
          <a:lstStyle/>
          <a:p>
            <a:pPr>
              <a:spcAft>
                <a:spcPts val="600"/>
              </a:spcAft>
              <a:defRPr sz="2000" b="0">
                <a:solidFill>
                  <a:srgbClr val="526572"/>
                </a:solidFill>
                <a:latin typeface="Liberation Sans"/>
              </a:defRPr>
            </a:pPr>
            <a:r>
              <a:t>Gij · (Tj − Ti)</a:t>
            </a:r>
          </a:p>
          <a:p>
            <a:pPr>
              <a:spcAft>
                <a:spcPts val="600"/>
              </a:spcAft>
              <a:defRPr sz="2000" b="0">
                <a:solidFill>
                  <a:srgbClr val="526572"/>
                </a:solidFill>
                <a:latin typeface="Liberation Sans"/>
              </a:defRPr>
            </a:pPr>
            <a:r>
              <a:t>Conducción entre vecinos</a:t>
            </a:r>
          </a:p>
        </p:txBody>
      </p:sp>
      <p:sp>
        <p:nvSpPr>
          <p:cNvPr id="13" name="TextBox 12"/>
          <p:cNvSpPr txBox="1"/>
          <p:nvPr/>
        </p:nvSpPr>
        <p:spPr>
          <a:xfrm>
            <a:off x="8229600" y="3657600"/>
            <a:ext cx="3108960" cy="548640"/>
          </a:xfrm>
          <a:prstGeom prst="rect">
            <a:avLst/>
          </a:prstGeom>
          <a:noFill/>
        </p:spPr>
        <p:txBody>
          <a:bodyPr wrap="square" lIns="0" rIns="0" tIns="0" bIns="0">
            <a:spAutoFit/>
          </a:bodyPr>
          <a:lstStyle/>
          <a:p>
            <a:pPr>
              <a:spcAft>
                <a:spcPts val="750"/>
              </a:spcAft>
              <a:defRPr sz="2500" b="1">
                <a:solidFill>
                  <a:srgbClr val="267F83"/>
                </a:solidFill>
                <a:latin typeface="Liberation Sans"/>
              </a:defRPr>
            </a:pPr>
            <a:r>
              <a:t>Aportes</a:t>
            </a:r>
          </a:p>
        </p:txBody>
      </p:sp>
      <p:sp>
        <p:nvSpPr>
          <p:cNvPr id="14" name="TextBox 13"/>
          <p:cNvSpPr txBox="1"/>
          <p:nvPr/>
        </p:nvSpPr>
        <p:spPr>
          <a:xfrm>
            <a:off x="8229600" y="4434840"/>
            <a:ext cx="3108960" cy="914400"/>
          </a:xfrm>
          <a:prstGeom prst="rect">
            <a:avLst/>
          </a:prstGeom>
          <a:noFill/>
        </p:spPr>
        <p:txBody>
          <a:bodyPr wrap="square" lIns="0" rIns="0" tIns="0" bIns="0">
            <a:spAutoFit/>
          </a:bodyPr>
          <a:lstStyle/>
          <a:p>
            <a:pPr>
              <a:spcAft>
                <a:spcPts val="600"/>
              </a:spcAft>
              <a:defRPr sz="2000" b="0">
                <a:solidFill>
                  <a:srgbClr val="526572"/>
                </a:solidFill>
                <a:latin typeface="Liberation Sans"/>
              </a:defRPr>
            </a:pPr>
            <a:r>
              <a:t>Hidratación + borde</a:t>
            </a:r>
          </a:p>
          <a:p>
            <a:pPr>
              <a:spcAft>
                <a:spcPts val="600"/>
              </a:spcAft>
              <a:defRPr sz="2000" b="0">
                <a:solidFill>
                  <a:srgbClr val="526572"/>
                </a:solidFill>
                <a:latin typeface="Liberation Sans"/>
              </a:defRPr>
            </a:pPr>
            <a:r>
              <a:t>Potencias térmicas [W]</a:t>
            </a:r>
          </a:p>
        </p:txBody>
      </p:sp>
      <p:sp>
        <p:nvSpPr>
          <p:cNvPr id="15" name="Rounded Rectangle 14"/>
          <p:cNvSpPr/>
          <p:nvPr/>
        </p:nvSpPr>
        <p:spPr>
          <a:xfrm>
            <a:off x="502920" y="5705856"/>
            <a:ext cx="11183112" cy="457200"/>
          </a:xfrm>
          <a:prstGeom prst="roundRect">
            <a:avLst>
              <a:gd name="adj" fmla="val 8000"/>
            </a:avLst>
          </a:prstGeom>
          <a:solidFill>
            <a:srgbClr val="CD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779008"/>
            <a:ext cx="10789920" cy="320040"/>
          </a:xfrm>
          <a:prstGeom prst="rect">
            <a:avLst/>
          </a:prstGeom>
          <a:noFill/>
        </p:spPr>
        <p:txBody>
          <a:bodyPr wrap="square" lIns="0" rIns="0" tIns="0" bIns="0">
            <a:spAutoFit/>
          </a:bodyPr>
          <a:lstStyle/>
          <a:p>
            <a:pPr>
              <a:spcAft>
                <a:spcPts val="480"/>
              </a:spcAft>
              <a:defRPr sz="1600" b="1">
                <a:solidFill>
                  <a:srgbClr val="163244"/>
                </a:solidFill>
                <a:latin typeface="Liberation Sans"/>
              </a:defRPr>
            </a:pPr>
            <a:r>
              <a:t>Comenzar en 1D, verificar y extender a 2D/3D antes de integrar el caso real.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HIDRATACIÓN Y ACTIVACIÓN</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Cada vertida tiene su propio inicio térmico</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Ju y Lei (2019), fig. 10 · Guías G04–G05; E07–E09</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13</a:t>
            </a:r>
          </a:p>
        </p:txBody>
      </p:sp>
      <p:pic>
        <p:nvPicPr>
          <p:cNvPr id="8" name="Picture 7" descr="ju_adiabatico.png"/>
          <p:cNvPicPr>
            <a:picLocks noChangeAspect="1"/>
          </p:cNvPicPr>
          <p:nvPr/>
        </p:nvPicPr>
        <p:blipFill>
          <a:blip r:embed="rId2"/>
          <a:stretch>
            <a:fillRect/>
          </a:stretch>
        </p:blipFill>
        <p:spPr>
          <a:xfrm>
            <a:off x="1517169" y="1737360"/>
            <a:ext cx="3732220" cy="3337560"/>
          </a:xfrm>
          <a:prstGeom prst="rect">
            <a:avLst/>
          </a:prstGeom>
        </p:spPr>
      </p:pic>
      <p:pic>
        <p:nvPicPr>
          <p:cNvPr id="9" name="Picture 8" descr="hidratacion.png"/>
          <p:cNvPicPr>
            <a:picLocks noChangeAspect="1"/>
          </p:cNvPicPr>
          <p:nvPr/>
        </p:nvPicPr>
        <p:blipFill>
          <a:blip r:embed="rId3"/>
          <a:stretch>
            <a:fillRect/>
          </a:stretch>
        </p:blipFill>
        <p:spPr>
          <a:xfrm>
            <a:off x="2093975" y="5166360"/>
            <a:ext cx="2487168" cy="731520"/>
          </a:xfrm>
          <a:prstGeom prst="rect">
            <a:avLst/>
          </a:prstGeom>
        </p:spPr>
      </p:pic>
      <p:sp>
        <p:nvSpPr>
          <p:cNvPr id="10" name="TextBox 9"/>
          <p:cNvSpPr txBox="1"/>
          <p:nvPr/>
        </p:nvSpPr>
        <p:spPr>
          <a:xfrm>
            <a:off x="6492240" y="1920240"/>
            <a:ext cx="4846320" cy="502920"/>
          </a:xfrm>
          <a:prstGeom prst="rect">
            <a:avLst/>
          </a:prstGeom>
          <a:noFill/>
        </p:spPr>
        <p:txBody>
          <a:bodyPr wrap="square" lIns="0" rIns="0" tIns="0" bIns="0">
            <a:spAutoFit/>
          </a:bodyPr>
          <a:lstStyle/>
          <a:p>
            <a:pPr>
              <a:spcAft>
                <a:spcPts val="750"/>
              </a:spcAft>
              <a:defRPr sz="2500" b="1">
                <a:solidFill>
                  <a:srgbClr val="267F83"/>
                </a:solidFill>
                <a:latin typeface="Liberation Sans"/>
              </a:defRPr>
            </a:pPr>
            <a:r>
              <a:t>Antes del inicio</a:t>
            </a:r>
          </a:p>
        </p:txBody>
      </p:sp>
      <p:sp>
        <p:nvSpPr>
          <p:cNvPr id="11" name="TextBox 10"/>
          <p:cNvSpPr txBox="1"/>
          <p:nvPr/>
        </p:nvSpPr>
        <p:spPr>
          <a:xfrm>
            <a:off x="6492240" y="2560320"/>
            <a:ext cx="4846320" cy="822960"/>
          </a:xfrm>
          <a:prstGeom prst="rect">
            <a:avLst/>
          </a:prstGeom>
          <a:noFill/>
        </p:spPr>
        <p:txBody>
          <a:bodyPr wrap="square" lIns="0" rIns="0" tIns="0" bIns="0">
            <a:spAutoFit/>
          </a:bodyPr>
          <a:lstStyle/>
          <a:p>
            <a:pPr>
              <a:spcAft>
                <a:spcPts val="630"/>
              </a:spcAft>
              <a:defRPr sz="2100" b="0">
                <a:solidFill>
                  <a:srgbClr val="526572"/>
                </a:solidFill>
                <a:latin typeface="Liberation Sans"/>
              </a:defRPr>
            </a:pPr>
            <a:r>
              <a:t>La celda no participa como</a:t>
            </a:r>
          </a:p>
          <a:p>
            <a:pPr>
              <a:spcAft>
                <a:spcPts val="630"/>
              </a:spcAft>
              <a:defRPr sz="2100" b="0">
                <a:solidFill>
                  <a:srgbClr val="526572"/>
                </a:solidFill>
                <a:latin typeface="Liberation Sans"/>
              </a:defRPr>
            </a:pPr>
            <a:r>
              <a:t>hormigón activo.</a:t>
            </a:r>
          </a:p>
        </p:txBody>
      </p:sp>
      <p:sp>
        <p:nvSpPr>
          <p:cNvPr id="12" name="TextBox 11"/>
          <p:cNvSpPr txBox="1"/>
          <p:nvPr/>
        </p:nvSpPr>
        <p:spPr>
          <a:xfrm>
            <a:off x="6492240" y="3749039"/>
            <a:ext cx="4846320" cy="502920"/>
          </a:xfrm>
          <a:prstGeom prst="rect">
            <a:avLst/>
          </a:prstGeom>
          <a:noFill/>
        </p:spPr>
        <p:txBody>
          <a:bodyPr wrap="square" lIns="0" rIns="0" tIns="0" bIns="0">
            <a:spAutoFit/>
          </a:bodyPr>
          <a:lstStyle/>
          <a:p>
            <a:pPr>
              <a:spcAft>
                <a:spcPts val="750"/>
              </a:spcAft>
              <a:defRPr sz="2500" b="1">
                <a:solidFill>
                  <a:srgbClr val="DE633F"/>
                </a:solidFill>
                <a:latin typeface="Liberation Sans"/>
              </a:defRPr>
            </a:pPr>
            <a:r>
              <a:t>Al colocar la vertida</a:t>
            </a:r>
          </a:p>
        </p:txBody>
      </p:sp>
      <p:sp>
        <p:nvSpPr>
          <p:cNvPr id="13" name="TextBox 12"/>
          <p:cNvSpPr txBox="1"/>
          <p:nvPr/>
        </p:nvSpPr>
        <p:spPr>
          <a:xfrm>
            <a:off x="6492240" y="4434840"/>
            <a:ext cx="4846320" cy="1005840"/>
          </a:xfrm>
          <a:prstGeom prst="rect">
            <a:avLst/>
          </a:prstGeom>
          <a:noFill/>
        </p:spPr>
        <p:txBody>
          <a:bodyPr wrap="square" lIns="0" rIns="0" tIns="0" bIns="0">
            <a:spAutoFit/>
          </a:bodyPr>
          <a:lstStyle/>
          <a:p>
            <a:pPr>
              <a:spcAft>
                <a:spcPts val="630"/>
              </a:spcAft>
              <a:defRPr sz="2100" b="0">
                <a:solidFill>
                  <a:srgbClr val="526572"/>
                </a:solidFill>
                <a:latin typeface="Liberation Sans"/>
              </a:defRPr>
            </a:pPr>
            <a:r>
              <a:t>Asignar Tcolocación, iniciar su edad</a:t>
            </a:r>
          </a:p>
          <a:p>
            <a:pPr>
              <a:spcAft>
                <a:spcPts val="630"/>
              </a:spcAft>
              <a:defRPr sz="2100" b="0">
                <a:solidFill>
                  <a:srgbClr val="526572"/>
                </a:solidFill>
                <a:latin typeface="Liberation Sans"/>
              </a:defRPr>
            </a:pPr>
            <a:r>
              <a:t>y actualizar interfaces y superficies.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INTERACCIÓN CON EL ENTORNO</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Las condiciones de borde pueden dominar</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00_PROYECTO_GENERAL.md §6 · Guías G04–G05; E10</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14</a:t>
            </a:r>
          </a:p>
        </p:txBody>
      </p:sp>
      <p:sp>
        <p:nvSpPr>
          <p:cNvPr id="8" name="Rounded Rectangle 7"/>
          <p:cNvSpPr/>
          <p:nvPr/>
        </p:nvSpPr>
        <p:spPr>
          <a:xfrm>
            <a:off x="594360" y="1783080"/>
            <a:ext cx="3566160" cy="3337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50292" cy="3337560"/>
          </a:xfrm>
          <a:prstGeom prst="rect">
            <a:avLst/>
          </a:prstGeom>
          <a:solidFill>
            <a:srgbClr val="26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947672"/>
            <a:ext cx="3163824" cy="320040"/>
          </a:xfrm>
          <a:prstGeom prst="rect">
            <a:avLst/>
          </a:prstGeom>
          <a:noFill/>
        </p:spPr>
        <p:txBody>
          <a:bodyPr wrap="square" lIns="0" rIns="0" tIns="0" bIns="0">
            <a:spAutoFit/>
          </a:bodyPr>
          <a:lstStyle/>
          <a:p>
            <a:pPr>
              <a:spcAft>
                <a:spcPts val="359"/>
              </a:spcAft>
              <a:defRPr sz="1200" b="1">
                <a:solidFill>
                  <a:srgbClr val="267F83"/>
                </a:solidFill>
                <a:latin typeface="Liberation Sans"/>
              </a:defRPr>
            </a:pPr>
            <a:r>
              <a:t>AIRE</a:t>
            </a:r>
          </a:p>
        </p:txBody>
      </p:sp>
      <p:sp>
        <p:nvSpPr>
          <p:cNvPr id="11" name="TextBox 10"/>
          <p:cNvSpPr txBox="1"/>
          <p:nvPr/>
        </p:nvSpPr>
        <p:spPr>
          <a:xfrm>
            <a:off x="795528" y="2377440"/>
            <a:ext cx="3163824" cy="731520"/>
          </a:xfrm>
          <a:prstGeom prst="rect">
            <a:avLst/>
          </a:prstGeom>
          <a:noFill/>
        </p:spPr>
        <p:txBody>
          <a:bodyPr wrap="square" lIns="0" rIns="0" tIns="0" bIns="0">
            <a:spAutoFit/>
          </a:bodyPr>
          <a:lstStyle/>
          <a:p>
            <a:pPr>
              <a:spcAft>
                <a:spcPts val="719"/>
              </a:spcAft>
              <a:defRPr sz="2400" b="1">
                <a:solidFill>
                  <a:srgbClr val="163244"/>
                </a:solidFill>
                <a:latin typeface="Liberation Sans"/>
              </a:defRPr>
            </a:pPr>
            <a:r>
              <a:t>Convección</a:t>
            </a:r>
          </a:p>
        </p:txBody>
      </p:sp>
      <p:sp>
        <p:nvSpPr>
          <p:cNvPr id="12" name="TextBox 11"/>
          <p:cNvSpPr txBox="1"/>
          <p:nvPr/>
        </p:nvSpPr>
        <p:spPr>
          <a:xfrm>
            <a:off x="795528" y="3200400"/>
            <a:ext cx="3163824" cy="1783079"/>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Temperatura ambiente variable.</a:t>
            </a:r>
          </a:p>
          <a:p>
            <a:pPr>
              <a:spcAft>
                <a:spcPts val="540"/>
              </a:spcAft>
              <a:defRPr sz="1800" b="0">
                <a:solidFill>
                  <a:srgbClr val="526572"/>
                </a:solidFill>
                <a:latin typeface="Liberation Sans"/>
              </a:defRPr>
            </a:pPr>
          </a:p>
          <a:p>
            <a:pPr>
              <a:spcAft>
                <a:spcPts val="540"/>
              </a:spcAft>
              <a:defRPr sz="1800" b="0">
                <a:solidFill>
                  <a:srgbClr val="526572"/>
                </a:solidFill>
                <a:latin typeface="Liberation Sans"/>
              </a:defRPr>
            </a:pPr>
            <a:r>
              <a:t>Viento, si interviene en el modelo.</a:t>
            </a:r>
          </a:p>
        </p:txBody>
      </p:sp>
      <p:sp>
        <p:nvSpPr>
          <p:cNvPr id="13" name="Rounded Rectangle 12"/>
          <p:cNvSpPr/>
          <p:nvPr/>
        </p:nvSpPr>
        <p:spPr>
          <a:xfrm>
            <a:off x="4315968" y="1783080"/>
            <a:ext cx="3566160" cy="3337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783080"/>
            <a:ext cx="50292" cy="3337560"/>
          </a:xfrm>
          <a:prstGeom prst="rect">
            <a:avLst/>
          </a:prstGeom>
          <a:solidFill>
            <a:srgbClr val="26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1947672"/>
            <a:ext cx="3163824" cy="320040"/>
          </a:xfrm>
          <a:prstGeom prst="rect">
            <a:avLst/>
          </a:prstGeom>
          <a:noFill/>
        </p:spPr>
        <p:txBody>
          <a:bodyPr wrap="square" lIns="0" rIns="0" tIns="0" bIns="0">
            <a:spAutoFit/>
          </a:bodyPr>
          <a:lstStyle/>
          <a:p>
            <a:pPr>
              <a:spcAft>
                <a:spcPts val="359"/>
              </a:spcAft>
              <a:defRPr sz="1200" b="1">
                <a:solidFill>
                  <a:srgbClr val="267F83"/>
                </a:solidFill>
                <a:latin typeface="Liberation Sans"/>
              </a:defRPr>
            </a:pPr>
            <a:r>
              <a:t>PROTECCIONES</a:t>
            </a:r>
          </a:p>
        </p:txBody>
      </p:sp>
      <p:sp>
        <p:nvSpPr>
          <p:cNvPr id="16" name="TextBox 15"/>
          <p:cNvSpPr txBox="1"/>
          <p:nvPr/>
        </p:nvSpPr>
        <p:spPr>
          <a:xfrm>
            <a:off x="4517136" y="2377440"/>
            <a:ext cx="3163824" cy="731520"/>
          </a:xfrm>
          <a:prstGeom prst="rect">
            <a:avLst/>
          </a:prstGeom>
          <a:noFill/>
        </p:spPr>
        <p:txBody>
          <a:bodyPr wrap="square" lIns="0" rIns="0" tIns="0" bIns="0">
            <a:spAutoFit/>
          </a:bodyPr>
          <a:lstStyle/>
          <a:p>
            <a:pPr>
              <a:spcAft>
                <a:spcPts val="719"/>
              </a:spcAft>
              <a:defRPr sz="2400" b="1">
                <a:solidFill>
                  <a:srgbClr val="163244"/>
                </a:solidFill>
                <a:latin typeface="Liberation Sans"/>
              </a:defRPr>
            </a:pPr>
            <a:r>
              <a:t>Resistencia térmica</a:t>
            </a:r>
          </a:p>
        </p:txBody>
      </p:sp>
      <p:sp>
        <p:nvSpPr>
          <p:cNvPr id="17" name="TextBox 16"/>
          <p:cNvSpPr txBox="1"/>
          <p:nvPr/>
        </p:nvSpPr>
        <p:spPr>
          <a:xfrm>
            <a:off x="4517136" y="3200400"/>
            <a:ext cx="3163824" cy="1783079"/>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Moldaje y aislación.</a:t>
            </a:r>
          </a:p>
          <a:p>
            <a:pPr>
              <a:spcAft>
                <a:spcPts val="540"/>
              </a:spcAft>
              <a:defRPr sz="1800" b="0">
                <a:solidFill>
                  <a:srgbClr val="526572"/>
                </a:solidFill>
                <a:latin typeface="Liberation Sans"/>
              </a:defRPr>
            </a:pPr>
          </a:p>
          <a:p>
            <a:pPr>
              <a:spcAft>
                <a:spcPts val="540"/>
              </a:spcAft>
              <a:defRPr sz="1800" b="0">
                <a:solidFill>
                  <a:srgbClr val="526572"/>
                </a:solidFill>
                <a:latin typeface="Liberation Sans"/>
              </a:defRPr>
            </a:pPr>
            <a:r>
              <a:t>El retiro modifica la frontera.</a:t>
            </a:r>
          </a:p>
        </p:txBody>
      </p:sp>
      <p:sp>
        <p:nvSpPr>
          <p:cNvPr id="18" name="Rounded Rectangle 17"/>
          <p:cNvSpPr/>
          <p:nvPr/>
        </p:nvSpPr>
        <p:spPr>
          <a:xfrm>
            <a:off x="8037575" y="1783080"/>
            <a:ext cx="3566160" cy="3337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7575" y="1783080"/>
            <a:ext cx="50292" cy="3337560"/>
          </a:xfrm>
          <a:prstGeom prst="rect">
            <a:avLst/>
          </a:prstGeom>
          <a:solidFill>
            <a:srgbClr val="26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1947672"/>
            <a:ext cx="3163824" cy="320040"/>
          </a:xfrm>
          <a:prstGeom prst="rect">
            <a:avLst/>
          </a:prstGeom>
          <a:noFill/>
        </p:spPr>
        <p:txBody>
          <a:bodyPr wrap="square" lIns="0" rIns="0" tIns="0" bIns="0">
            <a:spAutoFit/>
          </a:bodyPr>
          <a:lstStyle/>
          <a:p>
            <a:pPr>
              <a:spcAft>
                <a:spcPts val="359"/>
              </a:spcAft>
              <a:defRPr sz="1200" b="1">
                <a:solidFill>
                  <a:srgbClr val="267F83"/>
                </a:solidFill>
                <a:latin typeface="Liberation Sans"/>
              </a:defRPr>
            </a:pPr>
            <a:r>
              <a:t>BASE</a:t>
            </a:r>
          </a:p>
        </p:txBody>
      </p:sp>
      <p:sp>
        <p:nvSpPr>
          <p:cNvPr id="21" name="TextBox 20"/>
          <p:cNvSpPr txBox="1"/>
          <p:nvPr/>
        </p:nvSpPr>
        <p:spPr>
          <a:xfrm>
            <a:off x="8238744" y="2377440"/>
            <a:ext cx="3163824" cy="731520"/>
          </a:xfrm>
          <a:prstGeom prst="rect">
            <a:avLst/>
          </a:prstGeom>
          <a:noFill/>
        </p:spPr>
        <p:txBody>
          <a:bodyPr wrap="square" lIns="0" rIns="0" tIns="0" bIns="0">
            <a:spAutoFit/>
          </a:bodyPr>
          <a:lstStyle/>
          <a:p>
            <a:pPr>
              <a:spcAft>
                <a:spcPts val="719"/>
              </a:spcAft>
              <a:defRPr sz="2400" b="1">
                <a:solidFill>
                  <a:srgbClr val="163244"/>
                </a:solidFill>
                <a:latin typeface="Liberation Sans"/>
              </a:defRPr>
            </a:pPr>
            <a:r>
              <a:t>Interacción con suelo</a:t>
            </a:r>
          </a:p>
        </p:txBody>
      </p:sp>
      <p:sp>
        <p:nvSpPr>
          <p:cNvPr id="22" name="TextBox 21"/>
          <p:cNvSpPr txBox="1"/>
          <p:nvPr/>
        </p:nvSpPr>
        <p:spPr>
          <a:xfrm>
            <a:off x="8238744" y="3200400"/>
            <a:ext cx="3163824" cy="1783079"/>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Material explícito o condición</a:t>
            </a:r>
          </a:p>
          <a:p>
            <a:pPr>
              <a:spcAft>
                <a:spcPts val="540"/>
              </a:spcAft>
              <a:defRPr sz="1800" b="0">
                <a:solidFill>
                  <a:srgbClr val="526572"/>
                </a:solidFill>
                <a:latin typeface="Liberation Sans"/>
              </a:defRPr>
            </a:pPr>
            <a:r>
              <a:t>efectiva justificada.</a:t>
            </a:r>
          </a:p>
          <a:p>
            <a:pPr>
              <a:spcAft>
                <a:spcPts val="540"/>
              </a:spcAft>
              <a:defRPr sz="1800" b="0">
                <a:solidFill>
                  <a:srgbClr val="526572"/>
                </a:solidFill>
                <a:latin typeface="Liberation Sans"/>
              </a:defRPr>
            </a:pPr>
          </a:p>
          <a:p>
            <a:pPr>
              <a:spcAft>
                <a:spcPts val="540"/>
              </a:spcAft>
              <a:defRPr sz="1800" b="0">
                <a:solidFill>
                  <a:srgbClr val="526572"/>
                </a:solidFill>
                <a:latin typeface="Liberation Sans"/>
              </a:defRPr>
            </a:pPr>
            <a:r>
              <a:t>Revisar flujo y signos.</a:t>
            </a:r>
          </a:p>
        </p:txBody>
      </p:sp>
      <p:pic>
        <p:nvPicPr>
          <p:cNvPr id="23" name="Picture 22" descr="robin.png"/>
          <p:cNvPicPr>
            <a:picLocks noChangeAspect="1"/>
          </p:cNvPicPr>
          <p:nvPr/>
        </p:nvPicPr>
        <p:blipFill>
          <a:blip r:embed="rId2"/>
          <a:stretch>
            <a:fillRect/>
          </a:stretch>
        </p:blipFill>
        <p:spPr>
          <a:xfrm>
            <a:off x="1338761" y="5285232"/>
            <a:ext cx="4180476" cy="713232"/>
          </a:xfrm>
          <a:prstGeom prst="rect">
            <a:avLst/>
          </a:prstGeom>
        </p:spPr>
      </p:pic>
      <p:sp>
        <p:nvSpPr>
          <p:cNvPr id="24" name="TextBox 23"/>
          <p:cNvSpPr txBox="1"/>
          <p:nvPr/>
        </p:nvSpPr>
        <p:spPr>
          <a:xfrm>
            <a:off x="6492240" y="5440680"/>
            <a:ext cx="4937760" cy="685800"/>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Radiación solar y onda larga: incluir</a:t>
            </a:r>
          </a:p>
          <a:p>
            <a:pPr>
              <a:spcAft>
                <a:spcPts val="540"/>
              </a:spcAft>
              <a:defRPr sz="1800" b="0">
                <a:solidFill>
                  <a:srgbClr val="526572"/>
                </a:solidFill>
                <a:latin typeface="Liberation Sans"/>
              </a:defRPr>
            </a:pPr>
            <a:r>
              <a:t>si son relevantes y están bien formuladas.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VERIFICACIÓN</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Primero demostrar que el programa resuelve bien</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Guía G05 · Entregas E03, E05 y E06</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15</a:t>
            </a:r>
          </a:p>
        </p:txBody>
      </p:sp>
      <p:pic>
        <p:nvPicPr>
          <p:cNvPr id="8" name="Picture 7" descr="exacta.png"/>
          <p:cNvPicPr>
            <a:picLocks noChangeAspect="1"/>
          </p:cNvPicPr>
          <p:nvPr/>
        </p:nvPicPr>
        <p:blipFill>
          <a:blip r:embed="rId2"/>
          <a:stretch>
            <a:fillRect/>
          </a:stretch>
        </p:blipFill>
        <p:spPr>
          <a:xfrm>
            <a:off x="1629591" y="1709928"/>
            <a:ext cx="8902337" cy="960120"/>
          </a:xfrm>
          <a:prstGeom prst="rect">
            <a:avLst/>
          </a:prstGeom>
        </p:spPr>
      </p:pic>
      <p:sp>
        <p:nvSpPr>
          <p:cNvPr id="9" name="Rectangle 8"/>
          <p:cNvSpPr/>
          <p:nvPr/>
        </p:nvSpPr>
        <p:spPr>
          <a:xfrm>
            <a:off x="731520" y="2852928"/>
            <a:ext cx="10698480" cy="475488"/>
          </a:xfrm>
          <a:prstGeom prst="rect">
            <a:avLst/>
          </a:prstGeom>
          <a:solidFill>
            <a:srgbClr val="16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2962656"/>
            <a:ext cx="4745736" cy="310896"/>
          </a:xfrm>
          <a:prstGeom prst="rect">
            <a:avLst/>
          </a:prstGeom>
          <a:noFill/>
        </p:spPr>
        <p:txBody>
          <a:bodyPr wrap="square" lIns="0" rIns="0" tIns="0" bIns="0">
            <a:spAutoFit/>
          </a:bodyPr>
          <a:lstStyle/>
          <a:p>
            <a:pPr>
              <a:spcAft>
                <a:spcPts val="570"/>
              </a:spcAft>
              <a:defRPr sz="1900" b="1">
                <a:solidFill>
                  <a:srgbClr val="FFFFFF"/>
                </a:solidFill>
                <a:latin typeface="Liberation Sans"/>
              </a:defRPr>
            </a:pPr>
            <a:r>
              <a:t>Prueba</a:t>
            </a:r>
          </a:p>
        </p:txBody>
      </p:sp>
      <p:sp>
        <p:nvSpPr>
          <p:cNvPr id="11" name="TextBox 10"/>
          <p:cNvSpPr txBox="1"/>
          <p:nvPr/>
        </p:nvSpPr>
        <p:spPr>
          <a:xfrm>
            <a:off x="5833872" y="2962656"/>
            <a:ext cx="5477256" cy="310896"/>
          </a:xfrm>
          <a:prstGeom prst="rect">
            <a:avLst/>
          </a:prstGeom>
          <a:noFill/>
        </p:spPr>
        <p:txBody>
          <a:bodyPr wrap="square" lIns="0" rIns="0" tIns="0" bIns="0">
            <a:spAutoFit/>
          </a:bodyPr>
          <a:lstStyle/>
          <a:p>
            <a:pPr>
              <a:spcAft>
                <a:spcPts val="570"/>
              </a:spcAft>
              <a:defRPr sz="1900" b="1">
                <a:solidFill>
                  <a:srgbClr val="FFFFFF"/>
                </a:solidFill>
                <a:latin typeface="Liberation Sans"/>
              </a:defRPr>
            </a:pPr>
            <a:r>
              <a:t>Evidencia esperada</a:t>
            </a:r>
          </a:p>
        </p:txBody>
      </p:sp>
      <p:sp>
        <p:nvSpPr>
          <p:cNvPr id="12" name="Rectangle 11"/>
          <p:cNvSpPr/>
          <p:nvPr/>
        </p:nvSpPr>
        <p:spPr>
          <a:xfrm>
            <a:off x="731520" y="3328416"/>
            <a:ext cx="1069848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438144"/>
            <a:ext cx="4745736" cy="292607"/>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Solución exacta 1D / 2D / 3D</a:t>
            </a:r>
          </a:p>
        </p:txBody>
      </p:sp>
      <p:sp>
        <p:nvSpPr>
          <p:cNvPr id="14" name="TextBox 13"/>
          <p:cNvSpPr txBox="1"/>
          <p:nvPr/>
        </p:nvSpPr>
        <p:spPr>
          <a:xfrm>
            <a:off x="5833872" y="3438144"/>
            <a:ext cx="5477256" cy="292607"/>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Error cuantificado y convergencia</a:t>
            </a:r>
          </a:p>
        </p:txBody>
      </p:sp>
      <p:sp>
        <p:nvSpPr>
          <p:cNvPr id="15" name="Rectangle 14"/>
          <p:cNvSpPr/>
          <p:nvPr/>
        </p:nvSpPr>
        <p:spPr>
          <a:xfrm>
            <a:off x="731520" y="3767328"/>
            <a:ext cx="10698480" cy="438912"/>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877056"/>
            <a:ext cx="4745736" cy="292607"/>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Dominio adiabático sin fuente</a:t>
            </a:r>
          </a:p>
        </p:txBody>
      </p:sp>
      <p:sp>
        <p:nvSpPr>
          <p:cNvPr id="17" name="TextBox 16"/>
          <p:cNvSpPr txBox="1"/>
          <p:nvPr/>
        </p:nvSpPr>
        <p:spPr>
          <a:xfrm>
            <a:off x="5833872" y="3877056"/>
            <a:ext cx="5477256" cy="292607"/>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Conservación de energía</a:t>
            </a:r>
          </a:p>
        </p:txBody>
      </p:sp>
      <p:sp>
        <p:nvSpPr>
          <p:cNvPr id="18" name="Rectangle 17"/>
          <p:cNvSpPr/>
          <p:nvPr/>
        </p:nvSpPr>
        <p:spPr>
          <a:xfrm>
            <a:off x="731520" y="4206240"/>
            <a:ext cx="1069848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315968"/>
            <a:ext cx="4745736" cy="292607"/>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Fuente uniforme adiabática</a:t>
            </a:r>
          </a:p>
        </p:txBody>
      </p:sp>
      <p:sp>
        <p:nvSpPr>
          <p:cNvPr id="20" name="TextBox 19"/>
          <p:cNvSpPr txBox="1"/>
          <p:nvPr/>
        </p:nvSpPr>
        <p:spPr>
          <a:xfrm>
            <a:off x="5833872" y="4315968"/>
            <a:ext cx="5477256" cy="292607"/>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Aumento lineal esperado de T</a:t>
            </a:r>
          </a:p>
        </p:txBody>
      </p:sp>
      <p:sp>
        <p:nvSpPr>
          <p:cNvPr id="21" name="Rectangle 20"/>
          <p:cNvSpPr/>
          <p:nvPr/>
        </p:nvSpPr>
        <p:spPr>
          <a:xfrm>
            <a:off x="731520" y="4645152"/>
            <a:ext cx="10698480" cy="438912"/>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754880"/>
            <a:ext cx="4745736" cy="292607"/>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Neumann / Robin</a:t>
            </a:r>
          </a:p>
        </p:txBody>
      </p:sp>
      <p:sp>
        <p:nvSpPr>
          <p:cNvPr id="23" name="TextBox 22"/>
          <p:cNvSpPr txBox="1"/>
          <p:nvPr/>
        </p:nvSpPr>
        <p:spPr>
          <a:xfrm>
            <a:off x="5833872" y="4754880"/>
            <a:ext cx="5477256" cy="292607"/>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Flujos y respuesta de la frontera</a:t>
            </a:r>
          </a:p>
        </p:txBody>
      </p:sp>
      <p:sp>
        <p:nvSpPr>
          <p:cNvPr id="24" name="Rectangle 23"/>
          <p:cNvSpPr/>
          <p:nvPr/>
        </p:nvSpPr>
        <p:spPr>
          <a:xfrm>
            <a:off x="731520" y="5084064"/>
            <a:ext cx="1069848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0392" y="5193792"/>
            <a:ext cx="4745736" cy="292607"/>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Refinamiento espacial y temporal</a:t>
            </a:r>
          </a:p>
        </p:txBody>
      </p:sp>
      <p:sp>
        <p:nvSpPr>
          <p:cNvPr id="26" name="TextBox 25"/>
          <p:cNvSpPr txBox="1"/>
          <p:nvPr/>
        </p:nvSpPr>
        <p:spPr>
          <a:xfrm>
            <a:off x="5833872" y="5193792"/>
            <a:ext cx="5477256" cy="292607"/>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Sensibilidad de las métricas</a:t>
            </a:r>
          </a:p>
        </p:txBody>
      </p:sp>
      <p:sp>
        <p:nvSpPr>
          <p:cNvPr id="27" name="Rounded Rectangle 26"/>
          <p:cNvSpPr/>
          <p:nvPr/>
        </p:nvSpPr>
        <p:spPr>
          <a:xfrm>
            <a:off x="502920" y="5705856"/>
            <a:ext cx="11183112" cy="457200"/>
          </a:xfrm>
          <a:prstGeom prst="roundRect">
            <a:avLst>
              <a:gd name="adj" fmla="val 8000"/>
            </a:avLst>
          </a:prstGeom>
          <a:solidFill>
            <a:srgbClr val="CD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5779008"/>
            <a:ext cx="10789920" cy="320040"/>
          </a:xfrm>
          <a:prstGeom prst="rect">
            <a:avLst/>
          </a:prstGeom>
          <a:noFill/>
        </p:spPr>
        <p:txBody>
          <a:bodyPr wrap="square" lIns="0" rIns="0" tIns="0" bIns="0">
            <a:spAutoFit/>
          </a:bodyPr>
          <a:lstStyle/>
          <a:p>
            <a:pPr>
              <a:spcAft>
                <a:spcPts val="480"/>
              </a:spcAft>
              <a:defRPr sz="1600" b="1">
                <a:solidFill>
                  <a:srgbClr val="163244"/>
                </a:solidFill>
                <a:latin typeface="Liberation Sans"/>
              </a:defRPr>
            </a:pPr>
            <a:r>
              <a:t>Una imagen convincente no reemplaza un estudio de error.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DATOS METEOROLÓGICOS</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El clima entra al modelo con fecha y procedencia</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Guía G07 · Open-Meteo, documentación oficial</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16</a:t>
            </a:r>
          </a:p>
        </p:txBody>
      </p:sp>
      <p:sp>
        <p:nvSpPr>
          <p:cNvPr id="8" name="TextBox 7"/>
          <p:cNvSpPr txBox="1"/>
          <p:nvPr/>
        </p:nvSpPr>
        <p:spPr>
          <a:xfrm>
            <a:off x="640080" y="1828800"/>
            <a:ext cx="3383280" cy="685800"/>
          </a:xfrm>
          <a:prstGeom prst="rect">
            <a:avLst/>
          </a:prstGeom>
          <a:noFill/>
        </p:spPr>
        <p:txBody>
          <a:bodyPr wrap="square" lIns="0" rIns="0" tIns="0" bIns="0">
            <a:spAutoFit/>
          </a:bodyPr>
          <a:lstStyle/>
          <a:p>
            <a:pPr>
              <a:spcAft>
                <a:spcPts val="600"/>
              </a:spcAft>
              <a:defRPr sz="2000" b="1">
                <a:solidFill>
                  <a:srgbClr val="267F83"/>
                </a:solidFill>
                <a:latin typeface="Liberation Sans"/>
              </a:defRPr>
            </a:pPr>
            <a:r>
              <a:t>OBSERVACIÓN / HISTÓRICO</a:t>
            </a:r>
          </a:p>
        </p:txBody>
      </p:sp>
      <p:sp>
        <p:nvSpPr>
          <p:cNvPr id="9" name="TextBox 8"/>
          <p:cNvSpPr txBox="1"/>
          <p:nvPr/>
        </p:nvSpPr>
        <p:spPr>
          <a:xfrm>
            <a:off x="640080" y="2743200"/>
            <a:ext cx="3383280" cy="1005840"/>
          </a:xfrm>
          <a:prstGeom prst="rect">
            <a:avLst/>
          </a:prstGeom>
          <a:noFill/>
        </p:spPr>
        <p:txBody>
          <a:bodyPr wrap="square" lIns="0" rIns="0" tIns="0" bIns="0">
            <a:spAutoFit/>
          </a:bodyPr>
          <a:lstStyle/>
          <a:p>
            <a:pPr>
              <a:spcAft>
                <a:spcPts val="690"/>
              </a:spcAft>
              <a:defRPr sz="2300" b="0">
                <a:solidFill>
                  <a:srgbClr val="163244"/>
                </a:solidFill>
                <a:latin typeface="Liberation Sans"/>
              </a:defRPr>
            </a:pPr>
            <a:r>
              <a:t>Caracterizar el sitio</a:t>
            </a:r>
          </a:p>
          <a:p>
            <a:pPr>
              <a:spcAft>
                <a:spcPts val="690"/>
              </a:spcAft>
              <a:defRPr sz="2300" b="0">
                <a:solidFill>
                  <a:srgbClr val="163244"/>
                </a:solidFill>
                <a:latin typeface="Liberation Sans"/>
              </a:defRPr>
            </a:pPr>
            <a:r>
              <a:t>y contrastar datos.</a:t>
            </a:r>
          </a:p>
        </p:txBody>
      </p:sp>
      <p:sp>
        <p:nvSpPr>
          <p:cNvPr id="10" name="TextBox 9"/>
          <p:cNvSpPr txBox="1"/>
          <p:nvPr/>
        </p:nvSpPr>
        <p:spPr>
          <a:xfrm>
            <a:off x="4389120" y="1828800"/>
            <a:ext cx="3383280" cy="685800"/>
          </a:xfrm>
          <a:prstGeom prst="rect">
            <a:avLst/>
          </a:prstGeom>
          <a:noFill/>
        </p:spPr>
        <p:txBody>
          <a:bodyPr wrap="square" lIns="0" rIns="0" tIns="0" bIns="0">
            <a:spAutoFit/>
          </a:bodyPr>
          <a:lstStyle/>
          <a:p>
            <a:pPr>
              <a:spcAft>
                <a:spcPts val="600"/>
              </a:spcAft>
              <a:defRPr sz="2000" b="1">
                <a:solidFill>
                  <a:srgbClr val="267F83"/>
                </a:solidFill>
                <a:latin typeface="Liberation Sans"/>
              </a:defRPr>
            </a:pPr>
            <a:r>
              <a:t>PRONÓSTICO</a:t>
            </a:r>
          </a:p>
        </p:txBody>
      </p:sp>
      <p:sp>
        <p:nvSpPr>
          <p:cNvPr id="11" name="TextBox 10"/>
          <p:cNvSpPr txBox="1"/>
          <p:nvPr/>
        </p:nvSpPr>
        <p:spPr>
          <a:xfrm>
            <a:off x="4389120" y="2743200"/>
            <a:ext cx="3383280" cy="1005840"/>
          </a:xfrm>
          <a:prstGeom prst="rect">
            <a:avLst/>
          </a:prstGeom>
          <a:noFill/>
        </p:spPr>
        <p:txBody>
          <a:bodyPr wrap="square" lIns="0" rIns="0" tIns="0" bIns="0">
            <a:spAutoFit/>
          </a:bodyPr>
          <a:lstStyle/>
          <a:p>
            <a:pPr>
              <a:spcAft>
                <a:spcPts val="690"/>
              </a:spcAft>
              <a:defRPr sz="2300" b="0">
                <a:solidFill>
                  <a:srgbClr val="163244"/>
                </a:solidFill>
                <a:latin typeface="Liberation Sans"/>
              </a:defRPr>
            </a:pPr>
            <a:r>
              <a:t>Condiciones futuras</a:t>
            </a:r>
          </a:p>
          <a:p>
            <a:pPr>
              <a:spcAft>
                <a:spcPts val="690"/>
              </a:spcAft>
              <a:defRPr sz="2300" b="0">
                <a:solidFill>
                  <a:srgbClr val="163244"/>
                </a:solidFill>
                <a:latin typeface="Liberation Sans"/>
              </a:defRPr>
            </a:pPr>
            <a:r>
              <a:t>disponibles al decidir.</a:t>
            </a:r>
          </a:p>
        </p:txBody>
      </p:sp>
      <p:sp>
        <p:nvSpPr>
          <p:cNvPr id="12" name="TextBox 11"/>
          <p:cNvSpPr txBox="1"/>
          <p:nvPr/>
        </p:nvSpPr>
        <p:spPr>
          <a:xfrm>
            <a:off x="8138160" y="1828800"/>
            <a:ext cx="3383280" cy="685800"/>
          </a:xfrm>
          <a:prstGeom prst="rect">
            <a:avLst/>
          </a:prstGeom>
          <a:noFill/>
        </p:spPr>
        <p:txBody>
          <a:bodyPr wrap="square" lIns="0" rIns="0" tIns="0" bIns="0">
            <a:spAutoFit/>
          </a:bodyPr>
          <a:lstStyle/>
          <a:p>
            <a:pPr>
              <a:spcAft>
                <a:spcPts val="600"/>
              </a:spcAft>
              <a:defRPr sz="2000" b="1">
                <a:solidFill>
                  <a:srgbClr val="267F83"/>
                </a:solidFill>
                <a:latin typeface="Liberation Sans"/>
              </a:defRPr>
            </a:pPr>
            <a:r>
              <a:t>ENSEMBLE</a:t>
            </a:r>
          </a:p>
        </p:txBody>
      </p:sp>
      <p:sp>
        <p:nvSpPr>
          <p:cNvPr id="13" name="TextBox 12"/>
          <p:cNvSpPr txBox="1"/>
          <p:nvPr/>
        </p:nvSpPr>
        <p:spPr>
          <a:xfrm>
            <a:off x="8138160" y="2743200"/>
            <a:ext cx="3383280" cy="1005840"/>
          </a:xfrm>
          <a:prstGeom prst="rect">
            <a:avLst/>
          </a:prstGeom>
          <a:noFill/>
        </p:spPr>
        <p:txBody>
          <a:bodyPr wrap="square" lIns="0" rIns="0" tIns="0" bIns="0">
            <a:spAutoFit/>
          </a:bodyPr>
          <a:lstStyle/>
          <a:p>
            <a:pPr>
              <a:spcAft>
                <a:spcPts val="690"/>
              </a:spcAft>
              <a:defRPr sz="2300" b="0">
                <a:solidFill>
                  <a:srgbClr val="163244"/>
                </a:solidFill>
                <a:latin typeface="Liberation Sans"/>
              </a:defRPr>
            </a:pPr>
            <a:r>
              <a:t>Escenarios coherentes</a:t>
            </a:r>
          </a:p>
          <a:p>
            <a:pPr>
              <a:spcAft>
                <a:spcPts val="690"/>
              </a:spcAft>
              <a:defRPr sz="2300" b="0">
                <a:solidFill>
                  <a:srgbClr val="163244"/>
                </a:solidFill>
                <a:latin typeface="Liberation Sans"/>
              </a:defRPr>
            </a:pPr>
            <a:r>
              <a:t>de incertidumbre climática.</a:t>
            </a:r>
          </a:p>
        </p:txBody>
      </p:sp>
      <p:sp>
        <p:nvSpPr>
          <p:cNvPr id="14" name="Rounded Rectangle 13"/>
          <p:cNvSpPr/>
          <p:nvPr/>
        </p:nvSpPr>
        <p:spPr>
          <a:xfrm>
            <a:off x="640080" y="4114800"/>
            <a:ext cx="10927080" cy="1097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315968"/>
            <a:ext cx="3291840" cy="365760"/>
          </a:xfrm>
          <a:prstGeom prst="rect">
            <a:avLst/>
          </a:prstGeom>
          <a:noFill/>
        </p:spPr>
        <p:txBody>
          <a:bodyPr wrap="square" lIns="0" rIns="0" tIns="0" bIns="0">
            <a:spAutoFit/>
          </a:bodyPr>
          <a:lstStyle/>
          <a:p>
            <a:pPr>
              <a:spcAft>
                <a:spcPts val="600"/>
              </a:spcAft>
              <a:defRPr sz="2000" b="1">
                <a:solidFill>
                  <a:srgbClr val="DE633F"/>
                </a:solidFill>
                <a:latin typeface="Liberation Sans"/>
              </a:defRPr>
            </a:pPr>
            <a:r>
              <a:t>Cada descarga conserva</a:t>
            </a:r>
          </a:p>
        </p:txBody>
      </p:sp>
      <p:sp>
        <p:nvSpPr>
          <p:cNvPr id="16" name="TextBox 15"/>
          <p:cNvSpPr txBox="1"/>
          <p:nvPr/>
        </p:nvSpPr>
        <p:spPr>
          <a:xfrm>
            <a:off x="4023360" y="4315968"/>
            <a:ext cx="7132320" cy="594360"/>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fuente · modelo · timestamp · coordenadas · unidades · horizonte</a:t>
            </a:r>
          </a:p>
        </p:txBody>
      </p:sp>
      <p:sp>
        <p:nvSpPr>
          <p:cNvPr id="17" name="Rounded Rectangle 16"/>
          <p:cNvSpPr/>
          <p:nvPr/>
        </p:nvSpPr>
        <p:spPr>
          <a:xfrm>
            <a:off x="502920" y="5705856"/>
            <a:ext cx="11183112" cy="457200"/>
          </a:xfrm>
          <a:prstGeom prst="roundRect">
            <a:avLst>
              <a:gd name="adj" fmla="val 8000"/>
            </a:avLst>
          </a:prstGeom>
          <a:solidFill>
            <a:srgbClr val="CD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5779008"/>
            <a:ext cx="10789920" cy="320040"/>
          </a:xfrm>
          <a:prstGeom prst="rect">
            <a:avLst/>
          </a:prstGeom>
          <a:noFill/>
        </p:spPr>
        <p:txBody>
          <a:bodyPr wrap="square" lIns="0" rIns="0" tIns="0" bIns="0">
            <a:spAutoFit/>
          </a:bodyPr>
          <a:lstStyle/>
          <a:p>
            <a:pPr>
              <a:spcAft>
                <a:spcPts val="480"/>
              </a:spcAft>
              <a:defRPr sz="1600" b="1">
                <a:solidFill>
                  <a:srgbClr val="163244"/>
                </a:solidFill>
                <a:latin typeface="Liberation Sans"/>
              </a:defRPr>
            </a:pPr>
            <a:r>
              <a:t>Guardar snapshots; completar y justificar la parte de los 14 días aún no cubierta.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INCERTIDUMBRE Y CONFIABILIDAD</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Pasar de un resultado a una probabilidad</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00_PROYECTO_GENERAL.md §10 · E13–E15</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17</a:t>
            </a:r>
          </a:p>
        </p:txBody>
      </p:sp>
      <p:sp>
        <p:nvSpPr>
          <p:cNvPr id="8" name="TextBox 7"/>
          <p:cNvSpPr txBox="1"/>
          <p:nvPr/>
        </p:nvSpPr>
        <p:spPr>
          <a:xfrm>
            <a:off x="685800" y="1828800"/>
            <a:ext cx="3291840" cy="457200"/>
          </a:xfrm>
          <a:prstGeom prst="rect">
            <a:avLst/>
          </a:prstGeom>
          <a:noFill/>
        </p:spPr>
        <p:txBody>
          <a:bodyPr wrap="square" lIns="0" rIns="0" tIns="0" bIns="0">
            <a:spAutoFit/>
          </a:bodyPr>
          <a:lstStyle/>
          <a:p>
            <a:pPr>
              <a:spcAft>
                <a:spcPts val="780"/>
              </a:spcAft>
              <a:defRPr sz="2600" b="1">
                <a:solidFill>
                  <a:srgbClr val="267F83"/>
                </a:solidFill>
                <a:latin typeface="Liberation Sans"/>
              </a:defRPr>
            </a:pPr>
            <a:r>
              <a:t>Material</a:t>
            </a:r>
          </a:p>
        </p:txBody>
      </p:sp>
      <p:sp>
        <p:nvSpPr>
          <p:cNvPr id="9" name="TextBox 8"/>
          <p:cNvSpPr txBox="1"/>
          <p:nvPr/>
        </p:nvSpPr>
        <p:spPr>
          <a:xfrm>
            <a:off x="685800" y="2560320"/>
            <a:ext cx="3383280" cy="868680"/>
          </a:xfrm>
          <a:prstGeom prst="rect">
            <a:avLst/>
          </a:prstGeom>
          <a:noFill/>
        </p:spPr>
        <p:txBody>
          <a:bodyPr wrap="square" lIns="0" rIns="0" tIns="0" bIns="0">
            <a:spAutoFit/>
          </a:bodyPr>
          <a:lstStyle/>
          <a:p>
            <a:pPr>
              <a:spcAft>
                <a:spcPts val="600"/>
              </a:spcAft>
              <a:defRPr sz="2000" b="0">
                <a:solidFill>
                  <a:srgbClr val="526572"/>
                </a:solidFill>
                <a:latin typeface="Liberation Sans"/>
              </a:defRPr>
            </a:pPr>
            <a:r>
              <a:t>Propiedades térmicas</a:t>
            </a:r>
          </a:p>
          <a:p>
            <a:pPr>
              <a:spcAft>
                <a:spcPts val="600"/>
              </a:spcAft>
              <a:defRPr sz="2000" b="0">
                <a:solidFill>
                  <a:srgbClr val="526572"/>
                </a:solidFill>
                <a:latin typeface="Liberation Sans"/>
              </a:defRPr>
            </a:pPr>
            <a:r>
              <a:t>y calor de hidratación.</a:t>
            </a:r>
          </a:p>
        </p:txBody>
      </p:sp>
      <p:sp>
        <p:nvSpPr>
          <p:cNvPr id="10" name="TextBox 9"/>
          <p:cNvSpPr txBox="1"/>
          <p:nvPr/>
        </p:nvSpPr>
        <p:spPr>
          <a:xfrm>
            <a:off x="4434840" y="1828800"/>
            <a:ext cx="3291840" cy="457200"/>
          </a:xfrm>
          <a:prstGeom prst="rect">
            <a:avLst/>
          </a:prstGeom>
          <a:noFill/>
        </p:spPr>
        <p:txBody>
          <a:bodyPr wrap="square" lIns="0" rIns="0" tIns="0" bIns="0">
            <a:spAutoFit/>
          </a:bodyPr>
          <a:lstStyle/>
          <a:p>
            <a:pPr>
              <a:spcAft>
                <a:spcPts val="780"/>
              </a:spcAft>
              <a:defRPr sz="2600" b="1">
                <a:solidFill>
                  <a:srgbClr val="267F83"/>
                </a:solidFill>
                <a:latin typeface="Liberation Sans"/>
              </a:defRPr>
            </a:pPr>
            <a:r>
              <a:t>Ejecución</a:t>
            </a:r>
          </a:p>
        </p:txBody>
      </p:sp>
      <p:sp>
        <p:nvSpPr>
          <p:cNvPr id="11" name="TextBox 10"/>
          <p:cNvSpPr txBox="1"/>
          <p:nvPr/>
        </p:nvSpPr>
        <p:spPr>
          <a:xfrm>
            <a:off x="4434840" y="2560320"/>
            <a:ext cx="3383280" cy="868680"/>
          </a:xfrm>
          <a:prstGeom prst="rect">
            <a:avLst/>
          </a:prstGeom>
          <a:noFill/>
        </p:spPr>
        <p:txBody>
          <a:bodyPr wrap="square" lIns="0" rIns="0" tIns="0" bIns="0">
            <a:spAutoFit/>
          </a:bodyPr>
          <a:lstStyle/>
          <a:p>
            <a:pPr>
              <a:spcAft>
                <a:spcPts val="600"/>
              </a:spcAft>
              <a:defRPr sz="2000" b="0">
                <a:solidFill>
                  <a:srgbClr val="526572"/>
                </a:solidFill>
                <a:latin typeface="Liberation Sans"/>
              </a:defRPr>
            </a:pPr>
            <a:r>
              <a:t>Temperatura inicial,</a:t>
            </a:r>
          </a:p>
          <a:p>
            <a:pPr>
              <a:spcAft>
                <a:spcPts val="600"/>
              </a:spcAft>
              <a:defRPr sz="2000" b="0">
                <a:solidFill>
                  <a:srgbClr val="526572"/>
                </a:solidFill>
                <a:latin typeface="Liberation Sans"/>
              </a:defRPr>
            </a:pPr>
            <a:r>
              <a:t>horarios e intervalos.</a:t>
            </a:r>
          </a:p>
        </p:txBody>
      </p:sp>
      <p:sp>
        <p:nvSpPr>
          <p:cNvPr id="12" name="TextBox 11"/>
          <p:cNvSpPr txBox="1"/>
          <p:nvPr/>
        </p:nvSpPr>
        <p:spPr>
          <a:xfrm>
            <a:off x="8183879" y="1828800"/>
            <a:ext cx="3291840" cy="457200"/>
          </a:xfrm>
          <a:prstGeom prst="rect">
            <a:avLst/>
          </a:prstGeom>
          <a:noFill/>
        </p:spPr>
        <p:txBody>
          <a:bodyPr wrap="square" lIns="0" rIns="0" tIns="0" bIns="0">
            <a:spAutoFit/>
          </a:bodyPr>
          <a:lstStyle/>
          <a:p>
            <a:pPr>
              <a:spcAft>
                <a:spcPts val="780"/>
              </a:spcAft>
              <a:defRPr sz="2600" b="1">
                <a:solidFill>
                  <a:srgbClr val="267F83"/>
                </a:solidFill>
                <a:latin typeface="Liberation Sans"/>
              </a:defRPr>
            </a:pPr>
            <a:r>
              <a:t>Clima</a:t>
            </a:r>
          </a:p>
        </p:txBody>
      </p:sp>
      <p:sp>
        <p:nvSpPr>
          <p:cNvPr id="13" name="TextBox 12"/>
          <p:cNvSpPr txBox="1"/>
          <p:nvPr/>
        </p:nvSpPr>
        <p:spPr>
          <a:xfrm>
            <a:off x="8183879" y="2560320"/>
            <a:ext cx="3383280" cy="868680"/>
          </a:xfrm>
          <a:prstGeom prst="rect">
            <a:avLst/>
          </a:prstGeom>
          <a:noFill/>
        </p:spPr>
        <p:txBody>
          <a:bodyPr wrap="square" lIns="0" rIns="0" tIns="0" bIns="0">
            <a:spAutoFit/>
          </a:bodyPr>
          <a:lstStyle/>
          <a:p>
            <a:pPr>
              <a:spcAft>
                <a:spcPts val="600"/>
              </a:spcAft>
              <a:defRPr sz="2000" b="0">
                <a:solidFill>
                  <a:srgbClr val="526572"/>
                </a:solidFill>
                <a:latin typeface="Liberation Sans"/>
              </a:defRPr>
            </a:pPr>
            <a:r>
              <a:t>Escenarios meteorológicos</a:t>
            </a:r>
          </a:p>
          <a:p>
            <a:pPr>
              <a:spcAft>
                <a:spcPts val="600"/>
              </a:spcAft>
              <a:defRPr sz="2000" b="0">
                <a:solidFill>
                  <a:srgbClr val="526572"/>
                </a:solidFill>
                <a:latin typeface="Liberation Sans"/>
              </a:defRPr>
            </a:pPr>
            <a:r>
              <a:t>y evolución del forecast.</a:t>
            </a:r>
          </a:p>
        </p:txBody>
      </p:sp>
      <p:sp>
        <p:nvSpPr>
          <p:cNvPr id="14" name="Rounded Rectangle 13"/>
          <p:cNvSpPr/>
          <p:nvPr/>
        </p:nvSpPr>
        <p:spPr>
          <a:xfrm>
            <a:off x="685800" y="3749039"/>
            <a:ext cx="1083564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059936"/>
            <a:ext cx="4572000" cy="548640"/>
          </a:xfrm>
          <a:prstGeom prst="rect">
            <a:avLst/>
          </a:prstGeom>
          <a:noFill/>
        </p:spPr>
        <p:txBody>
          <a:bodyPr wrap="square" lIns="0" rIns="0" tIns="0" bIns="0">
            <a:spAutoFit/>
          </a:bodyPr>
          <a:lstStyle/>
          <a:p>
            <a:pPr>
              <a:spcAft>
                <a:spcPts val="900"/>
              </a:spcAft>
              <a:defRPr sz="3000" b="1">
                <a:solidFill>
                  <a:srgbClr val="DE633F"/>
                </a:solidFill>
                <a:latin typeface="Liberation Sans"/>
              </a:defRPr>
            </a:pPr>
            <a:r>
              <a:t>P(Tmax &gt; 70 °C)</a:t>
            </a:r>
          </a:p>
        </p:txBody>
      </p:sp>
      <p:sp>
        <p:nvSpPr>
          <p:cNvPr id="16" name="TextBox 15"/>
          <p:cNvSpPr txBox="1"/>
          <p:nvPr/>
        </p:nvSpPr>
        <p:spPr>
          <a:xfrm>
            <a:off x="6217920" y="4059936"/>
            <a:ext cx="4937760" cy="548640"/>
          </a:xfrm>
          <a:prstGeom prst="rect">
            <a:avLst/>
          </a:prstGeom>
          <a:noFill/>
        </p:spPr>
        <p:txBody>
          <a:bodyPr wrap="square" lIns="0" rIns="0" tIns="0" bIns="0">
            <a:spAutoFit/>
          </a:bodyPr>
          <a:lstStyle/>
          <a:p>
            <a:pPr>
              <a:spcAft>
                <a:spcPts val="900"/>
              </a:spcAft>
              <a:defRPr sz="3000" b="1">
                <a:solidFill>
                  <a:srgbClr val="DE633F"/>
                </a:solidFill>
                <a:latin typeface="Liberation Sans"/>
              </a:defRPr>
            </a:pPr>
            <a:r>
              <a:t>P(ΔTmax &gt; 20 °C)</a:t>
            </a:r>
          </a:p>
        </p:txBody>
      </p:sp>
      <p:sp>
        <p:nvSpPr>
          <p:cNvPr id="17" name="TextBox 16"/>
          <p:cNvSpPr txBox="1"/>
          <p:nvPr/>
        </p:nvSpPr>
        <p:spPr>
          <a:xfrm>
            <a:off x="777240" y="5303520"/>
            <a:ext cx="10789920" cy="731520"/>
          </a:xfrm>
          <a:prstGeom prst="rect">
            <a:avLst/>
          </a:prstGeom>
          <a:noFill/>
        </p:spPr>
        <p:txBody>
          <a:bodyPr wrap="square" lIns="0" rIns="0" tIns="0" bIns="0">
            <a:spAutoFit/>
          </a:bodyPr>
          <a:lstStyle/>
          <a:p>
            <a:pPr>
              <a:spcAft>
                <a:spcPts val="630"/>
              </a:spcAft>
              <a:defRPr sz="2100" b="0">
                <a:solidFill>
                  <a:srgbClr val="163244"/>
                </a:solidFill>
                <a:latin typeface="Liberation Sans"/>
              </a:defRPr>
            </a:pPr>
            <a:r>
              <a:t>Justificar rangos, distribuciones y dependencias. Reportar incertidumbre estadística.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MONTE CARLO</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HPC permite comparar muchas realizaciones</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00_PROYECTO_GENERAL.md §11 · E14</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18</a:t>
            </a:r>
          </a:p>
        </p:txBody>
      </p:sp>
      <p:sp>
        <p:nvSpPr>
          <p:cNvPr id="8" name="Rounded Rectangle 7"/>
          <p:cNvSpPr/>
          <p:nvPr/>
        </p:nvSpPr>
        <p:spPr>
          <a:xfrm>
            <a:off x="731520" y="2194560"/>
            <a:ext cx="2423160" cy="17373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2103120" cy="548640"/>
          </a:xfrm>
          <a:prstGeom prst="rect">
            <a:avLst/>
          </a:prstGeom>
          <a:noFill/>
        </p:spPr>
        <p:txBody>
          <a:bodyPr wrap="square" lIns="0" rIns="0" tIns="0" bIns="0">
            <a:spAutoFit/>
          </a:bodyPr>
          <a:lstStyle/>
          <a:p>
            <a:pPr>
              <a:spcAft>
                <a:spcPts val="810"/>
              </a:spcAft>
              <a:defRPr sz="2700" b="1">
                <a:solidFill>
                  <a:srgbClr val="267F83"/>
                </a:solidFill>
                <a:latin typeface="Liberation Sans"/>
              </a:defRPr>
            </a:pPr>
            <a:r>
              <a:t>Muestrear</a:t>
            </a:r>
          </a:p>
        </p:txBody>
      </p:sp>
      <p:sp>
        <p:nvSpPr>
          <p:cNvPr id="10" name="TextBox 9"/>
          <p:cNvSpPr txBox="1"/>
          <p:nvPr/>
        </p:nvSpPr>
        <p:spPr>
          <a:xfrm>
            <a:off x="914400" y="3246120"/>
            <a:ext cx="2103120" cy="457200"/>
          </a:xfrm>
          <a:prstGeom prst="rect">
            <a:avLst/>
          </a:prstGeom>
          <a:noFill/>
        </p:spPr>
        <p:txBody>
          <a:bodyPr wrap="square" lIns="0" rIns="0" tIns="0" bIns="0">
            <a:spAutoFit/>
          </a:bodyPr>
          <a:lstStyle/>
          <a:p>
            <a:pPr>
              <a:spcAft>
                <a:spcPts val="480"/>
              </a:spcAft>
              <a:defRPr sz="1600" b="0">
                <a:solidFill>
                  <a:srgbClr val="526572"/>
                </a:solidFill>
                <a:latin typeface="Liberation Sans"/>
              </a:defRPr>
            </a:pPr>
            <a:r>
              <a:t>variables + seeds</a:t>
            </a:r>
          </a:p>
        </p:txBody>
      </p:sp>
      <p:sp>
        <p:nvSpPr>
          <p:cNvPr id="11" name="TextBox 10"/>
          <p:cNvSpPr txBox="1"/>
          <p:nvPr/>
        </p:nvSpPr>
        <p:spPr>
          <a:xfrm>
            <a:off x="3246120" y="2834640"/>
            <a:ext cx="274320" cy="457200"/>
          </a:xfrm>
          <a:prstGeom prst="rect">
            <a:avLst/>
          </a:prstGeom>
          <a:noFill/>
        </p:spPr>
        <p:txBody>
          <a:bodyPr wrap="square" lIns="0" rIns="0" tIns="0" bIns="0">
            <a:spAutoFit/>
          </a:bodyPr>
          <a:lstStyle/>
          <a:p>
            <a:pPr>
              <a:spcAft>
                <a:spcPts val="750"/>
              </a:spcAft>
              <a:defRPr sz="2500" b="1">
                <a:solidFill>
                  <a:srgbClr val="DE633F"/>
                </a:solidFill>
                <a:latin typeface="Liberation Sans"/>
              </a:defRPr>
            </a:pPr>
            <a:r>
              <a:t>→</a:t>
            </a:r>
          </a:p>
        </p:txBody>
      </p:sp>
      <p:sp>
        <p:nvSpPr>
          <p:cNvPr id="12" name="Rounded Rectangle 11"/>
          <p:cNvSpPr/>
          <p:nvPr/>
        </p:nvSpPr>
        <p:spPr>
          <a:xfrm>
            <a:off x="3566160" y="2194560"/>
            <a:ext cx="2423160" cy="17373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40" y="2514600"/>
            <a:ext cx="2103120" cy="548640"/>
          </a:xfrm>
          <a:prstGeom prst="rect">
            <a:avLst/>
          </a:prstGeom>
          <a:noFill/>
        </p:spPr>
        <p:txBody>
          <a:bodyPr wrap="square" lIns="0" rIns="0" tIns="0" bIns="0">
            <a:spAutoFit/>
          </a:bodyPr>
          <a:lstStyle/>
          <a:p>
            <a:pPr>
              <a:spcAft>
                <a:spcPts val="810"/>
              </a:spcAft>
              <a:defRPr sz="2700" b="1">
                <a:solidFill>
                  <a:srgbClr val="267F83"/>
                </a:solidFill>
                <a:latin typeface="Liberation Sans"/>
              </a:defRPr>
            </a:pPr>
            <a:r>
              <a:t>Simular</a:t>
            </a:r>
          </a:p>
        </p:txBody>
      </p:sp>
      <p:sp>
        <p:nvSpPr>
          <p:cNvPr id="14" name="TextBox 13"/>
          <p:cNvSpPr txBox="1"/>
          <p:nvPr/>
        </p:nvSpPr>
        <p:spPr>
          <a:xfrm>
            <a:off x="3749040" y="3246120"/>
            <a:ext cx="2103120" cy="457200"/>
          </a:xfrm>
          <a:prstGeom prst="rect">
            <a:avLst/>
          </a:prstGeom>
          <a:noFill/>
        </p:spPr>
        <p:txBody>
          <a:bodyPr wrap="square" lIns="0" rIns="0" tIns="0" bIns="0">
            <a:spAutoFit/>
          </a:bodyPr>
          <a:lstStyle/>
          <a:p>
            <a:pPr>
              <a:spcAft>
                <a:spcPts val="480"/>
              </a:spcAft>
              <a:defRPr sz="1600" b="0">
                <a:solidFill>
                  <a:srgbClr val="526572"/>
                </a:solidFill>
                <a:latin typeface="Liberation Sans"/>
              </a:defRPr>
            </a:pPr>
            <a:r>
              <a:t>jobs independientes</a:t>
            </a:r>
          </a:p>
        </p:txBody>
      </p:sp>
      <p:sp>
        <p:nvSpPr>
          <p:cNvPr id="15" name="TextBox 14"/>
          <p:cNvSpPr txBox="1"/>
          <p:nvPr/>
        </p:nvSpPr>
        <p:spPr>
          <a:xfrm>
            <a:off x="6080760" y="2834640"/>
            <a:ext cx="274320" cy="457200"/>
          </a:xfrm>
          <a:prstGeom prst="rect">
            <a:avLst/>
          </a:prstGeom>
          <a:noFill/>
        </p:spPr>
        <p:txBody>
          <a:bodyPr wrap="square" lIns="0" rIns="0" tIns="0" bIns="0">
            <a:spAutoFit/>
          </a:bodyPr>
          <a:lstStyle/>
          <a:p>
            <a:pPr>
              <a:spcAft>
                <a:spcPts val="750"/>
              </a:spcAft>
              <a:defRPr sz="2500" b="1">
                <a:solidFill>
                  <a:srgbClr val="DE633F"/>
                </a:solidFill>
                <a:latin typeface="Liberation Sans"/>
              </a:defRPr>
            </a:pPr>
            <a:r>
              <a:t>→</a:t>
            </a:r>
          </a:p>
        </p:txBody>
      </p:sp>
      <p:sp>
        <p:nvSpPr>
          <p:cNvPr id="16" name="Rounded Rectangle 15"/>
          <p:cNvSpPr/>
          <p:nvPr/>
        </p:nvSpPr>
        <p:spPr>
          <a:xfrm>
            <a:off x="6400800" y="2194560"/>
            <a:ext cx="2423160" cy="17373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2514600"/>
            <a:ext cx="2103120" cy="548640"/>
          </a:xfrm>
          <a:prstGeom prst="rect">
            <a:avLst/>
          </a:prstGeom>
          <a:noFill/>
        </p:spPr>
        <p:txBody>
          <a:bodyPr wrap="square" lIns="0" rIns="0" tIns="0" bIns="0">
            <a:spAutoFit/>
          </a:bodyPr>
          <a:lstStyle/>
          <a:p>
            <a:pPr>
              <a:spcAft>
                <a:spcPts val="810"/>
              </a:spcAft>
              <a:defRPr sz="2700" b="1">
                <a:solidFill>
                  <a:srgbClr val="267F83"/>
                </a:solidFill>
                <a:latin typeface="Liberation Sans"/>
              </a:defRPr>
            </a:pPr>
            <a:r>
              <a:t>Extraer</a:t>
            </a:r>
          </a:p>
        </p:txBody>
      </p:sp>
      <p:sp>
        <p:nvSpPr>
          <p:cNvPr id="18" name="TextBox 17"/>
          <p:cNvSpPr txBox="1"/>
          <p:nvPr/>
        </p:nvSpPr>
        <p:spPr>
          <a:xfrm>
            <a:off x="6583680" y="3246120"/>
            <a:ext cx="2103120" cy="457200"/>
          </a:xfrm>
          <a:prstGeom prst="rect">
            <a:avLst/>
          </a:prstGeom>
          <a:noFill/>
        </p:spPr>
        <p:txBody>
          <a:bodyPr wrap="square" lIns="0" rIns="0" tIns="0" bIns="0">
            <a:spAutoFit/>
          </a:bodyPr>
          <a:lstStyle/>
          <a:p>
            <a:pPr>
              <a:spcAft>
                <a:spcPts val="480"/>
              </a:spcAft>
              <a:defRPr sz="1600" b="0">
                <a:solidFill>
                  <a:srgbClr val="526572"/>
                </a:solidFill>
                <a:latin typeface="Liberation Sans"/>
              </a:defRPr>
            </a:pPr>
            <a:r>
              <a:t>Tmax y ΔTmax</a:t>
            </a:r>
          </a:p>
        </p:txBody>
      </p:sp>
      <p:sp>
        <p:nvSpPr>
          <p:cNvPr id="19" name="TextBox 18"/>
          <p:cNvSpPr txBox="1"/>
          <p:nvPr/>
        </p:nvSpPr>
        <p:spPr>
          <a:xfrm>
            <a:off x="8915400" y="2834640"/>
            <a:ext cx="274320" cy="457200"/>
          </a:xfrm>
          <a:prstGeom prst="rect">
            <a:avLst/>
          </a:prstGeom>
          <a:noFill/>
        </p:spPr>
        <p:txBody>
          <a:bodyPr wrap="square" lIns="0" rIns="0" tIns="0" bIns="0">
            <a:spAutoFit/>
          </a:bodyPr>
          <a:lstStyle/>
          <a:p>
            <a:pPr>
              <a:spcAft>
                <a:spcPts val="750"/>
              </a:spcAft>
              <a:defRPr sz="2500" b="1">
                <a:solidFill>
                  <a:srgbClr val="DE633F"/>
                </a:solidFill>
                <a:latin typeface="Liberation Sans"/>
              </a:defRPr>
            </a:pPr>
            <a:r>
              <a:t>→</a:t>
            </a:r>
          </a:p>
        </p:txBody>
      </p:sp>
      <p:sp>
        <p:nvSpPr>
          <p:cNvPr id="20" name="Rounded Rectangle 19"/>
          <p:cNvSpPr/>
          <p:nvPr/>
        </p:nvSpPr>
        <p:spPr>
          <a:xfrm>
            <a:off x="9235440" y="2194560"/>
            <a:ext cx="2423160" cy="17373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0" y="2514600"/>
            <a:ext cx="2103120" cy="548640"/>
          </a:xfrm>
          <a:prstGeom prst="rect">
            <a:avLst/>
          </a:prstGeom>
          <a:noFill/>
        </p:spPr>
        <p:txBody>
          <a:bodyPr wrap="square" lIns="0" rIns="0" tIns="0" bIns="0">
            <a:spAutoFit/>
          </a:bodyPr>
          <a:lstStyle/>
          <a:p>
            <a:pPr>
              <a:spcAft>
                <a:spcPts val="810"/>
              </a:spcAft>
              <a:defRPr sz="2700" b="1">
                <a:solidFill>
                  <a:srgbClr val="267F83"/>
                </a:solidFill>
                <a:latin typeface="Liberation Sans"/>
              </a:defRPr>
            </a:pPr>
            <a:r>
              <a:t>Agregar</a:t>
            </a:r>
          </a:p>
        </p:txBody>
      </p:sp>
      <p:sp>
        <p:nvSpPr>
          <p:cNvPr id="22" name="TextBox 21"/>
          <p:cNvSpPr txBox="1"/>
          <p:nvPr/>
        </p:nvSpPr>
        <p:spPr>
          <a:xfrm>
            <a:off x="9418320" y="3246120"/>
            <a:ext cx="2103120" cy="457200"/>
          </a:xfrm>
          <a:prstGeom prst="rect">
            <a:avLst/>
          </a:prstGeom>
          <a:noFill/>
        </p:spPr>
        <p:txBody>
          <a:bodyPr wrap="square" lIns="0" rIns="0" tIns="0" bIns="0">
            <a:spAutoFit/>
          </a:bodyPr>
          <a:lstStyle/>
          <a:p>
            <a:pPr>
              <a:spcAft>
                <a:spcPts val="480"/>
              </a:spcAft>
              <a:defRPr sz="1600" b="0">
                <a:solidFill>
                  <a:srgbClr val="526572"/>
                </a:solidFill>
                <a:latin typeface="Liberation Sans"/>
              </a:defRPr>
            </a:pPr>
            <a:r>
              <a:t>Pf + intervalos</a:t>
            </a:r>
          </a:p>
        </p:txBody>
      </p:sp>
      <p:sp>
        <p:nvSpPr>
          <p:cNvPr id="23" name="TextBox 22"/>
          <p:cNvSpPr txBox="1"/>
          <p:nvPr/>
        </p:nvSpPr>
        <p:spPr>
          <a:xfrm>
            <a:off x="777240" y="4617720"/>
            <a:ext cx="5212080" cy="594360"/>
          </a:xfrm>
          <a:prstGeom prst="rect">
            <a:avLst/>
          </a:prstGeom>
          <a:noFill/>
        </p:spPr>
        <p:txBody>
          <a:bodyPr wrap="square" lIns="0" rIns="0" tIns="0" bIns="0">
            <a:spAutoFit/>
          </a:bodyPr>
          <a:lstStyle/>
          <a:p>
            <a:pPr>
              <a:spcAft>
                <a:spcPts val="869"/>
              </a:spcAft>
              <a:defRPr sz="2900" b="1">
                <a:solidFill>
                  <a:srgbClr val="163244"/>
                </a:solidFill>
                <a:latin typeface="Liberation Sans"/>
              </a:defRPr>
            </a:pPr>
            <a:r>
              <a:t>Slurm arrays o batches</a:t>
            </a:r>
          </a:p>
        </p:txBody>
      </p:sp>
      <p:sp>
        <p:nvSpPr>
          <p:cNvPr id="24" name="TextBox 23"/>
          <p:cNvSpPr txBox="1"/>
          <p:nvPr/>
        </p:nvSpPr>
        <p:spPr>
          <a:xfrm>
            <a:off x="6629400" y="4526280"/>
            <a:ext cx="4846320" cy="1188720"/>
          </a:xfrm>
          <a:prstGeom prst="rect">
            <a:avLst/>
          </a:prstGeom>
          <a:noFill/>
        </p:spPr>
        <p:txBody>
          <a:bodyPr wrap="square" lIns="0" rIns="0" tIns="0" bIns="0">
            <a:spAutoFit/>
          </a:bodyPr>
          <a:lstStyle/>
          <a:p>
            <a:pPr>
              <a:spcAft>
                <a:spcPts val="660"/>
              </a:spcAft>
              <a:defRPr sz="2200" b="0">
                <a:solidFill>
                  <a:srgbClr val="526572"/>
                </a:solidFill>
                <a:latin typeface="Liberation Sans"/>
              </a:defRPr>
            </a:pPr>
            <a:r>
              <a:t>Inputs, seeds y metadatos permiten</a:t>
            </a:r>
          </a:p>
          <a:p>
            <a:pPr>
              <a:spcAft>
                <a:spcPts val="660"/>
              </a:spcAft>
              <a:defRPr sz="2200" b="0">
                <a:solidFill>
                  <a:srgbClr val="526572"/>
                </a:solidFill>
                <a:latin typeface="Liberation Sans"/>
              </a:defRPr>
            </a:pPr>
            <a:r>
              <a:t>repetir y auditar cada realización.</a:t>
            </a:r>
          </a:p>
        </p:txBody>
      </p:sp>
      <p:sp>
        <p:nvSpPr>
          <p:cNvPr id="25" name="Rounded Rectangle 24"/>
          <p:cNvSpPr/>
          <p:nvPr/>
        </p:nvSpPr>
        <p:spPr>
          <a:xfrm>
            <a:off x="502920" y="5705856"/>
            <a:ext cx="11183112" cy="457200"/>
          </a:xfrm>
          <a:prstGeom prst="roundRect">
            <a:avLst>
              <a:gd name="adj" fmla="val 8000"/>
            </a:avLst>
          </a:prstGeom>
          <a:solidFill>
            <a:srgbClr val="CD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5779008"/>
            <a:ext cx="10789920" cy="320040"/>
          </a:xfrm>
          <a:prstGeom prst="rect">
            <a:avLst/>
          </a:prstGeom>
          <a:noFill/>
        </p:spPr>
        <p:txBody>
          <a:bodyPr wrap="square" lIns="0" rIns="0" tIns="0" bIns="0">
            <a:spAutoFit/>
          </a:bodyPr>
          <a:lstStyle/>
          <a:p>
            <a:pPr>
              <a:spcAft>
                <a:spcPts val="480"/>
              </a:spcAft>
              <a:defRPr sz="1600" b="1">
                <a:solidFill>
                  <a:srgbClr val="163244"/>
                </a:solidFill>
                <a:latin typeface="Liberation Sans"/>
              </a:defRPr>
            </a:pPr>
            <a:r>
              <a:t>Mostrar cómo se estabiliza la estimación al aumentar el número de simulaciones.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RESULTADOS</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Visualizar para localizar y explicar el riesgo</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Ju y Lei (2019), fig. 11 · Guía G06</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19</a:t>
            </a:r>
          </a:p>
        </p:txBody>
      </p:sp>
      <p:pic>
        <p:nvPicPr>
          <p:cNvPr id="8" name="Picture 7" descr="ju_modelo.png"/>
          <p:cNvPicPr>
            <a:picLocks noChangeAspect="1"/>
          </p:cNvPicPr>
          <p:nvPr/>
        </p:nvPicPr>
        <p:blipFill>
          <a:blip r:embed="rId2"/>
          <a:stretch>
            <a:fillRect/>
          </a:stretch>
        </p:blipFill>
        <p:spPr>
          <a:xfrm>
            <a:off x="640080" y="1844849"/>
            <a:ext cx="6126479" cy="3899821"/>
          </a:xfrm>
          <a:prstGeom prst="rect">
            <a:avLst/>
          </a:prstGeom>
        </p:spPr>
      </p:pic>
      <p:sp>
        <p:nvSpPr>
          <p:cNvPr id="9" name="TextBox 8"/>
          <p:cNvSpPr txBox="1"/>
          <p:nvPr/>
        </p:nvSpPr>
        <p:spPr>
          <a:xfrm>
            <a:off x="822960" y="5715000"/>
            <a:ext cx="5577840" cy="320040"/>
          </a:xfrm>
          <a:prstGeom prst="rect">
            <a:avLst/>
          </a:prstGeom>
          <a:noFill/>
        </p:spPr>
        <p:txBody>
          <a:bodyPr wrap="square" lIns="0" rIns="0" tIns="0" bIns="0">
            <a:spAutoFit/>
          </a:bodyPr>
          <a:lstStyle/>
          <a:p>
            <a:pPr>
              <a:spcAft>
                <a:spcPts val="420"/>
              </a:spcAft>
              <a:defRPr sz="1400" b="0">
                <a:solidFill>
                  <a:srgbClr val="526572"/>
                </a:solidFill>
                <a:latin typeface="Liberation Sans"/>
              </a:defRPr>
            </a:pPr>
            <a:r>
              <a:t>Geometría de referencia del artículo</a:t>
            </a:r>
          </a:p>
        </p:txBody>
      </p:sp>
      <p:sp>
        <p:nvSpPr>
          <p:cNvPr id="10" name="Rectangle 9"/>
          <p:cNvSpPr/>
          <p:nvPr/>
        </p:nvSpPr>
        <p:spPr>
          <a:xfrm>
            <a:off x="7178040" y="1901952"/>
            <a:ext cx="82296" cy="82296"/>
          </a:xfrm>
          <a:prstGeom prst="rect">
            <a:avLst/>
          </a:prstGeom>
          <a:solidFill>
            <a:srgbClr val="DE6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0" y="1828800"/>
            <a:ext cx="4160520" cy="411480"/>
          </a:xfrm>
          <a:prstGeom prst="rect">
            <a:avLst/>
          </a:prstGeom>
          <a:noFill/>
        </p:spPr>
        <p:txBody>
          <a:bodyPr wrap="square" lIns="0" rIns="0" tIns="0" bIns="0">
            <a:spAutoFit/>
          </a:bodyPr>
          <a:lstStyle/>
          <a:p>
            <a:pPr>
              <a:spcAft>
                <a:spcPts val="630"/>
              </a:spcAft>
              <a:defRPr sz="2100" b="1">
                <a:solidFill>
                  <a:srgbClr val="163244"/>
                </a:solidFill>
                <a:latin typeface="Liberation Sans"/>
              </a:defRPr>
            </a:pPr>
            <a:r>
              <a:t>Campos y cortes</a:t>
            </a:r>
          </a:p>
        </p:txBody>
      </p:sp>
      <p:sp>
        <p:nvSpPr>
          <p:cNvPr id="12" name="TextBox 11"/>
          <p:cNvSpPr txBox="1"/>
          <p:nvPr/>
        </p:nvSpPr>
        <p:spPr>
          <a:xfrm>
            <a:off x="7406640" y="2331720"/>
            <a:ext cx="4160520" cy="768096"/>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T(x,y,z,t), vertidas y zonas críticas.</a:t>
            </a:r>
          </a:p>
        </p:txBody>
      </p:sp>
      <p:sp>
        <p:nvSpPr>
          <p:cNvPr id="13" name="Rectangle 12"/>
          <p:cNvSpPr/>
          <p:nvPr/>
        </p:nvSpPr>
        <p:spPr>
          <a:xfrm>
            <a:off x="7178040" y="3319272"/>
            <a:ext cx="82296" cy="82296"/>
          </a:xfrm>
          <a:prstGeom prst="rect">
            <a:avLst/>
          </a:prstGeom>
          <a:solidFill>
            <a:srgbClr val="DE6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0" y="3246120"/>
            <a:ext cx="4160520" cy="411480"/>
          </a:xfrm>
          <a:prstGeom prst="rect">
            <a:avLst/>
          </a:prstGeom>
          <a:noFill/>
        </p:spPr>
        <p:txBody>
          <a:bodyPr wrap="square" lIns="0" rIns="0" tIns="0" bIns="0">
            <a:spAutoFit/>
          </a:bodyPr>
          <a:lstStyle/>
          <a:p>
            <a:pPr>
              <a:spcAft>
                <a:spcPts val="630"/>
              </a:spcAft>
              <a:defRPr sz="2100" b="1">
                <a:solidFill>
                  <a:srgbClr val="163244"/>
                </a:solidFill>
                <a:latin typeface="Liberation Sans"/>
              </a:defRPr>
            </a:pPr>
            <a:r>
              <a:t>Curvas y métricas</a:t>
            </a:r>
          </a:p>
        </p:txBody>
      </p:sp>
      <p:sp>
        <p:nvSpPr>
          <p:cNvPr id="15" name="TextBox 14"/>
          <p:cNvSpPr txBox="1"/>
          <p:nvPr/>
        </p:nvSpPr>
        <p:spPr>
          <a:xfrm>
            <a:off x="7406640" y="3749039"/>
            <a:ext cx="4160520" cy="768096"/>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Núcleo–superficie, máximos</a:t>
            </a:r>
          </a:p>
          <a:p>
            <a:pPr>
              <a:spcAft>
                <a:spcPts val="540"/>
              </a:spcAft>
              <a:defRPr sz="1800" b="0">
                <a:solidFill>
                  <a:srgbClr val="526572"/>
                </a:solidFill>
                <a:latin typeface="Liberation Sans"/>
              </a:defRPr>
            </a:pPr>
            <a:r>
              <a:t>y tiempos de ocurrencia.</a:t>
            </a:r>
          </a:p>
        </p:txBody>
      </p:sp>
      <p:sp>
        <p:nvSpPr>
          <p:cNvPr id="16" name="Rectangle 15"/>
          <p:cNvSpPr/>
          <p:nvPr/>
        </p:nvSpPr>
        <p:spPr>
          <a:xfrm>
            <a:off x="7178040" y="4736592"/>
            <a:ext cx="82296" cy="82296"/>
          </a:xfrm>
          <a:prstGeom prst="rect">
            <a:avLst/>
          </a:prstGeom>
          <a:solidFill>
            <a:srgbClr val="DE6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0" y="4663440"/>
            <a:ext cx="4160520" cy="411480"/>
          </a:xfrm>
          <a:prstGeom prst="rect">
            <a:avLst/>
          </a:prstGeom>
          <a:noFill/>
        </p:spPr>
        <p:txBody>
          <a:bodyPr wrap="square" lIns="0" rIns="0" tIns="0" bIns="0">
            <a:spAutoFit/>
          </a:bodyPr>
          <a:lstStyle/>
          <a:p>
            <a:pPr>
              <a:spcAft>
                <a:spcPts val="630"/>
              </a:spcAft>
              <a:defRPr sz="2100" b="1">
                <a:solidFill>
                  <a:srgbClr val="163244"/>
                </a:solidFill>
                <a:latin typeface="Liberation Sans"/>
              </a:defRPr>
            </a:pPr>
            <a:r>
              <a:t>Herramientas</a:t>
            </a:r>
          </a:p>
        </p:txBody>
      </p:sp>
      <p:sp>
        <p:nvSpPr>
          <p:cNvPr id="18" name="TextBox 17"/>
          <p:cNvSpPr txBox="1"/>
          <p:nvPr/>
        </p:nvSpPr>
        <p:spPr>
          <a:xfrm>
            <a:off x="7406640" y="5166359"/>
            <a:ext cx="4160520" cy="768096"/>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VTK / PyVista / ParaView para 3D.</a:t>
            </a:r>
          </a:p>
          <a:p>
            <a:pPr>
              <a:spcAft>
                <a:spcPts val="540"/>
              </a:spcAft>
              <a:defRPr sz="1800" b="0">
                <a:solidFill>
                  <a:srgbClr val="526572"/>
                </a:solidFill>
                <a:latin typeface="Liberation Sans"/>
              </a:defRPr>
            </a:pPr>
            <a:r>
              <a:t>Matplotlib para curvas y estadística.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MONITOREO Y CONTINGENCIA</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El plan debe poder vigilarse en obra</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Wang et al. (2025), fig. 3 · Plan docente inspirado en ICH (2019)</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20</a:t>
            </a:r>
          </a:p>
        </p:txBody>
      </p:sp>
      <p:pic>
        <p:nvPicPr>
          <p:cNvPr id="8" name="Picture 7" descr="wang_monitoreo.png"/>
          <p:cNvPicPr>
            <a:picLocks noChangeAspect="1"/>
          </p:cNvPicPr>
          <p:nvPr/>
        </p:nvPicPr>
        <p:blipFill>
          <a:blip r:embed="rId2"/>
          <a:stretch>
            <a:fillRect/>
          </a:stretch>
        </p:blipFill>
        <p:spPr>
          <a:xfrm>
            <a:off x="640080" y="2097673"/>
            <a:ext cx="6492240" cy="2799813"/>
          </a:xfrm>
          <a:prstGeom prst="rect">
            <a:avLst/>
          </a:prstGeom>
        </p:spPr>
      </p:pic>
      <p:sp>
        <p:nvSpPr>
          <p:cNvPr id="9" name="TextBox 8"/>
          <p:cNvSpPr txBox="1"/>
          <p:nvPr/>
        </p:nvSpPr>
        <p:spPr>
          <a:xfrm>
            <a:off x="822960" y="5303520"/>
            <a:ext cx="6035040" cy="365760"/>
          </a:xfrm>
          <a:prstGeom prst="rect">
            <a:avLst/>
          </a:prstGeom>
          <a:noFill/>
        </p:spPr>
        <p:txBody>
          <a:bodyPr wrap="square" lIns="0" rIns="0" tIns="0" bIns="0">
            <a:spAutoFit/>
          </a:bodyPr>
          <a:lstStyle/>
          <a:p>
            <a:pPr>
              <a:spcAft>
                <a:spcPts val="480"/>
              </a:spcAft>
              <a:defRPr sz="1600" b="0">
                <a:solidFill>
                  <a:srgbClr val="526572"/>
                </a:solidFill>
                <a:latin typeface="Liberation Sans"/>
              </a:defRPr>
            </a:pPr>
            <a:r>
              <a:t>Ejemplo publicado de ubicación de sensores</a:t>
            </a:r>
          </a:p>
        </p:txBody>
      </p:sp>
      <p:sp>
        <p:nvSpPr>
          <p:cNvPr id="10" name="TextBox 9"/>
          <p:cNvSpPr txBox="1"/>
          <p:nvPr/>
        </p:nvSpPr>
        <p:spPr>
          <a:xfrm>
            <a:off x="7452360" y="1810512"/>
            <a:ext cx="4114800" cy="731520"/>
          </a:xfrm>
          <a:prstGeom prst="rect">
            <a:avLst/>
          </a:prstGeom>
          <a:noFill/>
        </p:spPr>
        <p:txBody>
          <a:bodyPr wrap="square" lIns="0" rIns="0" tIns="0" bIns="0">
            <a:spAutoFit/>
          </a:bodyPr>
          <a:lstStyle/>
          <a:p>
            <a:pPr>
              <a:spcAft>
                <a:spcPts val="780"/>
              </a:spcAft>
              <a:defRPr sz="2600" b="1">
                <a:solidFill>
                  <a:srgbClr val="163244"/>
                </a:solidFill>
                <a:latin typeface="Liberation Sans"/>
              </a:defRPr>
            </a:pPr>
            <a:r>
              <a:t>Instrumentación propuesta</a:t>
            </a:r>
          </a:p>
        </p:txBody>
      </p:sp>
      <p:sp>
        <p:nvSpPr>
          <p:cNvPr id="11" name="TextBox 10"/>
          <p:cNvSpPr txBox="1"/>
          <p:nvPr/>
        </p:nvSpPr>
        <p:spPr>
          <a:xfrm>
            <a:off x="7452360" y="2788920"/>
            <a:ext cx="4023360" cy="2423160"/>
          </a:xfrm>
          <a:prstGeom prst="rect">
            <a:avLst/>
          </a:prstGeom>
          <a:noFill/>
        </p:spPr>
        <p:txBody>
          <a:bodyPr wrap="square" lIns="0" rIns="0" tIns="0" bIns="0">
            <a:spAutoFit/>
          </a:bodyPr>
          <a:lstStyle/>
          <a:p>
            <a:pPr>
              <a:spcAft>
                <a:spcPts val="630"/>
              </a:spcAft>
              <a:defRPr sz="2100" b="0">
                <a:solidFill>
                  <a:srgbClr val="526572"/>
                </a:solidFill>
                <a:latin typeface="Liberation Sans"/>
              </a:defRPr>
            </a:pPr>
            <a:r>
              <a:t>Núcleo y superficie a ≈25 mm</a:t>
            </a:r>
          </a:p>
          <a:p>
            <a:pPr>
              <a:spcAft>
                <a:spcPts val="630"/>
              </a:spcAft>
              <a:defRPr sz="2100" b="0">
                <a:solidFill>
                  <a:srgbClr val="526572"/>
                </a:solidFill>
                <a:latin typeface="Liberation Sans"/>
              </a:defRPr>
            </a:pPr>
            <a:r>
              <a:t>Sensor ambiente</a:t>
            </a:r>
          </a:p>
          <a:p>
            <a:pPr>
              <a:spcAft>
                <a:spcPts val="630"/>
              </a:spcAft>
              <a:defRPr sz="2100" b="0">
                <a:solidFill>
                  <a:srgbClr val="526572"/>
                </a:solidFill>
                <a:latin typeface="Liberation Sans"/>
              </a:defRPr>
            </a:pPr>
            <a:r>
              <a:t>Redundancia</a:t>
            </a:r>
          </a:p>
          <a:p>
            <a:pPr>
              <a:spcAft>
                <a:spcPts val="630"/>
              </a:spcAft>
              <a:defRPr sz="2100" b="0">
                <a:solidFill>
                  <a:srgbClr val="526572"/>
                </a:solidFill>
                <a:latin typeface="Liberation Sans"/>
              </a:defRPr>
            </a:pPr>
            <a:r>
              <a:t>Frecuencia de registro</a:t>
            </a:r>
          </a:p>
          <a:p>
            <a:pPr>
              <a:spcAft>
                <a:spcPts val="630"/>
              </a:spcAft>
              <a:defRPr sz="2100" b="0">
                <a:solidFill>
                  <a:srgbClr val="526572"/>
                </a:solidFill>
                <a:latin typeface="Liberation Sans"/>
              </a:defRPr>
            </a:pPr>
            <a:r>
              <a:t>Acciones ante excedencias</a:t>
            </a:r>
          </a:p>
        </p:txBody>
      </p:sp>
      <p:sp>
        <p:nvSpPr>
          <p:cNvPr id="12" name="Rounded Rectangle 11"/>
          <p:cNvSpPr/>
          <p:nvPr/>
        </p:nvSpPr>
        <p:spPr>
          <a:xfrm>
            <a:off x="502920" y="5705856"/>
            <a:ext cx="11183112" cy="457200"/>
          </a:xfrm>
          <a:prstGeom prst="roundRect">
            <a:avLst>
              <a:gd name="adj" fmla="val 8000"/>
            </a:avLst>
          </a:prstGeom>
          <a:solidFill>
            <a:srgbClr val="CD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5779008"/>
            <a:ext cx="10789920" cy="320040"/>
          </a:xfrm>
          <a:prstGeom prst="rect">
            <a:avLst/>
          </a:prstGeom>
          <a:noFill/>
        </p:spPr>
        <p:txBody>
          <a:bodyPr wrap="square" lIns="0" rIns="0" tIns="0" bIns="0">
            <a:spAutoFit/>
          </a:bodyPr>
          <a:lstStyle/>
          <a:p>
            <a:pPr>
              <a:spcAft>
                <a:spcPts val="480"/>
              </a:spcAft>
              <a:defRPr sz="1600" b="1">
                <a:solidFill>
                  <a:srgbClr val="163244"/>
                </a:solidFill>
                <a:latin typeface="Liberation Sans"/>
              </a:defRPr>
            </a:pPr>
            <a:r>
              <a:t>Conectar lo que se calcula, lo que se mide y la acción que se recomienda.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LA RECOMENDACIÓN</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Comparar al menos tres planes realmente distintos</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E15 · Plantilla conceptual: aún no hay probabilidades calculadas</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21</a:t>
            </a:r>
          </a:p>
        </p:txBody>
      </p:sp>
      <p:sp>
        <p:nvSpPr>
          <p:cNvPr id="8" name="Rectangle 7"/>
          <p:cNvSpPr/>
          <p:nvPr/>
        </p:nvSpPr>
        <p:spPr>
          <a:xfrm>
            <a:off x="685800" y="2057400"/>
            <a:ext cx="10835640" cy="475488"/>
          </a:xfrm>
          <a:prstGeom prst="rect">
            <a:avLst/>
          </a:prstGeom>
          <a:solidFill>
            <a:srgbClr val="16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167128"/>
            <a:ext cx="2505456" cy="310896"/>
          </a:xfrm>
          <a:prstGeom prst="rect">
            <a:avLst/>
          </a:prstGeom>
          <a:noFill/>
        </p:spPr>
        <p:txBody>
          <a:bodyPr wrap="square" lIns="0" rIns="0" tIns="0" bIns="0">
            <a:spAutoFit/>
          </a:bodyPr>
          <a:lstStyle/>
          <a:p>
            <a:pPr>
              <a:spcAft>
                <a:spcPts val="630"/>
              </a:spcAft>
              <a:defRPr sz="2100" b="1">
                <a:solidFill>
                  <a:srgbClr val="FFFFFF"/>
                </a:solidFill>
                <a:latin typeface="Liberation Sans"/>
              </a:defRPr>
            </a:pPr>
            <a:r>
              <a:t>Alternativa</a:t>
            </a:r>
          </a:p>
        </p:txBody>
      </p:sp>
      <p:sp>
        <p:nvSpPr>
          <p:cNvPr id="10" name="TextBox 9"/>
          <p:cNvSpPr txBox="1"/>
          <p:nvPr/>
        </p:nvSpPr>
        <p:spPr>
          <a:xfrm>
            <a:off x="3547872" y="2167128"/>
            <a:ext cx="3785616" cy="310896"/>
          </a:xfrm>
          <a:prstGeom prst="rect">
            <a:avLst/>
          </a:prstGeom>
          <a:noFill/>
        </p:spPr>
        <p:txBody>
          <a:bodyPr wrap="square" lIns="0" rIns="0" tIns="0" bIns="0">
            <a:spAutoFit/>
          </a:bodyPr>
          <a:lstStyle/>
          <a:p>
            <a:pPr>
              <a:spcAft>
                <a:spcPts val="630"/>
              </a:spcAft>
              <a:defRPr sz="2100" b="1">
                <a:solidFill>
                  <a:srgbClr val="FFFFFF"/>
                </a:solidFill>
                <a:latin typeface="Liberation Sans"/>
              </a:defRPr>
            </a:pPr>
            <a:r>
              <a:t>Cambio a evaluar</a:t>
            </a:r>
          </a:p>
        </p:txBody>
      </p:sp>
      <p:sp>
        <p:nvSpPr>
          <p:cNvPr id="11" name="TextBox 10"/>
          <p:cNvSpPr txBox="1"/>
          <p:nvPr/>
        </p:nvSpPr>
        <p:spPr>
          <a:xfrm>
            <a:off x="7571232" y="2167128"/>
            <a:ext cx="3831336" cy="310896"/>
          </a:xfrm>
          <a:prstGeom prst="rect">
            <a:avLst/>
          </a:prstGeom>
          <a:noFill/>
        </p:spPr>
        <p:txBody>
          <a:bodyPr wrap="square" lIns="0" rIns="0" tIns="0" bIns="0">
            <a:spAutoFit/>
          </a:bodyPr>
          <a:lstStyle/>
          <a:p>
            <a:pPr>
              <a:spcAft>
                <a:spcPts val="630"/>
              </a:spcAft>
              <a:defRPr sz="2100" b="1">
                <a:solidFill>
                  <a:srgbClr val="FFFFFF"/>
                </a:solidFill>
                <a:latin typeface="Liberation Sans"/>
              </a:defRPr>
            </a:pPr>
            <a:r>
              <a:t>Evidencia para decidir</a:t>
            </a:r>
          </a:p>
        </p:txBody>
      </p:sp>
      <p:sp>
        <p:nvSpPr>
          <p:cNvPr id="12" name="Rectangle 11"/>
          <p:cNvSpPr/>
          <p:nvPr/>
        </p:nvSpPr>
        <p:spPr>
          <a:xfrm>
            <a:off x="685800" y="2532888"/>
            <a:ext cx="10835640"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642616"/>
            <a:ext cx="2505456" cy="585216"/>
          </a:xfrm>
          <a:prstGeom prst="rect">
            <a:avLst/>
          </a:prstGeom>
          <a:noFill/>
        </p:spPr>
        <p:txBody>
          <a:bodyPr wrap="square" lIns="0" rIns="0" tIns="0" bIns="0">
            <a:spAutoFit/>
          </a:bodyPr>
          <a:lstStyle/>
          <a:p>
            <a:pPr>
              <a:spcAft>
                <a:spcPts val="630"/>
              </a:spcAft>
              <a:defRPr sz="2100" b="0">
                <a:solidFill>
                  <a:srgbClr val="163244"/>
                </a:solidFill>
                <a:latin typeface="Liberation Sans"/>
              </a:defRPr>
            </a:pPr>
            <a:r>
              <a:t>Plan A / referencia</a:t>
            </a:r>
          </a:p>
        </p:txBody>
      </p:sp>
      <p:sp>
        <p:nvSpPr>
          <p:cNvPr id="14" name="TextBox 13"/>
          <p:cNvSpPr txBox="1"/>
          <p:nvPr/>
        </p:nvSpPr>
        <p:spPr>
          <a:xfrm>
            <a:off x="3547872" y="2642616"/>
            <a:ext cx="3785616" cy="585216"/>
          </a:xfrm>
          <a:prstGeom prst="rect">
            <a:avLst/>
          </a:prstGeom>
          <a:noFill/>
        </p:spPr>
        <p:txBody>
          <a:bodyPr wrap="square" lIns="0" rIns="0" tIns="0" bIns="0">
            <a:spAutoFit/>
          </a:bodyPr>
          <a:lstStyle/>
          <a:p>
            <a:pPr>
              <a:spcAft>
                <a:spcPts val="630"/>
              </a:spcAft>
              <a:defRPr sz="2100" b="0">
                <a:solidFill>
                  <a:srgbClr val="163244"/>
                </a:solidFill>
                <a:latin typeface="Liberation Sans"/>
              </a:defRPr>
            </a:pPr>
            <a:r>
              <a:t>Secuencia inicial</a:t>
            </a:r>
          </a:p>
        </p:txBody>
      </p:sp>
      <p:sp>
        <p:nvSpPr>
          <p:cNvPr id="15" name="TextBox 14"/>
          <p:cNvSpPr txBox="1"/>
          <p:nvPr/>
        </p:nvSpPr>
        <p:spPr>
          <a:xfrm>
            <a:off x="7571232" y="2642616"/>
            <a:ext cx="3831336" cy="585216"/>
          </a:xfrm>
          <a:prstGeom prst="rect">
            <a:avLst/>
          </a:prstGeom>
          <a:noFill/>
        </p:spPr>
        <p:txBody>
          <a:bodyPr wrap="square" lIns="0" rIns="0" tIns="0" bIns="0">
            <a:spAutoFit/>
          </a:bodyPr>
          <a:lstStyle/>
          <a:p>
            <a:pPr>
              <a:spcAft>
                <a:spcPts val="630"/>
              </a:spcAft>
              <a:defRPr sz="2100" b="0">
                <a:solidFill>
                  <a:srgbClr val="163244"/>
                </a:solidFill>
                <a:latin typeface="Liberation Sans"/>
              </a:defRPr>
            </a:pPr>
            <a:r>
              <a:t>Tmax y ΔTmax</a:t>
            </a:r>
          </a:p>
        </p:txBody>
      </p:sp>
      <p:sp>
        <p:nvSpPr>
          <p:cNvPr id="16" name="Rectangle 15"/>
          <p:cNvSpPr/>
          <p:nvPr/>
        </p:nvSpPr>
        <p:spPr>
          <a:xfrm>
            <a:off x="685800" y="3264408"/>
            <a:ext cx="10835640" cy="731520"/>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374136"/>
            <a:ext cx="2505456" cy="585216"/>
          </a:xfrm>
          <a:prstGeom prst="rect">
            <a:avLst/>
          </a:prstGeom>
          <a:noFill/>
        </p:spPr>
        <p:txBody>
          <a:bodyPr wrap="square" lIns="0" rIns="0" tIns="0" bIns="0">
            <a:spAutoFit/>
          </a:bodyPr>
          <a:lstStyle/>
          <a:p>
            <a:pPr>
              <a:spcAft>
                <a:spcPts val="630"/>
              </a:spcAft>
              <a:defRPr sz="2100" b="0">
                <a:solidFill>
                  <a:srgbClr val="163244"/>
                </a:solidFill>
                <a:latin typeface="Liberation Sans"/>
              </a:defRPr>
            </a:pPr>
            <a:r>
              <a:t>Plan B / vertidas</a:t>
            </a:r>
          </a:p>
        </p:txBody>
      </p:sp>
      <p:sp>
        <p:nvSpPr>
          <p:cNvPr id="18" name="TextBox 17"/>
          <p:cNvSpPr txBox="1"/>
          <p:nvPr/>
        </p:nvSpPr>
        <p:spPr>
          <a:xfrm>
            <a:off x="3547872" y="3374136"/>
            <a:ext cx="3785616" cy="585216"/>
          </a:xfrm>
          <a:prstGeom prst="rect">
            <a:avLst/>
          </a:prstGeom>
          <a:noFill/>
        </p:spPr>
        <p:txBody>
          <a:bodyPr wrap="square" lIns="0" rIns="0" tIns="0" bIns="0">
            <a:spAutoFit/>
          </a:bodyPr>
          <a:lstStyle/>
          <a:p>
            <a:pPr>
              <a:spcAft>
                <a:spcPts val="630"/>
              </a:spcAft>
              <a:defRPr sz="2100" b="0">
                <a:solidFill>
                  <a:srgbClr val="163244"/>
                </a:solidFill>
                <a:latin typeface="Liberation Sans"/>
              </a:defRPr>
            </a:pPr>
            <a:r>
              <a:t>Geometría, inicio o intervalos</a:t>
            </a:r>
          </a:p>
        </p:txBody>
      </p:sp>
      <p:sp>
        <p:nvSpPr>
          <p:cNvPr id="19" name="TextBox 18"/>
          <p:cNvSpPr txBox="1"/>
          <p:nvPr/>
        </p:nvSpPr>
        <p:spPr>
          <a:xfrm>
            <a:off x="7571232" y="3374136"/>
            <a:ext cx="3831336" cy="585216"/>
          </a:xfrm>
          <a:prstGeom prst="rect">
            <a:avLst/>
          </a:prstGeom>
          <a:noFill/>
        </p:spPr>
        <p:txBody>
          <a:bodyPr wrap="square" lIns="0" rIns="0" tIns="0" bIns="0">
            <a:spAutoFit/>
          </a:bodyPr>
          <a:lstStyle/>
          <a:p>
            <a:pPr>
              <a:spcAft>
                <a:spcPts val="630"/>
              </a:spcAft>
              <a:defRPr sz="2100" b="0">
                <a:solidFill>
                  <a:srgbClr val="163244"/>
                </a:solidFill>
                <a:latin typeface="Liberation Sans"/>
              </a:defRPr>
            </a:pPr>
            <a:r>
              <a:t>Probabilidades + intervalos</a:t>
            </a:r>
          </a:p>
        </p:txBody>
      </p:sp>
      <p:sp>
        <p:nvSpPr>
          <p:cNvPr id="20" name="Rectangle 19"/>
          <p:cNvSpPr/>
          <p:nvPr/>
        </p:nvSpPr>
        <p:spPr>
          <a:xfrm>
            <a:off x="685800" y="3995928"/>
            <a:ext cx="10835640"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4105656"/>
            <a:ext cx="2505456" cy="585216"/>
          </a:xfrm>
          <a:prstGeom prst="rect">
            <a:avLst/>
          </a:prstGeom>
          <a:noFill/>
        </p:spPr>
        <p:txBody>
          <a:bodyPr wrap="square" lIns="0" rIns="0" tIns="0" bIns="0">
            <a:spAutoFit/>
          </a:bodyPr>
          <a:lstStyle/>
          <a:p>
            <a:pPr>
              <a:spcAft>
                <a:spcPts val="630"/>
              </a:spcAft>
              <a:defRPr sz="2100" b="0">
                <a:solidFill>
                  <a:srgbClr val="163244"/>
                </a:solidFill>
                <a:latin typeface="Liberation Sans"/>
              </a:defRPr>
            </a:pPr>
            <a:r>
              <a:t>Plan C / protección</a:t>
            </a:r>
          </a:p>
        </p:txBody>
      </p:sp>
      <p:sp>
        <p:nvSpPr>
          <p:cNvPr id="22" name="TextBox 21"/>
          <p:cNvSpPr txBox="1"/>
          <p:nvPr/>
        </p:nvSpPr>
        <p:spPr>
          <a:xfrm>
            <a:off x="3547872" y="4105656"/>
            <a:ext cx="3785616" cy="585216"/>
          </a:xfrm>
          <a:prstGeom prst="rect">
            <a:avLst/>
          </a:prstGeom>
          <a:noFill/>
        </p:spPr>
        <p:txBody>
          <a:bodyPr wrap="square" lIns="0" rIns="0" tIns="0" bIns="0">
            <a:spAutoFit/>
          </a:bodyPr>
          <a:lstStyle/>
          <a:p>
            <a:pPr>
              <a:spcAft>
                <a:spcPts val="630"/>
              </a:spcAft>
              <a:defRPr sz="2100" b="0">
                <a:solidFill>
                  <a:srgbClr val="163244"/>
                </a:solidFill>
                <a:latin typeface="Liberation Sans"/>
              </a:defRPr>
            </a:pPr>
            <a:r>
              <a:t>Aislación o retiro de moldaje</a:t>
            </a:r>
          </a:p>
        </p:txBody>
      </p:sp>
      <p:sp>
        <p:nvSpPr>
          <p:cNvPr id="23" name="TextBox 22"/>
          <p:cNvSpPr txBox="1"/>
          <p:nvPr/>
        </p:nvSpPr>
        <p:spPr>
          <a:xfrm>
            <a:off x="7571232" y="4105656"/>
            <a:ext cx="3831336" cy="585216"/>
          </a:xfrm>
          <a:prstGeom prst="rect">
            <a:avLst/>
          </a:prstGeom>
          <a:noFill/>
        </p:spPr>
        <p:txBody>
          <a:bodyPr wrap="square" lIns="0" rIns="0" tIns="0" bIns="0">
            <a:spAutoFit/>
          </a:bodyPr>
          <a:lstStyle/>
          <a:p>
            <a:pPr>
              <a:spcAft>
                <a:spcPts val="630"/>
              </a:spcAft>
              <a:defRPr sz="2100" b="0">
                <a:solidFill>
                  <a:srgbClr val="163244"/>
                </a:solidFill>
                <a:latin typeface="Liberation Sans"/>
              </a:defRPr>
            </a:pPr>
            <a:r>
              <a:t>Impacto en ejecución + riesgo</a:t>
            </a:r>
          </a:p>
        </p:txBody>
      </p:sp>
      <p:sp>
        <p:nvSpPr>
          <p:cNvPr id="24" name="TextBox 23"/>
          <p:cNvSpPr txBox="1"/>
          <p:nvPr/>
        </p:nvSpPr>
        <p:spPr>
          <a:xfrm>
            <a:off x="777240" y="5029200"/>
            <a:ext cx="10652760" cy="914400"/>
          </a:xfrm>
          <a:prstGeom prst="rect">
            <a:avLst/>
          </a:prstGeom>
          <a:noFill/>
        </p:spPr>
        <p:txBody>
          <a:bodyPr wrap="square" lIns="0" rIns="0" tIns="0" bIns="0">
            <a:spAutoFit/>
          </a:bodyPr>
          <a:lstStyle/>
          <a:p>
            <a:pPr>
              <a:spcAft>
                <a:spcPts val="840"/>
              </a:spcAft>
              <a:defRPr sz="2800" b="1">
                <a:solidFill>
                  <a:srgbClr val="267F83"/>
                </a:solidFill>
                <a:latin typeface="Liberation Sans"/>
              </a:defRPr>
            </a:pPr>
            <a:r>
              <a:t>Recomendar una alternativa y explicar por qué se descartan las otras.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RESULTADO ESPERADO</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El producto final tiene tres piezas conectadas</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F01 y F02 · Guía G08</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22</a:t>
            </a:r>
          </a:p>
        </p:txBody>
      </p:sp>
      <p:sp>
        <p:nvSpPr>
          <p:cNvPr id="8" name="Rounded Rectangle 7"/>
          <p:cNvSpPr/>
          <p:nvPr/>
        </p:nvSpPr>
        <p:spPr>
          <a:xfrm>
            <a:off x="594360" y="1783080"/>
            <a:ext cx="3566160" cy="3611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50292" cy="3611880"/>
          </a:xfrm>
          <a:prstGeom prst="rect">
            <a:avLst/>
          </a:prstGeom>
          <a:solidFill>
            <a:srgbClr val="26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947672"/>
            <a:ext cx="3163824" cy="320040"/>
          </a:xfrm>
          <a:prstGeom prst="rect">
            <a:avLst/>
          </a:prstGeom>
          <a:noFill/>
        </p:spPr>
        <p:txBody>
          <a:bodyPr wrap="square" lIns="0" rIns="0" tIns="0" bIns="0">
            <a:spAutoFit/>
          </a:bodyPr>
          <a:lstStyle/>
          <a:p>
            <a:pPr>
              <a:spcAft>
                <a:spcPts val="359"/>
              </a:spcAft>
              <a:defRPr sz="1200" b="1">
                <a:solidFill>
                  <a:srgbClr val="267F83"/>
                </a:solidFill>
                <a:latin typeface="Liberation Sans"/>
              </a:defRPr>
            </a:pPr>
            <a:r>
              <a:t>DOCUMENTO</a:t>
            </a:r>
          </a:p>
        </p:txBody>
      </p:sp>
      <p:sp>
        <p:nvSpPr>
          <p:cNvPr id="11" name="TextBox 10"/>
          <p:cNvSpPr txBox="1"/>
          <p:nvPr/>
        </p:nvSpPr>
        <p:spPr>
          <a:xfrm>
            <a:off x="795528" y="2377440"/>
            <a:ext cx="3163824" cy="731520"/>
          </a:xfrm>
          <a:prstGeom prst="rect">
            <a:avLst/>
          </a:prstGeom>
          <a:noFill/>
        </p:spPr>
        <p:txBody>
          <a:bodyPr wrap="square" lIns="0" rIns="0" tIns="0" bIns="0">
            <a:spAutoFit/>
          </a:bodyPr>
          <a:lstStyle/>
          <a:p>
            <a:pPr>
              <a:spcAft>
                <a:spcPts val="719"/>
              </a:spcAft>
              <a:defRPr sz="2400" b="1">
                <a:solidFill>
                  <a:srgbClr val="163244"/>
                </a:solidFill>
                <a:latin typeface="Liberation Sans"/>
              </a:defRPr>
            </a:pPr>
            <a:r>
              <a:t>Plan de Control</a:t>
            </a:r>
          </a:p>
          <a:p>
            <a:pPr>
              <a:spcAft>
                <a:spcPts val="719"/>
              </a:spcAft>
              <a:defRPr sz="2400" b="1">
                <a:solidFill>
                  <a:srgbClr val="163244"/>
                </a:solidFill>
                <a:latin typeface="Liberation Sans"/>
              </a:defRPr>
            </a:pPr>
            <a:r>
              <a:t>de Temperatura</a:t>
            </a:r>
          </a:p>
        </p:txBody>
      </p:sp>
      <p:sp>
        <p:nvSpPr>
          <p:cNvPr id="12" name="TextBox 11"/>
          <p:cNvSpPr txBox="1"/>
          <p:nvPr/>
        </p:nvSpPr>
        <p:spPr>
          <a:xfrm>
            <a:off x="795528" y="3474720"/>
            <a:ext cx="3163824" cy="1783080"/>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Recomendación, materiales,</a:t>
            </a:r>
          </a:p>
          <a:p>
            <a:pPr>
              <a:spcAft>
                <a:spcPts val="540"/>
              </a:spcAft>
              <a:defRPr sz="1800" b="0">
                <a:solidFill>
                  <a:srgbClr val="526572"/>
                </a:solidFill>
                <a:latin typeface="Liberation Sans"/>
              </a:defRPr>
            </a:pPr>
            <a:r>
              <a:t>vertidas, clima, riesgos,</a:t>
            </a:r>
          </a:p>
          <a:p>
            <a:pPr>
              <a:spcAft>
                <a:spcPts val="540"/>
              </a:spcAft>
              <a:defRPr sz="1800" b="0">
                <a:solidFill>
                  <a:srgbClr val="526572"/>
                </a:solidFill>
                <a:latin typeface="Liberation Sans"/>
              </a:defRPr>
            </a:pPr>
            <a:r>
              <a:t>monitoreo y contingencias.</a:t>
            </a:r>
          </a:p>
        </p:txBody>
      </p:sp>
      <p:sp>
        <p:nvSpPr>
          <p:cNvPr id="13" name="Rounded Rectangle 12"/>
          <p:cNvSpPr/>
          <p:nvPr/>
        </p:nvSpPr>
        <p:spPr>
          <a:xfrm>
            <a:off x="4315968" y="1783080"/>
            <a:ext cx="3566160" cy="3611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783080"/>
            <a:ext cx="50292" cy="3611880"/>
          </a:xfrm>
          <a:prstGeom prst="rect">
            <a:avLst/>
          </a:prstGeom>
          <a:solidFill>
            <a:srgbClr val="26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1947672"/>
            <a:ext cx="3163824" cy="320040"/>
          </a:xfrm>
          <a:prstGeom prst="rect">
            <a:avLst/>
          </a:prstGeom>
          <a:noFill/>
        </p:spPr>
        <p:txBody>
          <a:bodyPr wrap="square" lIns="0" rIns="0" tIns="0" bIns="0">
            <a:spAutoFit/>
          </a:bodyPr>
          <a:lstStyle/>
          <a:p>
            <a:pPr>
              <a:spcAft>
                <a:spcPts val="359"/>
              </a:spcAft>
              <a:defRPr sz="1200" b="1">
                <a:solidFill>
                  <a:srgbClr val="267F83"/>
                </a:solidFill>
                <a:latin typeface="Liberation Sans"/>
              </a:defRPr>
            </a:pPr>
            <a:r>
              <a:t>SOFTWARE</a:t>
            </a:r>
          </a:p>
        </p:txBody>
      </p:sp>
      <p:sp>
        <p:nvSpPr>
          <p:cNvPr id="16" name="TextBox 15"/>
          <p:cNvSpPr txBox="1"/>
          <p:nvPr/>
        </p:nvSpPr>
        <p:spPr>
          <a:xfrm>
            <a:off x="4517136" y="2377440"/>
            <a:ext cx="3163824" cy="731520"/>
          </a:xfrm>
          <a:prstGeom prst="rect">
            <a:avLst/>
          </a:prstGeom>
          <a:noFill/>
        </p:spPr>
        <p:txBody>
          <a:bodyPr wrap="square" lIns="0" rIns="0" tIns="0" bIns="0">
            <a:spAutoFit/>
          </a:bodyPr>
          <a:lstStyle/>
          <a:p>
            <a:pPr>
              <a:spcAft>
                <a:spcPts val="719"/>
              </a:spcAft>
              <a:defRPr sz="2400" b="1">
                <a:solidFill>
                  <a:srgbClr val="163244"/>
                </a:solidFill>
                <a:latin typeface="Liberation Sans"/>
              </a:defRPr>
            </a:pPr>
            <a:r>
              <a:t>Flujo reproducible</a:t>
            </a:r>
          </a:p>
        </p:txBody>
      </p:sp>
      <p:sp>
        <p:nvSpPr>
          <p:cNvPr id="17" name="TextBox 16"/>
          <p:cNvSpPr txBox="1"/>
          <p:nvPr/>
        </p:nvSpPr>
        <p:spPr>
          <a:xfrm>
            <a:off x="4517136" y="3200400"/>
            <a:ext cx="3163824" cy="2057400"/>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Instalar, verificar, simular</a:t>
            </a:r>
          </a:p>
          <a:p>
            <a:pPr>
              <a:spcAft>
                <a:spcPts val="540"/>
              </a:spcAft>
              <a:defRPr sz="1800" b="0">
                <a:solidFill>
                  <a:srgbClr val="526572"/>
                </a:solidFill>
                <a:latin typeface="Liberation Sans"/>
              </a:defRPr>
            </a:pPr>
            <a:r>
              <a:t>y comparar mediante</a:t>
            </a:r>
          </a:p>
          <a:p>
            <a:pPr>
              <a:spcAft>
                <a:spcPts val="540"/>
              </a:spcAft>
              <a:defRPr sz="1800" b="0">
                <a:solidFill>
                  <a:srgbClr val="526572"/>
                </a:solidFill>
                <a:latin typeface="Liberation Sans"/>
              </a:defRPr>
            </a:pPr>
            <a:r>
              <a:t>inputs declarativos.</a:t>
            </a:r>
          </a:p>
        </p:txBody>
      </p:sp>
      <p:sp>
        <p:nvSpPr>
          <p:cNvPr id="18" name="Rounded Rectangle 17"/>
          <p:cNvSpPr/>
          <p:nvPr/>
        </p:nvSpPr>
        <p:spPr>
          <a:xfrm>
            <a:off x="8037575" y="1783080"/>
            <a:ext cx="3566160" cy="3611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7575" y="1783080"/>
            <a:ext cx="50292" cy="3611880"/>
          </a:xfrm>
          <a:prstGeom prst="rect">
            <a:avLst/>
          </a:prstGeom>
          <a:solidFill>
            <a:srgbClr val="26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1947672"/>
            <a:ext cx="3163824" cy="320040"/>
          </a:xfrm>
          <a:prstGeom prst="rect">
            <a:avLst/>
          </a:prstGeom>
          <a:noFill/>
        </p:spPr>
        <p:txBody>
          <a:bodyPr wrap="square" lIns="0" rIns="0" tIns="0" bIns="0">
            <a:spAutoFit/>
          </a:bodyPr>
          <a:lstStyle/>
          <a:p>
            <a:pPr>
              <a:spcAft>
                <a:spcPts val="359"/>
              </a:spcAft>
              <a:defRPr sz="1200" b="1">
                <a:solidFill>
                  <a:srgbClr val="267F83"/>
                </a:solidFill>
                <a:latin typeface="Liberation Sans"/>
              </a:defRPr>
            </a:pPr>
            <a:r>
              <a:t>DEFENSA</a:t>
            </a:r>
          </a:p>
        </p:txBody>
      </p:sp>
      <p:sp>
        <p:nvSpPr>
          <p:cNvPr id="21" name="TextBox 20"/>
          <p:cNvSpPr txBox="1"/>
          <p:nvPr/>
        </p:nvSpPr>
        <p:spPr>
          <a:xfrm>
            <a:off x="8238744" y="2377440"/>
            <a:ext cx="3163824" cy="731520"/>
          </a:xfrm>
          <a:prstGeom prst="rect">
            <a:avLst/>
          </a:prstGeom>
          <a:noFill/>
        </p:spPr>
        <p:txBody>
          <a:bodyPr wrap="square" lIns="0" rIns="0" tIns="0" bIns="0">
            <a:spAutoFit/>
          </a:bodyPr>
          <a:lstStyle/>
          <a:p>
            <a:pPr>
              <a:spcAft>
                <a:spcPts val="719"/>
              </a:spcAft>
              <a:defRPr sz="2400" b="1">
                <a:solidFill>
                  <a:srgbClr val="163244"/>
                </a:solidFill>
                <a:latin typeface="Liberation Sans"/>
              </a:defRPr>
            </a:pPr>
            <a:r>
              <a:t>Decisión sometida</a:t>
            </a:r>
          </a:p>
          <a:p>
            <a:pPr>
              <a:spcAft>
                <a:spcPts val="719"/>
              </a:spcAft>
              <a:defRPr sz="2400" b="1">
                <a:solidFill>
                  <a:srgbClr val="163244"/>
                </a:solidFill>
                <a:latin typeface="Liberation Sans"/>
              </a:defRPr>
            </a:pPr>
            <a:r>
              <a:t>a prueba</a:t>
            </a:r>
          </a:p>
        </p:txBody>
      </p:sp>
      <p:sp>
        <p:nvSpPr>
          <p:cNvPr id="22" name="TextBox 21"/>
          <p:cNvSpPr txBox="1"/>
          <p:nvPr/>
        </p:nvSpPr>
        <p:spPr>
          <a:xfrm>
            <a:off x="8238744" y="3474720"/>
            <a:ext cx="3163824" cy="1783080"/>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Demo con cambios de inputs</a:t>
            </a:r>
          </a:p>
          <a:p>
            <a:pPr>
              <a:spcAft>
                <a:spcPts val="540"/>
              </a:spcAft>
              <a:defRPr sz="1800" b="0">
                <a:solidFill>
                  <a:srgbClr val="526572"/>
                </a:solidFill>
                <a:latin typeface="Liberation Sans"/>
              </a:defRPr>
            </a:pPr>
            <a:r>
              <a:t>y explicación individual</a:t>
            </a:r>
          </a:p>
          <a:p>
            <a:pPr>
              <a:spcAft>
                <a:spcPts val="540"/>
              </a:spcAft>
              <a:defRPr sz="1800" b="0">
                <a:solidFill>
                  <a:srgbClr val="526572"/>
                </a:solidFill>
                <a:latin typeface="Liberation Sans"/>
              </a:defRPr>
            </a:pPr>
            <a:r>
              <a:t>de sus consecuencias.</a:t>
            </a:r>
          </a:p>
        </p:txBody>
      </p:sp>
      <p:sp>
        <p:nvSpPr>
          <p:cNvPr id="23" name="Rounded Rectangle 22"/>
          <p:cNvSpPr/>
          <p:nvPr/>
        </p:nvSpPr>
        <p:spPr>
          <a:xfrm>
            <a:off x="502920" y="5705856"/>
            <a:ext cx="11183112" cy="457200"/>
          </a:xfrm>
          <a:prstGeom prst="roundRect">
            <a:avLst>
              <a:gd name="adj" fmla="val 8000"/>
            </a:avLst>
          </a:prstGeom>
          <a:solidFill>
            <a:srgbClr val="CD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5779008"/>
            <a:ext cx="10789920" cy="320040"/>
          </a:xfrm>
          <a:prstGeom prst="rect">
            <a:avLst/>
          </a:prstGeom>
          <a:noFill/>
        </p:spPr>
        <p:txBody>
          <a:bodyPr wrap="square" lIns="0" rIns="0" tIns="0" bIns="0">
            <a:spAutoFit/>
          </a:bodyPr>
          <a:lstStyle/>
          <a:p>
            <a:pPr>
              <a:spcAft>
                <a:spcPts val="480"/>
              </a:spcAft>
              <a:defRPr sz="1600" b="1">
                <a:solidFill>
                  <a:srgbClr val="163244"/>
                </a:solidFill>
                <a:latin typeface="Liberation Sans"/>
              </a:defRPr>
            </a:pPr>
            <a:r>
              <a:t>Fecha final: TBD · La construcción hipotética comienza ese mismo día.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CALENDARIO</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Cinco semanas para construir la evidencia</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01_CALENDARIO_Y_PUNTAJES.md · Fechas de 2026</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23</a:t>
            </a:r>
          </a:p>
        </p:txBody>
      </p:sp>
      <p:sp>
        <p:nvSpPr>
          <p:cNvPr id="8" name="Rectangle 7"/>
          <p:cNvSpPr/>
          <p:nvPr/>
        </p:nvSpPr>
        <p:spPr>
          <a:xfrm>
            <a:off x="685800" y="1783080"/>
            <a:ext cx="10835640" cy="475488"/>
          </a:xfrm>
          <a:prstGeom prst="rect">
            <a:avLst/>
          </a:prstGeom>
          <a:solidFill>
            <a:srgbClr val="16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892807"/>
            <a:ext cx="950976" cy="310896"/>
          </a:xfrm>
          <a:prstGeom prst="rect">
            <a:avLst/>
          </a:prstGeom>
          <a:noFill/>
        </p:spPr>
        <p:txBody>
          <a:bodyPr wrap="square" lIns="0" rIns="0" tIns="0" bIns="0">
            <a:spAutoFit/>
          </a:bodyPr>
          <a:lstStyle/>
          <a:p>
            <a:pPr>
              <a:spcAft>
                <a:spcPts val="600"/>
              </a:spcAft>
              <a:defRPr sz="2000" b="1">
                <a:solidFill>
                  <a:srgbClr val="FFFFFF"/>
                </a:solidFill>
                <a:latin typeface="Liberation Sans"/>
              </a:defRPr>
            </a:pPr>
            <a:r>
              <a:t>Semana</a:t>
            </a:r>
          </a:p>
        </p:txBody>
      </p:sp>
      <p:sp>
        <p:nvSpPr>
          <p:cNvPr id="10" name="TextBox 9"/>
          <p:cNvSpPr txBox="1"/>
          <p:nvPr/>
        </p:nvSpPr>
        <p:spPr>
          <a:xfrm>
            <a:off x="1993391" y="1892807"/>
            <a:ext cx="1591056" cy="310896"/>
          </a:xfrm>
          <a:prstGeom prst="rect">
            <a:avLst/>
          </a:prstGeom>
          <a:noFill/>
        </p:spPr>
        <p:txBody>
          <a:bodyPr wrap="square" lIns="0" rIns="0" tIns="0" bIns="0">
            <a:spAutoFit/>
          </a:bodyPr>
          <a:lstStyle/>
          <a:p>
            <a:pPr>
              <a:spcAft>
                <a:spcPts val="600"/>
              </a:spcAft>
              <a:defRPr sz="2000" b="1">
                <a:solidFill>
                  <a:srgbClr val="FFFFFF"/>
                </a:solidFill>
                <a:latin typeface="Liberation Sans"/>
              </a:defRPr>
            </a:pPr>
            <a:r>
              <a:t>Fechas</a:t>
            </a:r>
          </a:p>
        </p:txBody>
      </p:sp>
      <p:sp>
        <p:nvSpPr>
          <p:cNvPr id="11" name="TextBox 10"/>
          <p:cNvSpPr txBox="1"/>
          <p:nvPr/>
        </p:nvSpPr>
        <p:spPr>
          <a:xfrm>
            <a:off x="3822191" y="1892807"/>
            <a:ext cx="6163056" cy="310896"/>
          </a:xfrm>
          <a:prstGeom prst="rect">
            <a:avLst/>
          </a:prstGeom>
          <a:noFill/>
        </p:spPr>
        <p:txBody>
          <a:bodyPr wrap="square" lIns="0" rIns="0" tIns="0" bIns="0">
            <a:spAutoFit/>
          </a:bodyPr>
          <a:lstStyle/>
          <a:p>
            <a:pPr>
              <a:spcAft>
                <a:spcPts val="600"/>
              </a:spcAft>
              <a:defRPr sz="2000" b="1">
                <a:solidFill>
                  <a:srgbClr val="FFFFFF"/>
                </a:solidFill>
                <a:latin typeface="Liberation Sans"/>
              </a:defRPr>
            </a:pPr>
            <a:r>
              <a:t>Hito</a:t>
            </a:r>
          </a:p>
        </p:txBody>
      </p:sp>
      <p:sp>
        <p:nvSpPr>
          <p:cNvPr id="12" name="TextBox 11"/>
          <p:cNvSpPr txBox="1"/>
          <p:nvPr/>
        </p:nvSpPr>
        <p:spPr>
          <a:xfrm>
            <a:off x="10222992" y="1892807"/>
            <a:ext cx="1179576" cy="310896"/>
          </a:xfrm>
          <a:prstGeom prst="rect">
            <a:avLst/>
          </a:prstGeom>
          <a:noFill/>
        </p:spPr>
        <p:txBody>
          <a:bodyPr wrap="square" lIns="0" rIns="0" tIns="0" bIns="0">
            <a:spAutoFit/>
          </a:bodyPr>
          <a:lstStyle/>
          <a:p>
            <a:pPr>
              <a:spcAft>
                <a:spcPts val="600"/>
              </a:spcAft>
              <a:defRPr sz="2000" b="1">
                <a:solidFill>
                  <a:srgbClr val="FFFFFF"/>
                </a:solidFill>
                <a:latin typeface="Liberation Sans"/>
              </a:defRPr>
            </a:pPr>
            <a:r>
              <a:t>Puntos</a:t>
            </a:r>
          </a:p>
        </p:txBody>
      </p:sp>
      <p:sp>
        <p:nvSpPr>
          <p:cNvPr id="13" name="Rectangle 12"/>
          <p:cNvSpPr/>
          <p:nvPr/>
        </p:nvSpPr>
        <p:spPr>
          <a:xfrm>
            <a:off x="685800" y="2258568"/>
            <a:ext cx="1083564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2368296"/>
            <a:ext cx="95097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W1</a:t>
            </a:r>
          </a:p>
        </p:txBody>
      </p:sp>
      <p:sp>
        <p:nvSpPr>
          <p:cNvPr id="15" name="TextBox 14"/>
          <p:cNvSpPr txBox="1"/>
          <p:nvPr/>
        </p:nvSpPr>
        <p:spPr>
          <a:xfrm>
            <a:off x="1993391" y="2368296"/>
            <a:ext cx="159105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21–23 oct</a:t>
            </a:r>
          </a:p>
        </p:txBody>
      </p:sp>
      <p:sp>
        <p:nvSpPr>
          <p:cNvPr id="16" name="TextBox 15"/>
          <p:cNvSpPr txBox="1"/>
          <p:nvPr/>
        </p:nvSpPr>
        <p:spPr>
          <a:xfrm>
            <a:off x="3822191" y="2368296"/>
            <a:ext cx="616305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IFC + solver 1D verificado</a:t>
            </a:r>
          </a:p>
        </p:txBody>
      </p:sp>
      <p:sp>
        <p:nvSpPr>
          <p:cNvPr id="17" name="TextBox 16"/>
          <p:cNvSpPr txBox="1"/>
          <p:nvPr/>
        </p:nvSpPr>
        <p:spPr>
          <a:xfrm>
            <a:off x="10222992" y="2368296"/>
            <a:ext cx="117957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8</a:t>
            </a:r>
          </a:p>
        </p:txBody>
      </p:sp>
      <p:sp>
        <p:nvSpPr>
          <p:cNvPr id="18" name="Rectangle 17"/>
          <p:cNvSpPr/>
          <p:nvPr/>
        </p:nvSpPr>
        <p:spPr>
          <a:xfrm>
            <a:off x="685800" y="2825496"/>
            <a:ext cx="10835640" cy="566928"/>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2935224"/>
            <a:ext cx="95097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W2</a:t>
            </a:r>
          </a:p>
        </p:txBody>
      </p:sp>
      <p:sp>
        <p:nvSpPr>
          <p:cNvPr id="20" name="TextBox 19"/>
          <p:cNvSpPr txBox="1"/>
          <p:nvPr/>
        </p:nvSpPr>
        <p:spPr>
          <a:xfrm>
            <a:off x="1993391" y="2935224"/>
            <a:ext cx="159105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28–30 oct</a:t>
            </a:r>
          </a:p>
        </p:txBody>
      </p:sp>
      <p:sp>
        <p:nvSpPr>
          <p:cNvPr id="21" name="TextBox 20"/>
          <p:cNvSpPr txBox="1"/>
          <p:nvPr/>
        </p:nvSpPr>
        <p:spPr>
          <a:xfrm>
            <a:off x="3822191" y="2935224"/>
            <a:ext cx="616305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Batería 2D/3D + BIM base</a:t>
            </a:r>
          </a:p>
        </p:txBody>
      </p:sp>
      <p:sp>
        <p:nvSpPr>
          <p:cNvPr id="22" name="TextBox 21"/>
          <p:cNvSpPr txBox="1"/>
          <p:nvPr/>
        </p:nvSpPr>
        <p:spPr>
          <a:xfrm>
            <a:off x="10222992" y="2935224"/>
            <a:ext cx="117957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10</a:t>
            </a:r>
          </a:p>
        </p:txBody>
      </p:sp>
      <p:sp>
        <p:nvSpPr>
          <p:cNvPr id="23" name="Rectangle 22"/>
          <p:cNvSpPr/>
          <p:nvPr/>
        </p:nvSpPr>
        <p:spPr>
          <a:xfrm>
            <a:off x="685800" y="3392424"/>
            <a:ext cx="1083564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3502152"/>
            <a:ext cx="95097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W3</a:t>
            </a:r>
          </a:p>
        </p:txBody>
      </p:sp>
      <p:sp>
        <p:nvSpPr>
          <p:cNvPr id="25" name="TextBox 24"/>
          <p:cNvSpPr txBox="1"/>
          <p:nvPr/>
        </p:nvSpPr>
        <p:spPr>
          <a:xfrm>
            <a:off x="1993391" y="3502152"/>
            <a:ext cx="159105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4–6 nov</a:t>
            </a:r>
          </a:p>
        </p:txBody>
      </p:sp>
      <p:sp>
        <p:nvSpPr>
          <p:cNvPr id="26" name="TextBox 25"/>
          <p:cNvSpPr txBox="1"/>
          <p:nvPr/>
        </p:nvSpPr>
        <p:spPr>
          <a:xfrm>
            <a:off x="3822191" y="3502152"/>
            <a:ext cx="616305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Voxeles + vertidas + hidratación</a:t>
            </a:r>
          </a:p>
        </p:txBody>
      </p:sp>
      <p:sp>
        <p:nvSpPr>
          <p:cNvPr id="27" name="TextBox 26"/>
          <p:cNvSpPr txBox="1"/>
          <p:nvPr/>
        </p:nvSpPr>
        <p:spPr>
          <a:xfrm>
            <a:off x="10222992" y="3502152"/>
            <a:ext cx="117957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10</a:t>
            </a:r>
          </a:p>
        </p:txBody>
      </p:sp>
      <p:sp>
        <p:nvSpPr>
          <p:cNvPr id="28" name="Rectangle 27"/>
          <p:cNvSpPr/>
          <p:nvPr/>
        </p:nvSpPr>
        <p:spPr>
          <a:xfrm>
            <a:off x="685800" y="3959352"/>
            <a:ext cx="10835640" cy="566928"/>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069080"/>
            <a:ext cx="95097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W4</a:t>
            </a:r>
          </a:p>
        </p:txBody>
      </p:sp>
      <p:sp>
        <p:nvSpPr>
          <p:cNvPr id="30" name="TextBox 29"/>
          <p:cNvSpPr txBox="1"/>
          <p:nvPr/>
        </p:nvSpPr>
        <p:spPr>
          <a:xfrm>
            <a:off x="1993391" y="4069080"/>
            <a:ext cx="159105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11–13 nov</a:t>
            </a:r>
          </a:p>
        </p:txBody>
      </p:sp>
      <p:sp>
        <p:nvSpPr>
          <p:cNvPr id="31" name="TextBox 30"/>
          <p:cNvSpPr txBox="1"/>
          <p:nvPr/>
        </p:nvSpPr>
        <p:spPr>
          <a:xfrm>
            <a:off x="3822191" y="4069080"/>
            <a:ext cx="616305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Clima + simulación de 14 días</a:t>
            </a:r>
          </a:p>
        </p:txBody>
      </p:sp>
      <p:sp>
        <p:nvSpPr>
          <p:cNvPr id="32" name="TextBox 31"/>
          <p:cNvSpPr txBox="1"/>
          <p:nvPr/>
        </p:nvSpPr>
        <p:spPr>
          <a:xfrm>
            <a:off x="10222992" y="4069080"/>
            <a:ext cx="117957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10</a:t>
            </a:r>
          </a:p>
        </p:txBody>
      </p:sp>
      <p:sp>
        <p:nvSpPr>
          <p:cNvPr id="33" name="Rectangle 32"/>
          <p:cNvSpPr/>
          <p:nvPr/>
        </p:nvSpPr>
        <p:spPr>
          <a:xfrm>
            <a:off x="685800" y="4526279"/>
            <a:ext cx="1083564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 y="4636007"/>
            <a:ext cx="95097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W5</a:t>
            </a:r>
          </a:p>
        </p:txBody>
      </p:sp>
      <p:sp>
        <p:nvSpPr>
          <p:cNvPr id="35" name="TextBox 34"/>
          <p:cNvSpPr txBox="1"/>
          <p:nvPr/>
        </p:nvSpPr>
        <p:spPr>
          <a:xfrm>
            <a:off x="1993391" y="4636007"/>
            <a:ext cx="159105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18–20 nov</a:t>
            </a:r>
          </a:p>
        </p:txBody>
      </p:sp>
      <p:sp>
        <p:nvSpPr>
          <p:cNvPr id="36" name="TextBox 35"/>
          <p:cNvSpPr txBox="1"/>
          <p:nvPr/>
        </p:nvSpPr>
        <p:spPr>
          <a:xfrm>
            <a:off x="3822191" y="4636007"/>
            <a:ext cx="616305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Monte Carlo + HPC + tres planes</a:t>
            </a:r>
          </a:p>
        </p:txBody>
      </p:sp>
      <p:sp>
        <p:nvSpPr>
          <p:cNvPr id="37" name="TextBox 36"/>
          <p:cNvSpPr txBox="1"/>
          <p:nvPr/>
        </p:nvSpPr>
        <p:spPr>
          <a:xfrm>
            <a:off x="10222992" y="4636007"/>
            <a:ext cx="1179576" cy="420623"/>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12</a:t>
            </a:r>
          </a:p>
        </p:txBody>
      </p:sp>
      <p:sp>
        <p:nvSpPr>
          <p:cNvPr id="38" name="Rounded Rectangle 37"/>
          <p:cNvSpPr/>
          <p:nvPr/>
        </p:nvSpPr>
        <p:spPr>
          <a:xfrm>
            <a:off x="502920" y="5705856"/>
            <a:ext cx="11183112" cy="457200"/>
          </a:xfrm>
          <a:prstGeom prst="roundRect">
            <a:avLst>
              <a:gd name="adj" fmla="val 8000"/>
            </a:avLst>
          </a:prstGeom>
          <a:solidFill>
            <a:srgbClr val="CD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3232" y="5779008"/>
            <a:ext cx="10789920" cy="320040"/>
          </a:xfrm>
          <a:prstGeom prst="rect">
            <a:avLst/>
          </a:prstGeom>
          <a:noFill/>
        </p:spPr>
        <p:txBody>
          <a:bodyPr wrap="square" lIns="0" rIns="0" tIns="0" bIns="0">
            <a:spAutoFit/>
          </a:bodyPr>
          <a:lstStyle/>
          <a:p>
            <a:pPr>
              <a:spcAft>
                <a:spcPts val="480"/>
              </a:spcAft>
              <a:defRPr sz="1600" b="1">
                <a:solidFill>
                  <a:srgbClr val="163244"/>
                </a:solidFill>
                <a:latin typeface="Liberation Sans"/>
              </a:defRPr>
            </a:pPr>
            <a:r>
              <a:t>20 noviembre: fin de clases · Desde el 21: cierre y corridas finales, sin nuevas exigencias semanales.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PUNTAJES</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La evaluación exige comprensión individual</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01_CALENDARIO_Y_PUNTAJES.md · 00_PROYECTO_GENERAL.md §14–15</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24</a:t>
            </a:r>
          </a:p>
        </p:txBody>
      </p:sp>
      <p:sp>
        <p:nvSpPr>
          <p:cNvPr id="8" name="TextBox 7"/>
          <p:cNvSpPr txBox="1"/>
          <p:nvPr/>
        </p:nvSpPr>
        <p:spPr>
          <a:xfrm>
            <a:off x="731520" y="1828800"/>
            <a:ext cx="4023360" cy="457200"/>
          </a:xfrm>
          <a:prstGeom prst="rect">
            <a:avLst/>
          </a:prstGeom>
          <a:noFill/>
        </p:spPr>
        <p:txBody>
          <a:bodyPr wrap="square" lIns="0" rIns="0" tIns="0" bIns="0">
            <a:spAutoFit/>
          </a:bodyPr>
          <a:lstStyle/>
          <a:p>
            <a:pPr>
              <a:spcAft>
                <a:spcPts val="719"/>
              </a:spcAft>
              <a:defRPr sz="2400" b="1">
                <a:solidFill>
                  <a:srgbClr val="163244"/>
                </a:solidFill>
                <a:latin typeface="Liberation Sans"/>
              </a:defRPr>
            </a:pPr>
            <a:r>
              <a:t>Desarrollo semanal</a:t>
            </a:r>
          </a:p>
        </p:txBody>
      </p:sp>
      <p:sp>
        <p:nvSpPr>
          <p:cNvPr id="9" name="Rectangle 8"/>
          <p:cNvSpPr/>
          <p:nvPr/>
        </p:nvSpPr>
        <p:spPr>
          <a:xfrm>
            <a:off x="4572000" y="1856231"/>
            <a:ext cx="5669280" cy="384048"/>
          </a:xfrm>
          <a:prstGeom prst="rect">
            <a:avLst/>
          </a:prstGeom>
          <a:solidFill>
            <a:srgbClr val="26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61320" y="1810512"/>
            <a:ext cx="914400" cy="457200"/>
          </a:xfrm>
          <a:prstGeom prst="rect">
            <a:avLst/>
          </a:prstGeom>
          <a:noFill/>
        </p:spPr>
        <p:txBody>
          <a:bodyPr wrap="square" lIns="0" rIns="0" tIns="0" bIns="0">
            <a:spAutoFit/>
          </a:bodyPr>
          <a:lstStyle/>
          <a:p>
            <a:pPr>
              <a:spcAft>
                <a:spcPts val="810"/>
              </a:spcAft>
              <a:defRPr sz="2700" b="1">
                <a:solidFill>
                  <a:srgbClr val="267F83"/>
                </a:solidFill>
                <a:latin typeface="Liberation Sans"/>
              </a:defRPr>
            </a:pPr>
            <a:r>
              <a:t>50</a:t>
            </a:r>
          </a:p>
        </p:txBody>
      </p:sp>
      <p:sp>
        <p:nvSpPr>
          <p:cNvPr id="11" name="TextBox 10"/>
          <p:cNvSpPr txBox="1"/>
          <p:nvPr/>
        </p:nvSpPr>
        <p:spPr>
          <a:xfrm>
            <a:off x="731520" y="2880360"/>
            <a:ext cx="4023360" cy="457200"/>
          </a:xfrm>
          <a:prstGeom prst="rect">
            <a:avLst/>
          </a:prstGeom>
          <a:noFill/>
        </p:spPr>
        <p:txBody>
          <a:bodyPr wrap="square" lIns="0" rIns="0" tIns="0" bIns="0">
            <a:spAutoFit/>
          </a:bodyPr>
          <a:lstStyle/>
          <a:p>
            <a:pPr>
              <a:spcAft>
                <a:spcPts val="719"/>
              </a:spcAft>
              <a:defRPr sz="2400" b="1">
                <a:solidFill>
                  <a:srgbClr val="163244"/>
                </a:solidFill>
                <a:latin typeface="Liberation Sans"/>
              </a:defRPr>
            </a:pPr>
            <a:r>
              <a:t>Plan escrito final</a:t>
            </a:r>
          </a:p>
        </p:txBody>
      </p:sp>
      <p:sp>
        <p:nvSpPr>
          <p:cNvPr id="12" name="Rectangle 11"/>
          <p:cNvSpPr/>
          <p:nvPr/>
        </p:nvSpPr>
        <p:spPr>
          <a:xfrm>
            <a:off x="4572000" y="2907791"/>
            <a:ext cx="1133856" cy="384048"/>
          </a:xfrm>
          <a:prstGeom prst="rect">
            <a:avLst/>
          </a:prstGeom>
          <a:solidFill>
            <a:srgbClr val="DE6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61320" y="2862072"/>
            <a:ext cx="914400" cy="457200"/>
          </a:xfrm>
          <a:prstGeom prst="rect">
            <a:avLst/>
          </a:prstGeom>
          <a:noFill/>
        </p:spPr>
        <p:txBody>
          <a:bodyPr wrap="square" lIns="0" rIns="0" tIns="0" bIns="0">
            <a:spAutoFit/>
          </a:bodyPr>
          <a:lstStyle/>
          <a:p>
            <a:pPr>
              <a:spcAft>
                <a:spcPts val="810"/>
              </a:spcAft>
              <a:defRPr sz="2700" b="1">
                <a:solidFill>
                  <a:srgbClr val="DE633F"/>
                </a:solidFill>
                <a:latin typeface="Liberation Sans"/>
              </a:defRPr>
            </a:pPr>
            <a:r>
              <a:t>10</a:t>
            </a:r>
          </a:p>
        </p:txBody>
      </p:sp>
      <p:sp>
        <p:nvSpPr>
          <p:cNvPr id="14" name="TextBox 13"/>
          <p:cNvSpPr txBox="1"/>
          <p:nvPr/>
        </p:nvSpPr>
        <p:spPr>
          <a:xfrm>
            <a:off x="731520" y="3931920"/>
            <a:ext cx="4023360" cy="457200"/>
          </a:xfrm>
          <a:prstGeom prst="rect">
            <a:avLst/>
          </a:prstGeom>
          <a:noFill/>
        </p:spPr>
        <p:txBody>
          <a:bodyPr wrap="square" lIns="0" rIns="0" tIns="0" bIns="0">
            <a:spAutoFit/>
          </a:bodyPr>
          <a:lstStyle/>
          <a:p>
            <a:pPr>
              <a:spcAft>
                <a:spcPts val="719"/>
              </a:spcAft>
              <a:defRPr sz="2400" b="1">
                <a:solidFill>
                  <a:srgbClr val="163244"/>
                </a:solidFill>
                <a:latin typeface="Liberation Sans"/>
              </a:defRPr>
            </a:pPr>
            <a:r>
              <a:t>Defensa final</a:t>
            </a:r>
          </a:p>
        </p:txBody>
      </p:sp>
      <p:sp>
        <p:nvSpPr>
          <p:cNvPr id="15" name="Rectangle 14"/>
          <p:cNvSpPr/>
          <p:nvPr/>
        </p:nvSpPr>
        <p:spPr>
          <a:xfrm>
            <a:off x="4572000" y="3959352"/>
            <a:ext cx="4535424" cy="384048"/>
          </a:xfrm>
          <a:prstGeom prst="rect">
            <a:avLst/>
          </a:prstGeom>
          <a:solidFill>
            <a:srgbClr val="16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61320" y="3913632"/>
            <a:ext cx="914400" cy="457200"/>
          </a:xfrm>
          <a:prstGeom prst="rect">
            <a:avLst/>
          </a:prstGeom>
          <a:noFill/>
        </p:spPr>
        <p:txBody>
          <a:bodyPr wrap="square" lIns="0" rIns="0" tIns="0" bIns="0">
            <a:spAutoFit/>
          </a:bodyPr>
          <a:lstStyle/>
          <a:p>
            <a:pPr>
              <a:spcAft>
                <a:spcPts val="810"/>
              </a:spcAft>
              <a:defRPr sz="2700" b="1">
                <a:solidFill>
                  <a:srgbClr val="163244"/>
                </a:solidFill>
                <a:latin typeface="Liberation Sans"/>
              </a:defRPr>
            </a:pPr>
            <a:r>
              <a:t>40</a:t>
            </a:r>
          </a:p>
        </p:txBody>
      </p:sp>
      <p:sp>
        <p:nvSpPr>
          <p:cNvPr id="17" name="TextBox 16"/>
          <p:cNvSpPr txBox="1"/>
          <p:nvPr/>
        </p:nvSpPr>
        <p:spPr>
          <a:xfrm>
            <a:off x="822960" y="5120640"/>
            <a:ext cx="5486400" cy="914400"/>
          </a:xfrm>
          <a:prstGeom prst="rect">
            <a:avLst/>
          </a:prstGeom>
          <a:noFill/>
        </p:spPr>
        <p:txBody>
          <a:bodyPr wrap="square" lIns="0" rIns="0" tIns="0" bIns="0">
            <a:spAutoFit/>
          </a:bodyPr>
          <a:lstStyle/>
          <a:p>
            <a:pPr>
              <a:spcAft>
                <a:spcPts val="600"/>
              </a:spcAft>
              <a:defRPr sz="2000" b="0">
                <a:solidFill>
                  <a:srgbClr val="526572"/>
                </a:solidFill>
                <a:latin typeface="Liberation Sans"/>
              </a:defRPr>
            </a:pPr>
            <a:r>
              <a:t>Cada actividad declara repositorio y commit.</a:t>
            </a:r>
          </a:p>
          <a:p>
            <a:pPr>
              <a:spcAft>
                <a:spcPts val="600"/>
              </a:spcAft>
              <a:defRPr sz="2000" b="0">
                <a:solidFill>
                  <a:srgbClr val="526572"/>
                </a:solidFill>
                <a:latin typeface="Liberation Sans"/>
              </a:defRPr>
            </a:pPr>
            <a:r>
              <a:t>El SHA se congela al iniciar la evaluación.</a:t>
            </a:r>
          </a:p>
        </p:txBody>
      </p:sp>
      <p:sp>
        <p:nvSpPr>
          <p:cNvPr id="18" name="TextBox 17"/>
          <p:cNvSpPr txBox="1"/>
          <p:nvPr/>
        </p:nvSpPr>
        <p:spPr>
          <a:xfrm>
            <a:off x="6583680" y="5120640"/>
            <a:ext cx="4937760" cy="914400"/>
          </a:xfrm>
          <a:prstGeom prst="rect">
            <a:avLst/>
          </a:prstGeom>
          <a:noFill/>
        </p:spPr>
        <p:txBody>
          <a:bodyPr wrap="square" lIns="0" rIns="0" tIns="0" bIns="0">
            <a:spAutoFit/>
          </a:bodyPr>
          <a:lstStyle/>
          <a:p>
            <a:pPr>
              <a:spcAft>
                <a:spcPts val="600"/>
              </a:spcAft>
              <a:defRPr sz="2000" b="1">
                <a:solidFill>
                  <a:srgbClr val="267F83"/>
                </a:solidFill>
                <a:latin typeface="Liberation Sans"/>
              </a:defRPr>
            </a:pPr>
            <a:r>
              <a:t>IA permitida. Cada integrante debe</a:t>
            </a:r>
          </a:p>
          <a:p>
            <a:pPr>
              <a:spcAft>
                <a:spcPts val="600"/>
              </a:spcAft>
              <a:defRPr sz="2000" b="1">
                <a:solidFill>
                  <a:srgbClr val="267F83"/>
                </a:solidFill>
                <a:latin typeface="Liberation Sans"/>
              </a:defRPr>
            </a:pPr>
            <a:r>
              <a:t>poder explicar código, física y resultados.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DEFENSA FINAL</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La defensa comienza por la recomendación</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F02 · Máximo 20 minutos por grupo · 9 grupos en 3 horas</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25</a:t>
            </a:r>
          </a:p>
        </p:txBody>
      </p:sp>
      <p:sp>
        <p:nvSpPr>
          <p:cNvPr id="8" name="Rounded Rectangle 7"/>
          <p:cNvSpPr/>
          <p:nvPr/>
        </p:nvSpPr>
        <p:spPr>
          <a:xfrm>
            <a:off x="685800" y="2011680"/>
            <a:ext cx="2514600" cy="19659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86000"/>
            <a:ext cx="2057400" cy="640080"/>
          </a:xfrm>
          <a:prstGeom prst="rect">
            <a:avLst/>
          </a:prstGeom>
          <a:noFill/>
        </p:spPr>
        <p:txBody>
          <a:bodyPr wrap="square" lIns="0" rIns="0" tIns="0" bIns="0">
            <a:spAutoFit/>
          </a:bodyPr>
          <a:lstStyle/>
          <a:p>
            <a:pPr>
              <a:spcAft>
                <a:spcPts val="1080"/>
              </a:spcAft>
              <a:defRPr sz="3600" b="1">
                <a:solidFill>
                  <a:srgbClr val="267F83"/>
                </a:solidFill>
                <a:latin typeface="Liberation Sans"/>
              </a:defRPr>
            </a:pPr>
            <a:r>
              <a:t>8 min</a:t>
            </a:r>
          </a:p>
        </p:txBody>
      </p:sp>
      <p:sp>
        <p:nvSpPr>
          <p:cNvPr id="10" name="TextBox 9"/>
          <p:cNvSpPr txBox="1"/>
          <p:nvPr/>
        </p:nvSpPr>
        <p:spPr>
          <a:xfrm>
            <a:off x="914400" y="3218688"/>
            <a:ext cx="2057400" cy="502920"/>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Presentación</a:t>
            </a:r>
          </a:p>
        </p:txBody>
      </p:sp>
      <p:sp>
        <p:nvSpPr>
          <p:cNvPr id="11" name="Rounded Rectangle 10"/>
          <p:cNvSpPr/>
          <p:nvPr/>
        </p:nvSpPr>
        <p:spPr>
          <a:xfrm>
            <a:off x="3538728" y="2011680"/>
            <a:ext cx="2514600" cy="19659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67328" y="2286000"/>
            <a:ext cx="2057400" cy="640080"/>
          </a:xfrm>
          <a:prstGeom prst="rect">
            <a:avLst/>
          </a:prstGeom>
          <a:noFill/>
        </p:spPr>
        <p:txBody>
          <a:bodyPr wrap="square" lIns="0" rIns="0" tIns="0" bIns="0">
            <a:spAutoFit/>
          </a:bodyPr>
          <a:lstStyle/>
          <a:p>
            <a:pPr>
              <a:spcAft>
                <a:spcPts val="1080"/>
              </a:spcAft>
              <a:defRPr sz="3600" b="1">
                <a:solidFill>
                  <a:srgbClr val="DE633F"/>
                </a:solidFill>
                <a:latin typeface="Liberation Sans"/>
              </a:defRPr>
            </a:pPr>
            <a:r>
              <a:t>5 min</a:t>
            </a:r>
          </a:p>
        </p:txBody>
      </p:sp>
      <p:sp>
        <p:nvSpPr>
          <p:cNvPr id="13" name="TextBox 12"/>
          <p:cNvSpPr txBox="1"/>
          <p:nvPr/>
        </p:nvSpPr>
        <p:spPr>
          <a:xfrm>
            <a:off x="3767328" y="3218688"/>
            <a:ext cx="2057400" cy="502920"/>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Demo / stress test</a:t>
            </a:r>
          </a:p>
        </p:txBody>
      </p:sp>
      <p:sp>
        <p:nvSpPr>
          <p:cNvPr id="14" name="Rounded Rectangle 13"/>
          <p:cNvSpPr/>
          <p:nvPr/>
        </p:nvSpPr>
        <p:spPr>
          <a:xfrm>
            <a:off x="6391656" y="2011680"/>
            <a:ext cx="2514600" cy="19659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0256" y="2286000"/>
            <a:ext cx="2057400" cy="640080"/>
          </a:xfrm>
          <a:prstGeom prst="rect">
            <a:avLst/>
          </a:prstGeom>
          <a:noFill/>
        </p:spPr>
        <p:txBody>
          <a:bodyPr wrap="square" lIns="0" rIns="0" tIns="0" bIns="0">
            <a:spAutoFit/>
          </a:bodyPr>
          <a:lstStyle/>
          <a:p>
            <a:pPr>
              <a:spcAft>
                <a:spcPts val="1080"/>
              </a:spcAft>
              <a:defRPr sz="3600" b="1">
                <a:solidFill>
                  <a:srgbClr val="163244"/>
                </a:solidFill>
                <a:latin typeface="Liberation Sans"/>
              </a:defRPr>
            </a:pPr>
            <a:r>
              <a:t>5 min</a:t>
            </a:r>
          </a:p>
        </p:txBody>
      </p:sp>
      <p:sp>
        <p:nvSpPr>
          <p:cNvPr id="16" name="TextBox 15"/>
          <p:cNvSpPr txBox="1"/>
          <p:nvPr/>
        </p:nvSpPr>
        <p:spPr>
          <a:xfrm>
            <a:off x="6620256" y="3218688"/>
            <a:ext cx="2057400" cy="502920"/>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Preguntas</a:t>
            </a:r>
          </a:p>
        </p:txBody>
      </p:sp>
      <p:sp>
        <p:nvSpPr>
          <p:cNvPr id="17" name="Rounded Rectangle 16"/>
          <p:cNvSpPr/>
          <p:nvPr/>
        </p:nvSpPr>
        <p:spPr>
          <a:xfrm>
            <a:off x="9244584" y="2011680"/>
            <a:ext cx="2514600" cy="19659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73184" y="2286000"/>
            <a:ext cx="2057400" cy="640080"/>
          </a:xfrm>
          <a:prstGeom prst="rect">
            <a:avLst/>
          </a:prstGeom>
          <a:noFill/>
        </p:spPr>
        <p:txBody>
          <a:bodyPr wrap="square" lIns="0" rIns="0" tIns="0" bIns="0">
            <a:spAutoFit/>
          </a:bodyPr>
          <a:lstStyle/>
          <a:p>
            <a:pPr>
              <a:spcAft>
                <a:spcPts val="1080"/>
              </a:spcAft>
              <a:defRPr sz="3600" b="1">
                <a:solidFill>
                  <a:srgbClr val="526572"/>
                </a:solidFill>
                <a:latin typeface="Liberation Sans"/>
              </a:defRPr>
            </a:pPr>
            <a:r>
              <a:t>2 min</a:t>
            </a:r>
          </a:p>
        </p:txBody>
      </p:sp>
      <p:sp>
        <p:nvSpPr>
          <p:cNvPr id="19" name="TextBox 18"/>
          <p:cNvSpPr txBox="1"/>
          <p:nvPr/>
        </p:nvSpPr>
        <p:spPr>
          <a:xfrm>
            <a:off x="9473184" y="3218688"/>
            <a:ext cx="2057400" cy="502920"/>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Transición</a:t>
            </a:r>
          </a:p>
        </p:txBody>
      </p:sp>
      <p:sp>
        <p:nvSpPr>
          <p:cNvPr id="20" name="TextBox 19"/>
          <p:cNvSpPr txBox="1"/>
          <p:nvPr/>
        </p:nvSpPr>
        <p:spPr>
          <a:xfrm>
            <a:off x="777240" y="4526280"/>
            <a:ext cx="10698480" cy="914400"/>
          </a:xfrm>
          <a:prstGeom prst="rect">
            <a:avLst/>
          </a:prstGeom>
          <a:noFill/>
        </p:spPr>
        <p:txBody>
          <a:bodyPr wrap="square" lIns="0" rIns="0" tIns="0" bIns="0">
            <a:spAutoFit/>
          </a:bodyPr>
          <a:lstStyle/>
          <a:p>
            <a:pPr>
              <a:spcAft>
                <a:spcPts val="840"/>
              </a:spcAft>
              <a:defRPr sz="2800" b="1">
                <a:solidFill>
                  <a:srgbClr val="163244"/>
                </a:solidFill>
                <a:latin typeface="Liberation Sans"/>
              </a:defRPr>
            </a:pPr>
            <a:r>
              <a:t>En vivo: cambiar un input, ejecutar y explicar si cambia la decisión.</a:t>
            </a:r>
          </a:p>
        </p:txBody>
      </p:sp>
      <p:sp>
        <p:nvSpPr>
          <p:cNvPr id="21" name="Rounded Rectangle 20"/>
          <p:cNvSpPr/>
          <p:nvPr/>
        </p:nvSpPr>
        <p:spPr>
          <a:xfrm>
            <a:off x="502920" y="5705856"/>
            <a:ext cx="11183112" cy="457200"/>
          </a:xfrm>
          <a:prstGeom prst="roundRect">
            <a:avLst>
              <a:gd name="adj" fmla="val 8000"/>
            </a:avLst>
          </a:prstGeom>
          <a:solidFill>
            <a:srgbClr val="CD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5779008"/>
            <a:ext cx="10789920" cy="320040"/>
          </a:xfrm>
          <a:prstGeom prst="rect">
            <a:avLst/>
          </a:prstGeom>
          <a:noFill/>
        </p:spPr>
        <p:txBody>
          <a:bodyPr wrap="square" lIns="0" rIns="0" tIns="0" bIns="0">
            <a:spAutoFit/>
          </a:bodyPr>
          <a:lstStyle/>
          <a:p>
            <a:pPr>
              <a:spcAft>
                <a:spcPts val="480"/>
              </a:spcAft>
              <a:defRPr sz="1600" b="1">
                <a:solidFill>
                  <a:srgbClr val="163244"/>
                </a:solidFill>
                <a:latin typeface="Liberation Sans"/>
              </a:defRPr>
            </a:pPr>
            <a:r>
              <a:t>Preparar un modo de demo rápido que conserve la arquitectura de las corridas finales.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PRIMEROS PASOS</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La primera semana ya tiene una meta concreta</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E01, E02 y E03 · 21–23 octubre</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26</a:t>
            </a:r>
          </a:p>
        </p:txBody>
      </p:sp>
      <p:sp>
        <p:nvSpPr>
          <p:cNvPr id="8" name="Rounded Rectangle 7"/>
          <p:cNvSpPr/>
          <p:nvPr/>
        </p:nvSpPr>
        <p:spPr>
          <a:xfrm>
            <a:off x="594360" y="1783080"/>
            <a:ext cx="3566160" cy="3611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50292" cy="3611880"/>
          </a:xfrm>
          <a:prstGeom prst="rect">
            <a:avLst/>
          </a:prstGeom>
          <a:solidFill>
            <a:srgbClr val="26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947672"/>
            <a:ext cx="3163824" cy="320040"/>
          </a:xfrm>
          <a:prstGeom prst="rect">
            <a:avLst/>
          </a:prstGeom>
          <a:noFill/>
        </p:spPr>
        <p:txBody>
          <a:bodyPr wrap="square" lIns="0" rIns="0" tIns="0" bIns="0">
            <a:spAutoFit/>
          </a:bodyPr>
          <a:lstStyle/>
          <a:p>
            <a:pPr>
              <a:spcAft>
                <a:spcPts val="359"/>
              </a:spcAft>
              <a:defRPr sz="1200" b="1">
                <a:solidFill>
                  <a:srgbClr val="267F83"/>
                </a:solidFill>
                <a:latin typeface="Liberation Sans"/>
              </a:defRPr>
            </a:pPr>
            <a:r>
              <a:t>MIÉRCOLES 21 / 3 PT</a:t>
            </a:r>
          </a:p>
        </p:txBody>
      </p:sp>
      <p:sp>
        <p:nvSpPr>
          <p:cNvPr id="11" name="TextBox 10"/>
          <p:cNvSpPr txBox="1"/>
          <p:nvPr/>
        </p:nvSpPr>
        <p:spPr>
          <a:xfrm>
            <a:off x="795528" y="2377440"/>
            <a:ext cx="3163824" cy="731520"/>
          </a:xfrm>
          <a:prstGeom prst="rect">
            <a:avLst/>
          </a:prstGeom>
          <a:noFill/>
        </p:spPr>
        <p:txBody>
          <a:bodyPr wrap="square" lIns="0" rIns="0" tIns="0" bIns="0">
            <a:spAutoFit/>
          </a:bodyPr>
          <a:lstStyle/>
          <a:p>
            <a:pPr>
              <a:spcAft>
                <a:spcPts val="719"/>
              </a:spcAft>
              <a:defRPr sz="2400" b="1">
                <a:solidFill>
                  <a:srgbClr val="163244"/>
                </a:solidFill>
                <a:latin typeface="Liberation Sans"/>
              </a:defRPr>
            </a:pPr>
            <a:r>
              <a:t>Explicar el modelo</a:t>
            </a:r>
          </a:p>
        </p:txBody>
      </p:sp>
      <p:sp>
        <p:nvSpPr>
          <p:cNvPr id="12" name="TextBox 11"/>
          <p:cNvSpPr txBox="1"/>
          <p:nvPr/>
        </p:nvSpPr>
        <p:spPr>
          <a:xfrm>
            <a:off x="795528" y="3200400"/>
            <a:ext cx="3163824" cy="2057400"/>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BIM / IFC, propiedades,</a:t>
            </a:r>
          </a:p>
          <a:p>
            <a:pPr>
              <a:spcAft>
                <a:spcPts val="540"/>
              </a:spcAft>
              <a:defRPr sz="1800" b="0">
                <a:solidFill>
                  <a:srgbClr val="526572"/>
                </a:solidFill>
                <a:latin typeface="Liberation Sans"/>
              </a:defRPr>
            </a:pPr>
            <a:r>
              <a:t>balance, condiciones de borde</a:t>
            </a:r>
          </a:p>
          <a:p>
            <a:pPr>
              <a:spcAft>
                <a:spcPts val="540"/>
              </a:spcAft>
              <a:defRPr sz="1800" b="0">
                <a:solidFill>
                  <a:srgbClr val="526572"/>
                </a:solidFill>
                <a:latin typeface="Liberation Sans"/>
              </a:defRPr>
            </a:pPr>
            <a:r>
              <a:t>y solver 1D inicial.</a:t>
            </a:r>
          </a:p>
        </p:txBody>
      </p:sp>
      <p:sp>
        <p:nvSpPr>
          <p:cNvPr id="13" name="Rounded Rectangle 12"/>
          <p:cNvSpPr/>
          <p:nvPr/>
        </p:nvSpPr>
        <p:spPr>
          <a:xfrm>
            <a:off x="4315968" y="1783080"/>
            <a:ext cx="3566160" cy="3611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783080"/>
            <a:ext cx="50292" cy="3611880"/>
          </a:xfrm>
          <a:prstGeom prst="rect">
            <a:avLst/>
          </a:prstGeom>
          <a:solidFill>
            <a:srgbClr val="26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1947672"/>
            <a:ext cx="3163824" cy="320040"/>
          </a:xfrm>
          <a:prstGeom prst="rect">
            <a:avLst/>
          </a:prstGeom>
          <a:noFill/>
        </p:spPr>
        <p:txBody>
          <a:bodyPr wrap="square" lIns="0" rIns="0" tIns="0" bIns="0">
            <a:spAutoFit/>
          </a:bodyPr>
          <a:lstStyle/>
          <a:p>
            <a:pPr>
              <a:spcAft>
                <a:spcPts val="359"/>
              </a:spcAft>
              <a:defRPr sz="1200" b="1">
                <a:solidFill>
                  <a:srgbClr val="267F83"/>
                </a:solidFill>
                <a:latin typeface="Liberation Sans"/>
              </a:defRPr>
            </a:pPr>
            <a:r>
              <a:t>JUEVES 22 / 3 PT</a:t>
            </a:r>
          </a:p>
        </p:txBody>
      </p:sp>
      <p:sp>
        <p:nvSpPr>
          <p:cNvPr id="16" name="TextBox 15"/>
          <p:cNvSpPr txBox="1"/>
          <p:nvPr/>
        </p:nvSpPr>
        <p:spPr>
          <a:xfrm>
            <a:off x="4517136" y="2377440"/>
            <a:ext cx="3163824" cy="731520"/>
          </a:xfrm>
          <a:prstGeom prst="rect">
            <a:avLst/>
          </a:prstGeom>
          <a:noFill/>
        </p:spPr>
        <p:txBody>
          <a:bodyPr wrap="square" lIns="0" rIns="0" tIns="0" bIns="0">
            <a:spAutoFit/>
          </a:bodyPr>
          <a:lstStyle/>
          <a:p>
            <a:pPr>
              <a:spcAft>
                <a:spcPts val="719"/>
              </a:spcAft>
              <a:defRPr sz="2400" b="1">
                <a:solidFill>
                  <a:srgbClr val="163244"/>
                </a:solidFill>
                <a:latin typeface="Liberation Sans"/>
              </a:defRPr>
            </a:pPr>
            <a:r>
              <a:t>Demostrar el flujo</a:t>
            </a:r>
          </a:p>
        </p:txBody>
      </p:sp>
      <p:sp>
        <p:nvSpPr>
          <p:cNvPr id="17" name="TextBox 16"/>
          <p:cNvSpPr txBox="1"/>
          <p:nvPr/>
        </p:nvSpPr>
        <p:spPr>
          <a:xfrm>
            <a:off x="4517136" y="3200400"/>
            <a:ext cx="3163824" cy="2057400"/>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Tres objetos IFC, cambio</a:t>
            </a:r>
          </a:p>
          <a:p>
            <a:pPr>
              <a:spcAft>
                <a:spcPts val="540"/>
              </a:spcAft>
              <a:defRPr sz="1800" b="0">
                <a:solidFill>
                  <a:srgbClr val="526572"/>
                </a:solidFill>
                <a:latin typeface="Liberation Sans"/>
              </a:defRPr>
            </a:pPr>
            <a:r>
              <a:t>detectado desde Python,</a:t>
            </a:r>
          </a:p>
          <a:p>
            <a:pPr>
              <a:spcAft>
                <a:spcPts val="540"/>
              </a:spcAft>
              <a:defRPr sz="1800" b="0">
                <a:solidFill>
                  <a:srgbClr val="526572"/>
                </a:solidFill>
                <a:latin typeface="Liberation Sans"/>
              </a:defRPr>
            </a:pPr>
            <a:r>
              <a:t>solver 1D y un test.</a:t>
            </a:r>
          </a:p>
        </p:txBody>
      </p:sp>
      <p:sp>
        <p:nvSpPr>
          <p:cNvPr id="18" name="Rounded Rectangle 17"/>
          <p:cNvSpPr/>
          <p:nvPr/>
        </p:nvSpPr>
        <p:spPr>
          <a:xfrm>
            <a:off x="8037575" y="1783080"/>
            <a:ext cx="3566160" cy="3611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7575" y="1783080"/>
            <a:ext cx="50292" cy="3611880"/>
          </a:xfrm>
          <a:prstGeom prst="rect">
            <a:avLst/>
          </a:prstGeom>
          <a:solidFill>
            <a:srgbClr val="26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1947672"/>
            <a:ext cx="3163824" cy="320040"/>
          </a:xfrm>
          <a:prstGeom prst="rect">
            <a:avLst/>
          </a:prstGeom>
          <a:noFill/>
        </p:spPr>
        <p:txBody>
          <a:bodyPr wrap="square" lIns="0" rIns="0" tIns="0" bIns="0">
            <a:spAutoFit/>
          </a:bodyPr>
          <a:lstStyle/>
          <a:p>
            <a:pPr>
              <a:spcAft>
                <a:spcPts val="359"/>
              </a:spcAft>
              <a:defRPr sz="1200" b="1">
                <a:solidFill>
                  <a:srgbClr val="267F83"/>
                </a:solidFill>
                <a:latin typeface="Liberation Sans"/>
              </a:defRPr>
            </a:pPr>
            <a:r>
              <a:t>VIERNES 23 / 2 PT</a:t>
            </a:r>
          </a:p>
        </p:txBody>
      </p:sp>
      <p:sp>
        <p:nvSpPr>
          <p:cNvPr id="21" name="TextBox 20"/>
          <p:cNvSpPr txBox="1"/>
          <p:nvPr/>
        </p:nvSpPr>
        <p:spPr>
          <a:xfrm>
            <a:off x="8238744" y="2377440"/>
            <a:ext cx="3163824" cy="731520"/>
          </a:xfrm>
          <a:prstGeom prst="rect">
            <a:avLst/>
          </a:prstGeom>
          <a:noFill/>
        </p:spPr>
        <p:txBody>
          <a:bodyPr wrap="square" lIns="0" rIns="0" tIns="0" bIns="0">
            <a:spAutoFit/>
          </a:bodyPr>
          <a:lstStyle/>
          <a:p>
            <a:pPr>
              <a:spcAft>
                <a:spcPts val="719"/>
              </a:spcAft>
              <a:defRPr sz="2400" b="1">
                <a:solidFill>
                  <a:srgbClr val="163244"/>
                </a:solidFill>
                <a:latin typeface="Liberation Sans"/>
              </a:defRPr>
            </a:pPr>
            <a:r>
              <a:t>Verificar en 1D</a:t>
            </a:r>
          </a:p>
        </p:txBody>
      </p:sp>
      <p:sp>
        <p:nvSpPr>
          <p:cNvPr id="22" name="TextBox 21"/>
          <p:cNvSpPr txBox="1"/>
          <p:nvPr/>
        </p:nvSpPr>
        <p:spPr>
          <a:xfrm>
            <a:off x="8238744" y="3200400"/>
            <a:ext cx="3163824" cy="2057400"/>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Solución exacta, convergencia</a:t>
            </a:r>
          </a:p>
          <a:p>
            <a:pPr>
              <a:spcAft>
                <a:spcPts val="540"/>
              </a:spcAft>
              <a:defRPr sz="1800" b="0">
                <a:solidFill>
                  <a:srgbClr val="526572"/>
                </a:solidFill>
                <a:latin typeface="Liberation Sans"/>
              </a:defRPr>
            </a:pPr>
            <a:r>
              <a:t>espacial y temporal.</a:t>
            </a:r>
          </a:p>
          <a:p>
            <a:pPr>
              <a:spcAft>
                <a:spcPts val="540"/>
              </a:spcAft>
              <a:defRPr sz="1800" b="0">
                <a:solidFill>
                  <a:srgbClr val="526572"/>
                </a:solidFill>
                <a:latin typeface="Liberation Sans"/>
              </a:defRPr>
            </a:pPr>
            <a:r>
              <a:t>Máximo 800 palabras + figuras.</a:t>
            </a:r>
          </a:p>
        </p:txBody>
      </p:sp>
      <p:sp>
        <p:nvSpPr>
          <p:cNvPr id="23" name="Rounded Rectangle 22"/>
          <p:cNvSpPr/>
          <p:nvPr/>
        </p:nvSpPr>
        <p:spPr>
          <a:xfrm>
            <a:off x="502920" y="5705856"/>
            <a:ext cx="11183112" cy="457200"/>
          </a:xfrm>
          <a:prstGeom prst="roundRect">
            <a:avLst>
              <a:gd name="adj" fmla="val 8000"/>
            </a:avLst>
          </a:prstGeom>
          <a:solidFill>
            <a:srgbClr val="CD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5779008"/>
            <a:ext cx="10789920" cy="320040"/>
          </a:xfrm>
          <a:prstGeom prst="rect">
            <a:avLst/>
          </a:prstGeom>
          <a:noFill/>
        </p:spPr>
        <p:txBody>
          <a:bodyPr wrap="square" lIns="0" rIns="0" tIns="0" bIns="0">
            <a:spAutoFit/>
          </a:bodyPr>
          <a:lstStyle/>
          <a:p>
            <a:pPr>
              <a:spcAft>
                <a:spcPts val="480"/>
              </a:spcAft>
              <a:defRPr sz="1600" b="1">
                <a:solidFill>
                  <a:srgbClr val="163244"/>
                </a:solidFill>
                <a:latin typeface="Liberation Sans"/>
              </a:defRPr>
            </a:pPr>
            <a:r>
              <a:t>Lecturas para comenzar: documento general + Ju y Lei + ICH + guías G00, G01, G02 y G05.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2D3B"/>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CDE4DE"/>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CDE4DE"/>
                </a:solidFill>
                <a:latin typeface="Liberation Sans"/>
              </a:defRPr>
            </a:pPr>
            <a:r>
              <a:t>KICKOFF · 15 OCTUBRE</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FFFFFF"/>
                </a:solidFill>
                <a:latin typeface="Liberation Sans"/>
              </a:defRPr>
            </a:pPr>
            <a:r>
              <a:t>Hoy: dejar al equipo listo para trabajar</a:t>
            </a:r>
          </a:p>
        </p:txBody>
      </p:sp>
      <p:cxnSp>
        <p:nvCxnSpPr>
          <p:cNvPr id="5" name="Connector 4"/>
          <p:cNvCxnSpPr/>
          <p:nvPr/>
        </p:nvCxnSpPr>
        <p:spPr>
          <a:xfrm>
            <a:off x="502920" y="6382512"/>
            <a:ext cx="11183112" cy="0"/>
          </a:xfrm>
          <a:prstGeom prst="line">
            <a:avLst/>
          </a:prstGeom>
          <a:ln w="10160">
            <a:solidFill>
              <a:srgbClr val="267F8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CDE4DE"/>
                </a:solidFill>
                <a:latin typeface="Liberation Sans"/>
              </a:defRPr>
            </a:pPr>
            <a:r>
              <a:t>E00 · Sin puntaje; requisito para las evaluaciones posteriores</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CDE4DE"/>
                </a:solidFill>
                <a:latin typeface="Liberation Sans"/>
              </a:defRPr>
            </a:pPr>
            <a:r>
              <a:t>27</a:t>
            </a:r>
          </a:p>
        </p:txBody>
      </p:sp>
      <p:sp>
        <p:nvSpPr>
          <p:cNvPr id="8" name="TextBox 7"/>
          <p:cNvSpPr txBox="1"/>
          <p:nvPr/>
        </p:nvSpPr>
        <p:spPr>
          <a:xfrm>
            <a:off x="731520" y="1828800"/>
            <a:ext cx="914400" cy="594360"/>
          </a:xfrm>
          <a:prstGeom prst="rect">
            <a:avLst/>
          </a:prstGeom>
          <a:noFill/>
        </p:spPr>
        <p:txBody>
          <a:bodyPr wrap="square" lIns="0" rIns="0" tIns="0" bIns="0">
            <a:spAutoFit/>
          </a:bodyPr>
          <a:lstStyle/>
          <a:p>
            <a:pPr>
              <a:spcAft>
                <a:spcPts val="960"/>
              </a:spcAft>
              <a:defRPr sz="3200" b="1">
                <a:solidFill>
                  <a:srgbClr val="CDE4DE"/>
                </a:solidFill>
                <a:latin typeface="Liberation Sans"/>
              </a:defRPr>
            </a:pPr>
            <a:r>
              <a:t>01</a:t>
            </a:r>
          </a:p>
        </p:txBody>
      </p:sp>
      <p:sp>
        <p:nvSpPr>
          <p:cNvPr id="9" name="TextBox 8"/>
          <p:cNvSpPr txBox="1"/>
          <p:nvPr/>
        </p:nvSpPr>
        <p:spPr>
          <a:xfrm>
            <a:off x="1920240" y="1828800"/>
            <a:ext cx="9144000" cy="502920"/>
          </a:xfrm>
          <a:prstGeom prst="rect">
            <a:avLst/>
          </a:prstGeom>
          <a:noFill/>
        </p:spPr>
        <p:txBody>
          <a:bodyPr wrap="square" lIns="0" rIns="0" tIns="0" bIns="0">
            <a:spAutoFit/>
          </a:bodyPr>
          <a:lstStyle/>
          <a:p>
            <a:pPr>
              <a:spcAft>
                <a:spcPts val="810"/>
              </a:spcAft>
              <a:defRPr sz="2700" b="1">
                <a:solidFill>
                  <a:srgbClr val="FFFFFF"/>
                </a:solidFill>
                <a:latin typeface="Liberation Sans"/>
              </a:defRPr>
            </a:pPr>
            <a:r>
              <a:t>Confirmar equipo y sitio</a:t>
            </a:r>
          </a:p>
        </p:txBody>
      </p:sp>
      <p:sp>
        <p:nvSpPr>
          <p:cNvPr id="10" name="TextBox 9"/>
          <p:cNvSpPr txBox="1"/>
          <p:nvPr/>
        </p:nvSpPr>
        <p:spPr>
          <a:xfrm>
            <a:off x="1920240" y="2423160"/>
            <a:ext cx="9144000" cy="502920"/>
          </a:xfrm>
          <a:prstGeom prst="rect">
            <a:avLst/>
          </a:prstGeom>
          <a:noFill/>
        </p:spPr>
        <p:txBody>
          <a:bodyPr wrap="square" lIns="0" rIns="0" tIns="0" bIns="0">
            <a:spAutoFit/>
          </a:bodyPr>
          <a:lstStyle/>
          <a:p>
            <a:pPr>
              <a:spcAft>
                <a:spcPts val="600"/>
              </a:spcAft>
              <a:defRPr sz="2000" b="0">
                <a:solidFill>
                  <a:srgbClr val="CDE4DE"/>
                </a:solidFill>
                <a:latin typeface="Liberation Sans"/>
              </a:defRPr>
            </a:pPr>
            <a:r>
              <a:t>Registrar integrantes y coordenadas asignadas.</a:t>
            </a:r>
          </a:p>
        </p:txBody>
      </p:sp>
      <p:sp>
        <p:nvSpPr>
          <p:cNvPr id="11" name="TextBox 10"/>
          <p:cNvSpPr txBox="1"/>
          <p:nvPr/>
        </p:nvSpPr>
        <p:spPr>
          <a:xfrm>
            <a:off x="731520" y="3017520"/>
            <a:ext cx="914400" cy="594360"/>
          </a:xfrm>
          <a:prstGeom prst="rect">
            <a:avLst/>
          </a:prstGeom>
          <a:noFill/>
        </p:spPr>
        <p:txBody>
          <a:bodyPr wrap="square" lIns="0" rIns="0" tIns="0" bIns="0">
            <a:spAutoFit/>
          </a:bodyPr>
          <a:lstStyle/>
          <a:p>
            <a:pPr>
              <a:spcAft>
                <a:spcPts val="960"/>
              </a:spcAft>
              <a:defRPr sz="3200" b="1">
                <a:solidFill>
                  <a:srgbClr val="CDE4DE"/>
                </a:solidFill>
                <a:latin typeface="Liberation Sans"/>
              </a:defRPr>
            </a:pPr>
            <a:r>
              <a:t>02</a:t>
            </a:r>
          </a:p>
        </p:txBody>
      </p:sp>
      <p:sp>
        <p:nvSpPr>
          <p:cNvPr id="12" name="TextBox 11"/>
          <p:cNvSpPr txBox="1"/>
          <p:nvPr/>
        </p:nvSpPr>
        <p:spPr>
          <a:xfrm>
            <a:off x="1920240" y="3017520"/>
            <a:ext cx="9144000" cy="502920"/>
          </a:xfrm>
          <a:prstGeom prst="rect">
            <a:avLst/>
          </a:prstGeom>
          <a:noFill/>
        </p:spPr>
        <p:txBody>
          <a:bodyPr wrap="square" lIns="0" rIns="0" tIns="0" bIns="0">
            <a:spAutoFit/>
          </a:bodyPr>
          <a:lstStyle/>
          <a:p>
            <a:pPr>
              <a:spcAft>
                <a:spcPts val="810"/>
              </a:spcAft>
              <a:defRPr sz="2700" b="1">
                <a:solidFill>
                  <a:srgbClr val="FFFFFF"/>
                </a:solidFill>
                <a:latin typeface="Liberation Sans"/>
              </a:defRPr>
            </a:pPr>
            <a:r>
              <a:t>Crear o confirmar el repositorio</a:t>
            </a:r>
          </a:p>
        </p:txBody>
      </p:sp>
      <p:sp>
        <p:nvSpPr>
          <p:cNvPr id="13" name="TextBox 12"/>
          <p:cNvSpPr txBox="1"/>
          <p:nvPr/>
        </p:nvSpPr>
        <p:spPr>
          <a:xfrm>
            <a:off x="1920240" y="3611879"/>
            <a:ext cx="9144000" cy="502920"/>
          </a:xfrm>
          <a:prstGeom prst="rect">
            <a:avLst/>
          </a:prstGeom>
          <a:noFill/>
        </p:spPr>
        <p:txBody>
          <a:bodyPr wrap="square" lIns="0" rIns="0" tIns="0" bIns="0">
            <a:spAutoFit/>
          </a:bodyPr>
          <a:lstStyle/>
          <a:p>
            <a:pPr>
              <a:spcAft>
                <a:spcPts val="600"/>
              </a:spcAft>
              <a:defRPr sz="2000" b="0">
                <a:solidFill>
                  <a:srgbClr val="CDE4DE"/>
                </a:solidFill>
                <a:latin typeface="Liberation Sans"/>
              </a:defRPr>
            </a:pPr>
            <a:r>
              <a:t>Python disponible, entorno y primer commit.</a:t>
            </a:r>
          </a:p>
        </p:txBody>
      </p:sp>
      <p:sp>
        <p:nvSpPr>
          <p:cNvPr id="14" name="TextBox 13"/>
          <p:cNvSpPr txBox="1"/>
          <p:nvPr/>
        </p:nvSpPr>
        <p:spPr>
          <a:xfrm>
            <a:off x="731520" y="4206240"/>
            <a:ext cx="914400" cy="594360"/>
          </a:xfrm>
          <a:prstGeom prst="rect">
            <a:avLst/>
          </a:prstGeom>
          <a:noFill/>
        </p:spPr>
        <p:txBody>
          <a:bodyPr wrap="square" lIns="0" rIns="0" tIns="0" bIns="0">
            <a:spAutoFit/>
          </a:bodyPr>
          <a:lstStyle/>
          <a:p>
            <a:pPr>
              <a:spcAft>
                <a:spcPts val="960"/>
              </a:spcAft>
              <a:defRPr sz="3200" b="1">
                <a:solidFill>
                  <a:srgbClr val="CDE4DE"/>
                </a:solidFill>
                <a:latin typeface="Liberation Sans"/>
              </a:defRPr>
            </a:pPr>
            <a:r>
              <a:t>03</a:t>
            </a:r>
          </a:p>
        </p:txBody>
      </p:sp>
      <p:sp>
        <p:nvSpPr>
          <p:cNvPr id="15" name="TextBox 14"/>
          <p:cNvSpPr txBox="1"/>
          <p:nvPr/>
        </p:nvSpPr>
        <p:spPr>
          <a:xfrm>
            <a:off x="1920240" y="4206240"/>
            <a:ext cx="9144000" cy="502920"/>
          </a:xfrm>
          <a:prstGeom prst="rect">
            <a:avLst/>
          </a:prstGeom>
          <a:noFill/>
        </p:spPr>
        <p:txBody>
          <a:bodyPr wrap="square" lIns="0" rIns="0" tIns="0" bIns="0">
            <a:spAutoFit/>
          </a:bodyPr>
          <a:lstStyle/>
          <a:p>
            <a:pPr>
              <a:spcAft>
                <a:spcPts val="810"/>
              </a:spcAft>
              <a:defRPr sz="2700" b="1">
                <a:solidFill>
                  <a:srgbClr val="FFFFFF"/>
                </a:solidFill>
                <a:latin typeface="Liberation Sans"/>
              </a:defRPr>
            </a:pPr>
            <a:r>
              <a:t>Registrar la evidencia inicial</a:t>
            </a:r>
          </a:p>
        </p:txBody>
      </p:sp>
      <p:sp>
        <p:nvSpPr>
          <p:cNvPr id="16" name="TextBox 15"/>
          <p:cNvSpPr txBox="1"/>
          <p:nvPr/>
        </p:nvSpPr>
        <p:spPr>
          <a:xfrm>
            <a:off x="1920240" y="4800600"/>
            <a:ext cx="9144000" cy="502920"/>
          </a:xfrm>
          <a:prstGeom prst="rect">
            <a:avLst/>
          </a:prstGeom>
          <a:noFill/>
        </p:spPr>
        <p:txBody>
          <a:bodyPr wrap="square" lIns="0" rIns="0" tIns="0" bIns="0">
            <a:spAutoFit/>
          </a:bodyPr>
          <a:lstStyle/>
          <a:p>
            <a:pPr>
              <a:spcAft>
                <a:spcPts val="600"/>
              </a:spcAft>
              <a:defRPr sz="2000" b="0">
                <a:solidFill>
                  <a:srgbClr val="CDE4DE"/>
                </a:solidFill>
                <a:latin typeface="Liberation Sans"/>
              </a:defRPr>
            </a:pPr>
            <a:r>
              <a:t>Grupo · integrantes · URL del repositorio · SHA.</a:t>
            </a:r>
          </a:p>
        </p:txBody>
      </p:sp>
      <p:sp>
        <p:nvSpPr>
          <p:cNvPr id="17" name="TextBox 16"/>
          <p:cNvSpPr txBox="1"/>
          <p:nvPr/>
        </p:nvSpPr>
        <p:spPr>
          <a:xfrm>
            <a:off x="777240" y="5779008"/>
            <a:ext cx="10789920" cy="411480"/>
          </a:xfrm>
          <a:prstGeom prst="rect">
            <a:avLst/>
          </a:prstGeom>
          <a:noFill/>
        </p:spPr>
        <p:txBody>
          <a:bodyPr wrap="square" lIns="0" rIns="0" tIns="0" bIns="0">
            <a:spAutoFit/>
          </a:bodyPr>
          <a:lstStyle/>
          <a:p>
            <a:pPr>
              <a:spcAft>
                <a:spcPts val="660"/>
              </a:spcAft>
              <a:defRPr sz="2200" b="1">
                <a:solidFill>
                  <a:srgbClr val="FFFFFF"/>
                </a:solidFill>
                <a:latin typeface="Liberation Sans"/>
              </a:defRPr>
            </a:pPr>
            <a:r>
              <a:t>La pregunta de salida: ¿qué evidencia hará defendible nuestra recomendación?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LECTURAS Y RECURSOS</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Dónde encontrar el apoyo para cada etapa</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Todos los documentos del paquete están considerados en el guion</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28</a:t>
            </a:r>
          </a:p>
        </p:txBody>
      </p:sp>
      <p:sp>
        <p:nvSpPr>
          <p:cNvPr id="8" name="Rectangle 7"/>
          <p:cNvSpPr/>
          <p:nvPr/>
        </p:nvSpPr>
        <p:spPr>
          <a:xfrm>
            <a:off x="685800" y="1783080"/>
            <a:ext cx="10835640" cy="475488"/>
          </a:xfrm>
          <a:prstGeom prst="rect">
            <a:avLst/>
          </a:prstGeom>
          <a:solidFill>
            <a:srgbClr val="16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892807"/>
            <a:ext cx="5248656" cy="310896"/>
          </a:xfrm>
          <a:prstGeom prst="rect">
            <a:avLst/>
          </a:prstGeom>
          <a:noFill/>
        </p:spPr>
        <p:txBody>
          <a:bodyPr wrap="square" lIns="0" rIns="0" tIns="0" bIns="0">
            <a:spAutoFit/>
          </a:bodyPr>
          <a:lstStyle/>
          <a:p>
            <a:pPr>
              <a:spcAft>
                <a:spcPts val="600"/>
              </a:spcAft>
              <a:defRPr sz="2000" b="1">
                <a:solidFill>
                  <a:srgbClr val="FFFFFF"/>
                </a:solidFill>
                <a:latin typeface="Liberation Sans"/>
              </a:defRPr>
            </a:pPr>
            <a:r>
              <a:t>Necesidad</a:t>
            </a:r>
          </a:p>
        </p:txBody>
      </p:sp>
      <p:sp>
        <p:nvSpPr>
          <p:cNvPr id="10" name="TextBox 9"/>
          <p:cNvSpPr txBox="1"/>
          <p:nvPr/>
        </p:nvSpPr>
        <p:spPr>
          <a:xfrm>
            <a:off x="6291072" y="1892807"/>
            <a:ext cx="5111496" cy="310896"/>
          </a:xfrm>
          <a:prstGeom prst="rect">
            <a:avLst/>
          </a:prstGeom>
          <a:noFill/>
        </p:spPr>
        <p:txBody>
          <a:bodyPr wrap="square" lIns="0" rIns="0" tIns="0" bIns="0">
            <a:spAutoFit/>
          </a:bodyPr>
          <a:lstStyle/>
          <a:p>
            <a:pPr>
              <a:spcAft>
                <a:spcPts val="600"/>
              </a:spcAft>
              <a:defRPr sz="2000" b="1">
                <a:solidFill>
                  <a:srgbClr val="FFFFFF"/>
                </a:solidFill>
                <a:latin typeface="Liberation Sans"/>
              </a:defRPr>
            </a:pPr>
            <a:r>
              <a:t>Documento de partida</a:t>
            </a:r>
          </a:p>
        </p:txBody>
      </p:sp>
      <p:sp>
        <p:nvSpPr>
          <p:cNvPr id="11" name="Rectangle 10"/>
          <p:cNvSpPr/>
          <p:nvPr/>
        </p:nvSpPr>
        <p:spPr>
          <a:xfrm>
            <a:off x="685800" y="2258568"/>
            <a:ext cx="1083564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368296"/>
            <a:ext cx="5248656" cy="384047"/>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El encargo y las reglas</a:t>
            </a:r>
          </a:p>
        </p:txBody>
      </p:sp>
      <p:sp>
        <p:nvSpPr>
          <p:cNvPr id="13" name="TextBox 12"/>
          <p:cNvSpPr txBox="1"/>
          <p:nvPr/>
        </p:nvSpPr>
        <p:spPr>
          <a:xfrm>
            <a:off x="6291072" y="2368296"/>
            <a:ext cx="5111496" cy="384047"/>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00–03 + sitios.yaml</a:t>
            </a:r>
          </a:p>
        </p:txBody>
      </p:sp>
      <p:sp>
        <p:nvSpPr>
          <p:cNvPr id="14" name="Rectangle 13"/>
          <p:cNvSpPr/>
          <p:nvPr/>
        </p:nvSpPr>
        <p:spPr>
          <a:xfrm>
            <a:off x="685800" y="2788920"/>
            <a:ext cx="10835640" cy="530352"/>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2898648"/>
            <a:ext cx="5248656" cy="384047"/>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Geometría y evidencia experimental</a:t>
            </a:r>
          </a:p>
        </p:txBody>
      </p:sp>
      <p:sp>
        <p:nvSpPr>
          <p:cNvPr id="16" name="TextBox 15"/>
          <p:cNvSpPr txBox="1"/>
          <p:nvPr/>
        </p:nvSpPr>
        <p:spPr>
          <a:xfrm>
            <a:off x="6291072" y="2898648"/>
            <a:ext cx="5111496" cy="384047"/>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Ju y Lei (2019) · lectura central</a:t>
            </a:r>
          </a:p>
        </p:txBody>
      </p:sp>
      <p:sp>
        <p:nvSpPr>
          <p:cNvPr id="17" name="Rectangle 16"/>
          <p:cNvSpPr/>
          <p:nvPr/>
        </p:nvSpPr>
        <p:spPr>
          <a:xfrm>
            <a:off x="685800" y="3319272"/>
            <a:ext cx="1083564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429000"/>
            <a:ext cx="5248656" cy="384047"/>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Plan y control térmico</a:t>
            </a:r>
          </a:p>
        </p:txBody>
      </p:sp>
      <p:sp>
        <p:nvSpPr>
          <p:cNvPr id="19" name="TextBox 18"/>
          <p:cNvSpPr txBox="1"/>
          <p:nvPr/>
        </p:nvSpPr>
        <p:spPr>
          <a:xfrm>
            <a:off x="6291072" y="3429000"/>
            <a:ext cx="5111496" cy="384047"/>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ICH (2019) · lectura central</a:t>
            </a:r>
          </a:p>
        </p:txBody>
      </p:sp>
      <p:sp>
        <p:nvSpPr>
          <p:cNvPr id="20" name="Rectangle 19"/>
          <p:cNvSpPr/>
          <p:nvPr/>
        </p:nvSpPr>
        <p:spPr>
          <a:xfrm>
            <a:off x="685800" y="3849623"/>
            <a:ext cx="10835640" cy="530352"/>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3959351"/>
            <a:ext cx="5248656" cy="384047"/>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BIM, IFC y voxelización</a:t>
            </a:r>
          </a:p>
        </p:txBody>
      </p:sp>
      <p:sp>
        <p:nvSpPr>
          <p:cNvPr id="22" name="TextBox 21"/>
          <p:cNvSpPr txBox="1"/>
          <p:nvPr/>
        </p:nvSpPr>
        <p:spPr>
          <a:xfrm>
            <a:off x="6291072" y="3959351"/>
            <a:ext cx="5111496" cy="384047"/>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Guías G00–G04</a:t>
            </a:r>
          </a:p>
        </p:txBody>
      </p:sp>
      <p:sp>
        <p:nvSpPr>
          <p:cNvPr id="23" name="Rectangle 22"/>
          <p:cNvSpPr/>
          <p:nvPr/>
        </p:nvSpPr>
        <p:spPr>
          <a:xfrm>
            <a:off x="685800" y="4379975"/>
            <a:ext cx="1083564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489703"/>
            <a:ext cx="5248656" cy="384047"/>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Solver, visualización y clima</a:t>
            </a:r>
          </a:p>
        </p:txBody>
      </p:sp>
      <p:sp>
        <p:nvSpPr>
          <p:cNvPr id="25" name="TextBox 24"/>
          <p:cNvSpPr txBox="1"/>
          <p:nvPr/>
        </p:nvSpPr>
        <p:spPr>
          <a:xfrm>
            <a:off x="6291072" y="4489703"/>
            <a:ext cx="5111496" cy="384047"/>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Guías G05–G08</a:t>
            </a:r>
          </a:p>
        </p:txBody>
      </p:sp>
      <p:sp>
        <p:nvSpPr>
          <p:cNvPr id="26" name="Rectangle 25"/>
          <p:cNvSpPr/>
          <p:nvPr/>
        </p:nvSpPr>
        <p:spPr>
          <a:xfrm>
            <a:off x="685800" y="4910327"/>
            <a:ext cx="10835640" cy="530352"/>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5020055"/>
            <a:ext cx="5248656" cy="384047"/>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Qué se evalúa en cada hito</a:t>
            </a:r>
          </a:p>
        </p:txBody>
      </p:sp>
      <p:sp>
        <p:nvSpPr>
          <p:cNvPr id="28" name="TextBox 27"/>
          <p:cNvSpPr txBox="1"/>
          <p:nvPr/>
        </p:nvSpPr>
        <p:spPr>
          <a:xfrm>
            <a:off x="6291072" y="5020055"/>
            <a:ext cx="5111496" cy="384047"/>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E00–E15, F01 y F02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ANEXO / CONSULTA</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Calendario detallado de las actividades</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01_CALENDARIO_Y_PUNTAJES.md · Fechas de 2026</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29</a:t>
            </a:r>
          </a:p>
        </p:txBody>
      </p:sp>
      <p:sp>
        <p:nvSpPr>
          <p:cNvPr id="8" name="Rectangle 7"/>
          <p:cNvSpPr/>
          <p:nvPr/>
        </p:nvSpPr>
        <p:spPr>
          <a:xfrm>
            <a:off x="594360" y="1828800"/>
            <a:ext cx="10972800" cy="475488"/>
          </a:xfrm>
          <a:prstGeom prst="rect">
            <a:avLst/>
          </a:prstGeom>
          <a:solidFill>
            <a:srgbClr val="16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938528"/>
            <a:ext cx="493776" cy="310896"/>
          </a:xfrm>
          <a:prstGeom prst="rect">
            <a:avLst/>
          </a:prstGeom>
          <a:noFill/>
        </p:spPr>
        <p:txBody>
          <a:bodyPr wrap="square" lIns="0" rIns="0" tIns="0" bIns="0">
            <a:spAutoFit/>
          </a:bodyPr>
          <a:lstStyle/>
          <a:p>
            <a:pPr>
              <a:spcAft>
                <a:spcPts val="570"/>
              </a:spcAft>
              <a:defRPr sz="1900" b="1">
                <a:solidFill>
                  <a:srgbClr val="FFFFFF"/>
                </a:solidFill>
                <a:latin typeface="Liberation Sans"/>
              </a:defRPr>
            </a:pPr>
          </a:p>
        </p:txBody>
      </p:sp>
      <p:sp>
        <p:nvSpPr>
          <p:cNvPr id="10" name="TextBox 9"/>
          <p:cNvSpPr txBox="1"/>
          <p:nvPr/>
        </p:nvSpPr>
        <p:spPr>
          <a:xfrm>
            <a:off x="1444752" y="1938528"/>
            <a:ext cx="3191256" cy="310896"/>
          </a:xfrm>
          <a:prstGeom prst="rect">
            <a:avLst/>
          </a:prstGeom>
          <a:noFill/>
        </p:spPr>
        <p:txBody>
          <a:bodyPr wrap="square" lIns="0" rIns="0" tIns="0" bIns="0">
            <a:spAutoFit/>
          </a:bodyPr>
          <a:lstStyle/>
          <a:p>
            <a:pPr>
              <a:spcAft>
                <a:spcPts val="570"/>
              </a:spcAft>
              <a:defRPr sz="1900" b="1">
                <a:solidFill>
                  <a:srgbClr val="FFFFFF"/>
                </a:solidFill>
                <a:latin typeface="Liberation Sans"/>
              </a:defRPr>
            </a:pPr>
            <a:r>
              <a:t>Miércoles / oral</a:t>
            </a:r>
          </a:p>
        </p:txBody>
      </p:sp>
      <p:sp>
        <p:nvSpPr>
          <p:cNvPr id="11" name="TextBox 10"/>
          <p:cNvSpPr txBox="1"/>
          <p:nvPr/>
        </p:nvSpPr>
        <p:spPr>
          <a:xfrm>
            <a:off x="4873752" y="1938528"/>
            <a:ext cx="3191256" cy="310896"/>
          </a:xfrm>
          <a:prstGeom prst="rect">
            <a:avLst/>
          </a:prstGeom>
          <a:noFill/>
        </p:spPr>
        <p:txBody>
          <a:bodyPr wrap="square" lIns="0" rIns="0" tIns="0" bIns="0">
            <a:spAutoFit/>
          </a:bodyPr>
          <a:lstStyle/>
          <a:p>
            <a:pPr>
              <a:spcAft>
                <a:spcPts val="570"/>
              </a:spcAft>
              <a:defRPr sz="1900" b="1">
                <a:solidFill>
                  <a:srgbClr val="FFFFFF"/>
                </a:solidFill>
                <a:latin typeface="Liberation Sans"/>
              </a:defRPr>
            </a:pPr>
            <a:r>
              <a:t>Jueves / laboratorio</a:t>
            </a:r>
          </a:p>
        </p:txBody>
      </p:sp>
      <p:sp>
        <p:nvSpPr>
          <p:cNvPr id="12" name="TextBox 11"/>
          <p:cNvSpPr txBox="1"/>
          <p:nvPr/>
        </p:nvSpPr>
        <p:spPr>
          <a:xfrm>
            <a:off x="8302752" y="1938528"/>
            <a:ext cx="3145536" cy="310896"/>
          </a:xfrm>
          <a:prstGeom prst="rect">
            <a:avLst/>
          </a:prstGeom>
          <a:noFill/>
        </p:spPr>
        <p:txBody>
          <a:bodyPr wrap="square" lIns="0" rIns="0" tIns="0" bIns="0">
            <a:spAutoFit/>
          </a:bodyPr>
          <a:lstStyle/>
          <a:p>
            <a:pPr>
              <a:spcAft>
                <a:spcPts val="570"/>
              </a:spcAft>
              <a:defRPr sz="1900" b="1">
                <a:solidFill>
                  <a:srgbClr val="FFFFFF"/>
                </a:solidFill>
                <a:latin typeface="Liberation Sans"/>
              </a:defRPr>
            </a:pPr>
            <a:r>
              <a:t>Viernes / entrega</a:t>
            </a:r>
          </a:p>
        </p:txBody>
      </p:sp>
      <p:sp>
        <p:nvSpPr>
          <p:cNvPr id="13" name="Rectangle 12"/>
          <p:cNvSpPr/>
          <p:nvPr/>
        </p:nvSpPr>
        <p:spPr>
          <a:xfrm>
            <a:off x="594360" y="2304288"/>
            <a:ext cx="10972800" cy="594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414016"/>
            <a:ext cx="49377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W1</a:t>
            </a:r>
          </a:p>
        </p:txBody>
      </p:sp>
      <p:sp>
        <p:nvSpPr>
          <p:cNvPr id="15" name="TextBox 14"/>
          <p:cNvSpPr txBox="1"/>
          <p:nvPr/>
        </p:nvSpPr>
        <p:spPr>
          <a:xfrm>
            <a:off x="1444752" y="2414016"/>
            <a:ext cx="319125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E01 · 21 oct · 3 pt</a:t>
            </a:r>
          </a:p>
        </p:txBody>
      </p:sp>
      <p:sp>
        <p:nvSpPr>
          <p:cNvPr id="16" name="TextBox 15"/>
          <p:cNvSpPr txBox="1"/>
          <p:nvPr/>
        </p:nvSpPr>
        <p:spPr>
          <a:xfrm>
            <a:off x="4873752" y="2414016"/>
            <a:ext cx="319125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E02 · 22 oct · 3 pt</a:t>
            </a:r>
          </a:p>
        </p:txBody>
      </p:sp>
      <p:sp>
        <p:nvSpPr>
          <p:cNvPr id="17" name="TextBox 16"/>
          <p:cNvSpPr txBox="1"/>
          <p:nvPr/>
        </p:nvSpPr>
        <p:spPr>
          <a:xfrm>
            <a:off x="8302752" y="2414016"/>
            <a:ext cx="314553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E03 · 23 oct · 2 pt</a:t>
            </a:r>
          </a:p>
        </p:txBody>
      </p:sp>
      <p:sp>
        <p:nvSpPr>
          <p:cNvPr id="18" name="Rectangle 17"/>
          <p:cNvSpPr/>
          <p:nvPr/>
        </p:nvSpPr>
        <p:spPr>
          <a:xfrm>
            <a:off x="594360" y="2898648"/>
            <a:ext cx="10972800" cy="594360"/>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008376"/>
            <a:ext cx="49377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W2</a:t>
            </a:r>
          </a:p>
        </p:txBody>
      </p:sp>
      <p:sp>
        <p:nvSpPr>
          <p:cNvPr id="20" name="TextBox 19"/>
          <p:cNvSpPr txBox="1"/>
          <p:nvPr/>
        </p:nvSpPr>
        <p:spPr>
          <a:xfrm>
            <a:off x="1444752" y="3008376"/>
            <a:ext cx="319125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E04 · 28 oct · 4 pt</a:t>
            </a:r>
          </a:p>
        </p:txBody>
      </p:sp>
      <p:sp>
        <p:nvSpPr>
          <p:cNvPr id="21" name="TextBox 20"/>
          <p:cNvSpPr txBox="1"/>
          <p:nvPr/>
        </p:nvSpPr>
        <p:spPr>
          <a:xfrm>
            <a:off x="4873752" y="3008376"/>
            <a:ext cx="319125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E05 · 29 oct · 3 pt</a:t>
            </a:r>
          </a:p>
        </p:txBody>
      </p:sp>
      <p:sp>
        <p:nvSpPr>
          <p:cNvPr id="22" name="TextBox 21"/>
          <p:cNvSpPr txBox="1"/>
          <p:nvPr/>
        </p:nvSpPr>
        <p:spPr>
          <a:xfrm>
            <a:off x="8302752" y="3008376"/>
            <a:ext cx="314553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E06 · 30 oct · 3 pt</a:t>
            </a:r>
          </a:p>
        </p:txBody>
      </p:sp>
      <p:sp>
        <p:nvSpPr>
          <p:cNvPr id="23" name="Rectangle 22"/>
          <p:cNvSpPr/>
          <p:nvPr/>
        </p:nvSpPr>
        <p:spPr>
          <a:xfrm>
            <a:off x="594360" y="3493008"/>
            <a:ext cx="10972800" cy="594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602736"/>
            <a:ext cx="49377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W3</a:t>
            </a:r>
          </a:p>
        </p:txBody>
      </p:sp>
      <p:sp>
        <p:nvSpPr>
          <p:cNvPr id="25" name="TextBox 24"/>
          <p:cNvSpPr txBox="1"/>
          <p:nvPr/>
        </p:nvSpPr>
        <p:spPr>
          <a:xfrm>
            <a:off x="1444752" y="3602736"/>
            <a:ext cx="319125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E07 · 4 nov · 4 pt</a:t>
            </a:r>
          </a:p>
        </p:txBody>
      </p:sp>
      <p:sp>
        <p:nvSpPr>
          <p:cNvPr id="26" name="TextBox 25"/>
          <p:cNvSpPr txBox="1"/>
          <p:nvPr/>
        </p:nvSpPr>
        <p:spPr>
          <a:xfrm>
            <a:off x="4873752" y="3602736"/>
            <a:ext cx="319125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E08 · 5 nov · 3 pt</a:t>
            </a:r>
          </a:p>
        </p:txBody>
      </p:sp>
      <p:sp>
        <p:nvSpPr>
          <p:cNvPr id="27" name="TextBox 26"/>
          <p:cNvSpPr txBox="1"/>
          <p:nvPr/>
        </p:nvSpPr>
        <p:spPr>
          <a:xfrm>
            <a:off x="8302752" y="3602736"/>
            <a:ext cx="314553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E09 · 6 nov · 3 pt</a:t>
            </a:r>
          </a:p>
        </p:txBody>
      </p:sp>
      <p:sp>
        <p:nvSpPr>
          <p:cNvPr id="28" name="Rectangle 27"/>
          <p:cNvSpPr/>
          <p:nvPr/>
        </p:nvSpPr>
        <p:spPr>
          <a:xfrm>
            <a:off x="594360" y="4087368"/>
            <a:ext cx="10972800" cy="594360"/>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4197096"/>
            <a:ext cx="49377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W4</a:t>
            </a:r>
          </a:p>
        </p:txBody>
      </p:sp>
      <p:sp>
        <p:nvSpPr>
          <p:cNvPr id="30" name="TextBox 29"/>
          <p:cNvSpPr txBox="1"/>
          <p:nvPr/>
        </p:nvSpPr>
        <p:spPr>
          <a:xfrm>
            <a:off x="1444752" y="4197096"/>
            <a:ext cx="319125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E10 · 11 nov · 4 pt</a:t>
            </a:r>
          </a:p>
        </p:txBody>
      </p:sp>
      <p:sp>
        <p:nvSpPr>
          <p:cNvPr id="31" name="TextBox 30"/>
          <p:cNvSpPr txBox="1"/>
          <p:nvPr/>
        </p:nvSpPr>
        <p:spPr>
          <a:xfrm>
            <a:off x="4873752" y="4197096"/>
            <a:ext cx="319125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E11 · 12 nov · 3 pt</a:t>
            </a:r>
          </a:p>
        </p:txBody>
      </p:sp>
      <p:sp>
        <p:nvSpPr>
          <p:cNvPr id="32" name="TextBox 31"/>
          <p:cNvSpPr txBox="1"/>
          <p:nvPr/>
        </p:nvSpPr>
        <p:spPr>
          <a:xfrm>
            <a:off x="8302752" y="4197096"/>
            <a:ext cx="314553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E12 · 13 nov · 3 pt</a:t>
            </a:r>
          </a:p>
        </p:txBody>
      </p:sp>
      <p:sp>
        <p:nvSpPr>
          <p:cNvPr id="33" name="Rectangle 32"/>
          <p:cNvSpPr/>
          <p:nvPr/>
        </p:nvSpPr>
        <p:spPr>
          <a:xfrm>
            <a:off x="594360" y="4681728"/>
            <a:ext cx="10972800" cy="594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791456"/>
            <a:ext cx="49377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W5</a:t>
            </a:r>
          </a:p>
        </p:txBody>
      </p:sp>
      <p:sp>
        <p:nvSpPr>
          <p:cNvPr id="35" name="TextBox 34"/>
          <p:cNvSpPr txBox="1"/>
          <p:nvPr/>
        </p:nvSpPr>
        <p:spPr>
          <a:xfrm>
            <a:off x="1444752" y="4791456"/>
            <a:ext cx="319125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E13 · 18 nov · 5 pt</a:t>
            </a:r>
          </a:p>
        </p:txBody>
      </p:sp>
      <p:sp>
        <p:nvSpPr>
          <p:cNvPr id="36" name="TextBox 35"/>
          <p:cNvSpPr txBox="1"/>
          <p:nvPr/>
        </p:nvSpPr>
        <p:spPr>
          <a:xfrm>
            <a:off x="4873752" y="4791456"/>
            <a:ext cx="319125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E14 · 19 nov · 4 pt</a:t>
            </a:r>
          </a:p>
        </p:txBody>
      </p:sp>
      <p:sp>
        <p:nvSpPr>
          <p:cNvPr id="37" name="TextBox 36"/>
          <p:cNvSpPr txBox="1"/>
          <p:nvPr/>
        </p:nvSpPr>
        <p:spPr>
          <a:xfrm>
            <a:off x="8302752" y="4791456"/>
            <a:ext cx="3145536" cy="448056"/>
          </a:xfrm>
          <a:prstGeom prst="rect">
            <a:avLst/>
          </a:prstGeom>
          <a:noFill/>
        </p:spPr>
        <p:txBody>
          <a:bodyPr wrap="square" lIns="0" rIns="0" tIns="0" bIns="0">
            <a:spAutoFit/>
          </a:bodyPr>
          <a:lstStyle/>
          <a:p>
            <a:pPr>
              <a:spcAft>
                <a:spcPts val="570"/>
              </a:spcAft>
              <a:defRPr sz="1900" b="0">
                <a:solidFill>
                  <a:srgbClr val="163244"/>
                </a:solidFill>
                <a:latin typeface="Liberation Sans"/>
              </a:defRPr>
            </a:pPr>
            <a:r>
              <a:t>E15 · 20 nov · 3 pt</a:t>
            </a:r>
          </a:p>
        </p:txBody>
      </p:sp>
      <p:sp>
        <p:nvSpPr>
          <p:cNvPr id="38" name="TextBox 37"/>
          <p:cNvSpPr txBox="1"/>
          <p:nvPr/>
        </p:nvSpPr>
        <p:spPr>
          <a:xfrm>
            <a:off x="731520" y="5440680"/>
            <a:ext cx="10607040" cy="548640"/>
          </a:xfrm>
          <a:prstGeom prst="rect">
            <a:avLst/>
          </a:prstGeom>
          <a:noFill/>
        </p:spPr>
        <p:txBody>
          <a:bodyPr wrap="square" lIns="0" rIns="0" tIns="0" bIns="0">
            <a:spAutoFit/>
          </a:bodyPr>
          <a:lstStyle/>
          <a:p>
            <a:pPr>
              <a:spcAft>
                <a:spcPts val="600"/>
              </a:spcAft>
              <a:defRPr sz="2000" b="1">
                <a:solidFill>
                  <a:srgbClr val="267F83"/>
                </a:solidFill>
                <a:latin typeface="Liberation Sans"/>
              </a:defRPr>
            </a:pPr>
            <a:r>
              <a:t>Miércoles 10:30–13:20 · Jueves 10:30–12:30 · Viernes según Canvas</a:t>
            </a:r>
          </a:p>
        </p:txBody>
      </p:sp>
      <p:sp>
        <p:nvSpPr>
          <p:cNvPr id="39" name="TextBox 38"/>
          <p:cNvSpPr txBox="1"/>
          <p:nvPr/>
        </p:nvSpPr>
        <p:spPr>
          <a:xfrm>
            <a:off x="731520" y="5943600"/>
            <a:ext cx="10607040" cy="320040"/>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t>F01: 10 puntos · F02: 40 puntos · Fecha final por definir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ANEXO / CRITERIOS</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Cómo medir el diferencial del proyecto</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00_PROYECTO_GENERAL.md §3 · Guías G04–G05</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30</a:t>
            </a:r>
          </a:p>
        </p:txBody>
      </p:sp>
      <p:pic>
        <p:nvPicPr>
          <p:cNvPr id="8" name="Picture 7" descr="delta.png"/>
          <p:cNvPicPr>
            <a:picLocks noChangeAspect="1"/>
          </p:cNvPicPr>
          <p:nvPr/>
        </p:nvPicPr>
        <p:blipFill>
          <a:blip r:embed="rId2"/>
          <a:stretch>
            <a:fillRect/>
          </a:stretch>
        </p:blipFill>
        <p:spPr>
          <a:xfrm>
            <a:off x="1051560" y="1737360"/>
            <a:ext cx="10058400" cy="1005840"/>
          </a:xfrm>
          <a:prstGeom prst="rect">
            <a:avLst/>
          </a:prstGeom>
        </p:spPr>
      </p:pic>
      <p:sp>
        <p:nvSpPr>
          <p:cNvPr id="9" name="TextBox 8"/>
          <p:cNvSpPr txBox="1"/>
          <p:nvPr/>
        </p:nvSpPr>
        <p:spPr>
          <a:xfrm>
            <a:off x="868680" y="3108960"/>
            <a:ext cx="5029200" cy="548640"/>
          </a:xfrm>
          <a:prstGeom prst="rect">
            <a:avLst/>
          </a:prstGeom>
          <a:noFill/>
        </p:spPr>
        <p:txBody>
          <a:bodyPr wrap="square" lIns="0" rIns="0" tIns="0" bIns="0">
            <a:spAutoFit/>
          </a:bodyPr>
          <a:lstStyle/>
          <a:p>
            <a:pPr>
              <a:spcAft>
                <a:spcPts val="780"/>
              </a:spcAft>
              <a:defRPr sz="2600" b="1">
                <a:solidFill>
                  <a:srgbClr val="267F83"/>
                </a:solidFill>
                <a:latin typeface="Liberation Sans"/>
              </a:defRPr>
            </a:pPr>
            <a:r>
              <a:t>Ω: hormigón activo</a:t>
            </a:r>
          </a:p>
        </p:txBody>
      </p:sp>
      <p:sp>
        <p:nvSpPr>
          <p:cNvPr id="10" name="TextBox 9"/>
          <p:cNvSpPr txBox="1"/>
          <p:nvPr/>
        </p:nvSpPr>
        <p:spPr>
          <a:xfrm>
            <a:off x="868680" y="3840480"/>
            <a:ext cx="4846320" cy="960120"/>
          </a:xfrm>
          <a:prstGeom prst="rect">
            <a:avLst/>
          </a:prstGeom>
          <a:noFill/>
        </p:spPr>
        <p:txBody>
          <a:bodyPr wrap="square" lIns="0" rIns="0" tIns="0" bIns="0">
            <a:spAutoFit/>
          </a:bodyPr>
          <a:lstStyle/>
          <a:p>
            <a:pPr>
              <a:spcAft>
                <a:spcPts val="660"/>
              </a:spcAft>
              <a:defRPr sz="2200" b="0">
                <a:solidFill>
                  <a:srgbClr val="526572"/>
                </a:solidFill>
                <a:latin typeface="Liberation Sans"/>
              </a:defRPr>
            </a:pPr>
            <a:r>
              <a:t>Buscar su temperatura máxima</a:t>
            </a:r>
          </a:p>
          <a:p>
            <a:pPr>
              <a:spcAft>
                <a:spcPts val="660"/>
              </a:spcAft>
              <a:defRPr sz="2200" b="0">
                <a:solidFill>
                  <a:srgbClr val="526572"/>
                </a:solidFill>
                <a:latin typeface="Liberation Sans"/>
              </a:defRPr>
            </a:pPr>
            <a:r>
              <a:t>en cada instante.</a:t>
            </a:r>
          </a:p>
        </p:txBody>
      </p:sp>
      <p:sp>
        <p:nvSpPr>
          <p:cNvPr id="11" name="TextBox 10"/>
          <p:cNvSpPr txBox="1"/>
          <p:nvPr/>
        </p:nvSpPr>
        <p:spPr>
          <a:xfrm>
            <a:off x="6400800" y="3108960"/>
            <a:ext cx="5029200" cy="548640"/>
          </a:xfrm>
          <a:prstGeom prst="rect">
            <a:avLst/>
          </a:prstGeom>
          <a:noFill/>
        </p:spPr>
        <p:txBody>
          <a:bodyPr wrap="square" lIns="0" rIns="0" tIns="0" bIns="0">
            <a:spAutoFit/>
          </a:bodyPr>
          <a:lstStyle/>
          <a:p>
            <a:pPr>
              <a:spcAft>
                <a:spcPts val="780"/>
              </a:spcAft>
              <a:defRPr sz="2600" b="1">
                <a:solidFill>
                  <a:srgbClr val="267F83"/>
                </a:solidFill>
                <a:latin typeface="Liberation Sans"/>
              </a:defRPr>
            </a:pPr>
            <a:r>
              <a:t>S₂₅: zona bajo la superficie</a:t>
            </a:r>
          </a:p>
        </p:txBody>
      </p:sp>
      <p:sp>
        <p:nvSpPr>
          <p:cNvPr id="12" name="TextBox 11"/>
          <p:cNvSpPr txBox="1"/>
          <p:nvPr/>
        </p:nvSpPr>
        <p:spPr>
          <a:xfrm>
            <a:off x="6400800" y="3840480"/>
            <a:ext cx="5029200" cy="960120"/>
          </a:xfrm>
          <a:prstGeom prst="rect">
            <a:avLst/>
          </a:prstGeom>
          <a:noFill/>
        </p:spPr>
        <p:txBody>
          <a:bodyPr wrap="square" lIns="0" rIns="0" tIns="0" bIns="0">
            <a:spAutoFit/>
          </a:bodyPr>
          <a:lstStyle/>
          <a:p>
            <a:pPr>
              <a:spcAft>
                <a:spcPts val="660"/>
              </a:spcAft>
              <a:defRPr sz="2200" b="0">
                <a:solidFill>
                  <a:srgbClr val="526572"/>
                </a:solidFill>
                <a:latin typeface="Liberation Sans"/>
              </a:defRPr>
            </a:pPr>
            <a:r>
              <a:t>Puntos representativos a ≈25 mm.</a:t>
            </a:r>
          </a:p>
          <a:p>
            <a:pPr>
              <a:spcAft>
                <a:spcPts val="660"/>
              </a:spcAft>
              <a:defRPr sz="2200" b="0">
                <a:solidFill>
                  <a:srgbClr val="526572"/>
                </a:solidFill>
                <a:latin typeface="Liberation Sans"/>
              </a:defRPr>
            </a:pPr>
            <a:r>
              <a:t>Tomar la mínima en el mismo instante.</a:t>
            </a:r>
          </a:p>
        </p:txBody>
      </p:sp>
      <p:sp>
        <p:nvSpPr>
          <p:cNvPr id="13" name="Rounded Rectangle 12"/>
          <p:cNvSpPr/>
          <p:nvPr/>
        </p:nvSpPr>
        <p:spPr>
          <a:xfrm>
            <a:off x="502920" y="5705856"/>
            <a:ext cx="11183112" cy="457200"/>
          </a:xfrm>
          <a:prstGeom prst="roundRect">
            <a:avLst>
              <a:gd name="adj" fmla="val 8000"/>
            </a:avLst>
          </a:prstGeom>
          <a:solidFill>
            <a:srgbClr val="CD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5779008"/>
            <a:ext cx="10789920" cy="320040"/>
          </a:xfrm>
          <a:prstGeom prst="rect">
            <a:avLst/>
          </a:prstGeom>
          <a:noFill/>
        </p:spPr>
        <p:txBody>
          <a:bodyPr wrap="square" lIns="0" rIns="0" tIns="0" bIns="0">
            <a:spAutoFit/>
          </a:bodyPr>
          <a:lstStyle/>
          <a:p>
            <a:pPr>
              <a:spcAft>
                <a:spcPts val="480"/>
              </a:spcAft>
              <a:defRPr sz="1600" b="1">
                <a:solidFill>
                  <a:srgbClr val="163244"/>
                </a:solidFill>
                <a:latin typeface="Liberation Sans"/>
              </a:defRPr>
            </a:pPr>
            <a:r>
              <a:t>Luego tomar el máximo temporal en los 14 días. Explicar cómo la grilla representa S₂₅.</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ANEXO / SOLVER</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Estabilidad: saber cuándo aplica la fórmula</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Guía G05 · Difusión pura, propiedades constantes y esquema explícito</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31</a:t>
            </a:r>
          </a:p>
        </p:txBody>
      </p:sp>
      <p:pic>
        <p:nvPicPr>
          <p:cNvPr id="8" name="Picture 7" descr="fo.png"/>
          <p:cNvPicPr>
            <a:picLocks noChangeAspect="1"/>
          </p:cNvPicPr>
          <p:nvPr/>
        </p:nvPicPr>
        <p:blipFill>
          <a:blip r:embed="rId2"/>
          <a:stretch>
            <a:fillRect/>
          </a:stretch>
        </p:blipFill>
        <p:spPr>
          <a:xfrm>
            <a:off x="2104374" y="1783080"/>
            <a:ext cx="8044210" cy="1325880"/>
          </a:xfrm>
          <a:prstGeom prst="rect">
            <a:avLst/>
          </a:prstGeom>
        </p:spPr>
      </p:pic>
      <p:sp>
        <p:nvSpPr>
          <p:cNvPr id="9" name="TextBox 8"/>
          <p:cNvSpPr txBox="1"/>
          <p:nvPr/>
        </p:nvSpPr>
        <p:spPr>
          <a:xfrm>
            <a:off x="1097280" y="3657600"/>
            <a:ext cx="2560320" cy="502920"/>
          </a:xfrm>
          <a:prstGeom prst="rect">
            <a:avLst/>
          </a:prstGeom>
          <a:noFill/>
        </p:spPr>
        <p:txBody>
          <a:bodyPr wrap="square" lIns="0" rIns="0" tIns="0" bIns="0">
            <a:spAutoFit/>
          </a:bodyPr>
          <a:lstStyle/>
          <a:p>
            <a:pPr>
              <a:spcAft>
                <a:spcPts val="840"/>
              </a:spcAft>
              <a:defRPr sz="2800" b="1">
                <a:solidFill>
                  <a:srgbClr val="267F83"/>
                </a:solidFill>
                <a:latin typeface="Liberation Sans"/>
              </a:defRPr>
            </a:pPr>
            <a:r>
              <a:t>1D</a:t>
            </a:r>
          </a:p>
        </p:txBody>
      </p:sp>
      <p:sp>
        <p:nvSpPr>
          <p:cNvPr id="10" name="TextBox 9"/>
          <p:cNvSpPr txBox="1"/>
          <p:nvPr/>
        </p:nvSpPr>
        <p:spPr>
          <a:xfrm>
            <a:off x="1097280" y="4434840"/>
            <a:ext cx="2743200" cy="594360"/>
          </a:xfrm>
          <a:prstGeom prst="rect">
            <a:avLst/>
          </a:prstGeom>
          <a:noFill/>
        </p:spPr>
        <p:txBody>
          <a:bodyPr wrap="square" lIns="0" rIns="0" tIns="0" bIns="0">
            <a:spAutoFit/>
          </a:bodyPr>
          <a:lstStyle/>
          <a:p>
            <a:pPr>
              <a:spcAft>
                <a:spcPts val="900"/>
              </a:spcAft>
              <a:defRPr sz="3000" b="1">
                <a:solidFill>
                  <a:srgbClr val="163244"/>
                </a:solidFill>
                <a:latin typeface="Liberation Sans"/>
              </a:defRPr>
            </a:pPr>
            <a:r>
              <a:t>Fo ≤ 1/2</a:t>
            </a:r>
          </a:p>
        </p:txBody>
      </p:sp>
      <p:sp>
        <p:nvSpPr>
          <p:cNvPr id="11" name="TextBox 10"/>
          <p:cNvSpPr txBox="1"/>
          <p:nvPr/>
        </p:nvSpPr>
        <p:spPr>
          <a:xfrm>
            <a:off x="4892040" y="3657600"/>
            <a:ext cx="2560320" cy="502920"/>
          </a:xfrm>
          <a:prstGeom prst="rect">
            <a:avLst/>
          </a:prstGeom>
          <a:noFill/>
        </p:spPr>
        <p:txBody>
          <a:bodyPr wrap="square" lIns="0" rIns="0" tIns="0" bIns="0">
            <a:spAutoFit/>
          </a:bodyPr>
          <a:lstStyle/>
          <a:p>
            <a:pPr>
              <a:spcAft>
                <a:spcPts val="840"/>
              </a:spcAft>
              <a:defRPr sz="2800" b="1">
                <a:solidFill>
                  <a:srgbClr val="267F83"/>
                </a:solidFill>
                <a:latin typeface="Liberation Sans"/>
              </a:defRPr>
            </a:pPr>
            <a:r>
              <a:t>2D</a:t>
            </a:r>
          </a:p>
        </p:txBody>
      </p:sp>
      <p:sp>
        <p:nvSpPr>
          <p:cNvPr id="12" name="TextBox 11"/>
          <p:cNvSpPr txBox="1"/>
          <p:nvPr/>
        </p:nvSpPr>
        <p:spPr>
          <a:xfrm>
            <a:off x="4892040" y="4434840"/>
            <a:ext cx="2743200" cy="594360"/>
          </a:xfrm>
          <a:prstGeom prst="rect">
            <a:avLst/>
          </a:prstGeom>
          <a:noFill/>
        </p:spPr>
        <p:txBody>
          <a:bodyPr wrap="square" lIns="0" rIns="0" tIns="0" bIns="0">
            <a:spAutoFit/>
          </a:bodyPr>
          <a:lstStyle/>
          <a:p>
            <a:pPr>
              <a:spcAft>
                <a:spcPts val="900"/>
              </a:spcAft>
              <a:defRPr sz="3000" b="1">
                <a:solidFill>
                  <a:srgbClr val="163244"/>
                </a:solidFill>
                <a:latin typeface="Liberation Sans"/>
              </a:defRPr>
            </a:pPr>
            <a:r>
              <a:t>Fo ≤ 1/4</a:t>
            </a:r>
          </a:p>
        </p:txBody>
      </p:sp>
      <p:sp>
        <p:nvSpPr>
          <p:cNvPr id="13" name="TextBox 12"/>
          <p:cNvSpPr txBox="1"/>
          <p:nvPr/>
        </p:nvSpPr>
        <p:spPr>
          <a:xfrm>
            <a:off x="8641080" y="3657600"/>
            <a:ext cx="2560320" cy="502920"/>
          </a:xfrm>
          <a:prstGeom prst="rect">
            <a:avLst/>
          </a:prstGeom>
          <a:noFill/>
        </p:spPr>
        <p:txBody>
          <a:bodyPr wrap="square" lIns="0" rIns="0" tIns="0" bIns="0">
            <a:spAutoFit/>
          </a:bodyPr>
          <a:lstStyle/>
          <a:p>
            <a:pPr>
              <a:spcAft>
                <a:spcPts val="840"/>
              </a:spcAft>
              <a:defRPr sz="2800" b="1">
                <a:solidFill>
                  <a:srgbClr val="267F83"/>
                </a:solidFill>
                <a:latin typeface="Liberation Sans"/>
              </a:defRPr>
            </a:pPr>
            <a:r>
              <a:t>3D</a:t>
            </a:r>
          </a:p>
        </p:txBody>
      </p:sp>
      <p:sp>
        <p:nvSpPr>
          <p:cNvPr id="14" name="TextBox 13"/>
          <p:cNvSpPr txBox="1"/>
          <p:nvPr/>
        </p:nvSpPr>
        <p:spPr>
          <a:xfrm>
            <a:off x="8641080" y="4434840"/>
            <a:ext cx="2743200" cy="594360"/>
          </a:xfrm>
          <a:prstGeom prst="rect">
            <a:avLst/>
          </a:prstGeom>
          <a:noFill/>
        </p:spPr>
        <p:txBody>
          <a:bodyPr wrap="square" lIns="0" rIns="0" tIns="0" bIns="0">
            <a:spAutoFit/>
          </a:bodyPr>
          <a:lstStyle/>
          <a:p>
            <a:pPr>
              <a:spcAft>
                <a:spcPts val="900"/>
              </a:spcAft>
              <a:defRPr sz="3000" b="1">
                <a:solidFill>
                  <a:srgbClr val="163244"/>
                </a:solidFill>
                <a:latin typeface="Liberation Sans"/>
              </a:defRPr>
            </a:pPr>
            <a:r>
              <a:t>Fo ≤ 1/6</a:t>
            </a:r>
          </a:p>
        </p:txBody>
      </p:sp>
      <p:sp>
        <p:nvSpPr>
          <p:cNvPr id="15" name="TextBox 14"/>
          <p:cNvSpPr txBox="1"/>
          <p:nvPr/>
        </p:nvSpPr>
        <p:spPr>
          <a:xfrm>
            <a:off x="822960" y="5413248"/>
            <a:ext cx="10607040" cy="548640"/>
          </a:xfrm>
          <a:prstGeom prst="rect">
            <a:avLst/>
          </a:prstGeom>
          <a:noFill/>
        </p:spPr>
        <p:txBody>
          <a:bodyPr wrap="square" lIns="0" rIns="0" tIns="0" bIns="0">
            <a:spAutoFit/>
          </a:bodyPr>
          <a:lstStyle/>
          <a:p>
            <a:pPr>
              <a:spcAft>
                <a:spcPts val="570"/>
              </a:spcAft>
              <a:defRPr sz="1900" b="0">
                <a:solidFill>
                  <a:srgbClr val="526572"/>
                </a:solidFill>
                <a:latin typeface="Liberation Sans"/>
              </a:defRPr>
            </a:pPr>
            <a:r>
              <a:t>Fo = α Δt / Δx² · Casos con espaciamiento uniforme e igual en cada dirección.</a:t>
            </a:r>
          </a:p>
        </p:txBody>
      </p:sp>
      <p:sp>
        <p:nvSpPr>
          <p:cNvPr id="16" name="Rounded Rectangle 15"/>
          <p:cNvSpPr/>
          <p:nvPr/>
        </p:nvSpPr>
        <p:spPr>
          <a:xfrm>
            <a:off x="502920" y="5705856"/>
            <a:ext cx="11183112" cy="457200"/>
          </a:xfrm>
          <a:prstGeom prst="roundRect">
            <a:avLst>
              <a:gd name="adj" fmla="val 8000"/>
            </a:avLst>
          </a:prstGeom>
          <a:solidFill>
            <a:srgbClr val="CDE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779008"/>
            <a:ext cx="10789920" cy="320040"/>
          </a:xfrm>
          <a:prstGeom prst="rect">
            <a:avLst/>
          </a:prstGeom>
          <a:noFill/>
        </p:spPr>
        <p:txBody>
          <a:bodyPr wrap="square" lIns="0" rIns="0" tIns="0" bIns="0">
            <a:spAutoFit/>
          </a:bodyPr>
          <a:lstStyle/>
          <a:p>
            <a:pPr>
              <a:spcAft>
                <a:spcPts val="480"/>
              </a:spcAft>
              <a:defRPr sz="1600" b="1">
                <a:solidFill>
                  <a:srgbClr val="163244"/>
                </a:solidFill>
                <a:latin typeface="Liberation Sans"/>
              </a:defRPr>
            </a:pPr>
            <a:r>
              <a:t>Con materiales y bordes heterogéneos, revisar las conductancias y la estabilidad local.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ANEXO / BIBLIOGRAFÍA</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La bibliografía amplía el juicio de ingeniería</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Referencias complementarias de bib/ · Sin agregar exigencias al curso</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32</a:t>
            </a:r>
          </a:p>
        </p:txBody>
      </p:sp>
      <p:sp>
        <p:nvSpPr>
          <p:cNvPr id="8" name="Rectangle 7"/>
          <p:cNvSpPr/>
          <p:nvPr/>
        </p:nvSpPr>
        <p:spPr>
          <a:xfrm>
            <a:off x="685800" y="1828800"/>
            <a:ext cx="10835640" cy="475488"/>
          </a:xfrm>
          <a:prstGeom prst="rect">
            <a:avLst/>
          </a:prstGeom>
          <a:solidFill>
            <a:srgbClr val="16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938528"/>
            <a:ext cx="3968496" cy="310896"/>
          </a:xfrm>
          <a:prstGeom prst="rect">
            <a:avLst/>
          </a:prstGeom>
          <a:noFill/>
        </p:spPr>
        <p:txBody>
          <a:bodyPr wrap="square" lIns="0" rIns="0" tIns="0" bIns="0">
            <a:spAutoFit/>
          </a:bodyPr>
          <a:lstStyle/>
          <a:p>
            <a:pPr>
              <a:spcAft>
                <a:spcPts val="600"/>
              </a:spcAft>
              <a:defRPr sz="2000" b="1">
                <a:solidFill>
                  <a:srgbClr val="FFFFFF"/>
                </a:solidFill>
                <a:latin typeface="Liberation Sans"/>
              </a:defRPr>
            </a:pPr>
            <a:r>
              <a:t>Referencia</a:t>
            </a:r>
          </a:p>
        </p:txBody>
      </p:sp>
      <p:sp>
        <p:nvSpPr>
          <p:cNvPr id="10" name="TextBox 9"/>
          <p:cNvSpPr txBox="1"/>
          <p:nvPr/>
        </p:nvSpPr>
        <p:spPr>
          <a:xfrm>
            <a:off x="5010912" y="1938528"/>
            <a:ext cx="6391656" cy="310896"/>
          </a:xfrm>
          <a:prstGeom prst="rect">
            <a:avLst/>
          </a:prstGeom>
          <a:noFill/>
        </p:spPr>
        <p:txBody>
          <a:bodyPr wrap="square" lIns="0" rIns="0" tIns="0" bIns="0">
            <a:spAutoFit/>
          </a:bodyPr>
          <a:lstStyle/>
          <a:p>
            <a:pPr>
              <a:spcAft>
                <a:spcPts val="600"/>
              </a:spcAft>
              <a:defRPr sz="2000" b="1">
                <a:solidFill>
                  <a:srgbClr val="FFFFFF"/>
                </a:solidFill>
                <a:latin typeface="Liberation Sans"/>
              </a:defRPr>
            </a:pPr>
            <a:r>
              <a:t>Aporte al proyecto</a:t>
            </a:r>
          </a:p>
        </p:txBody>
      </p:sp>
      <p:sp>
        <p:nvSpPr>
          <p:cNvPr id="11" name="Rectangle 10"/>
          <p:cNvSpPr/>
          <p:nvPr/>
        </p:nvSpPr>
        <p:spPr>
          <a:xfrm>
            <a:off x="685800" y="2304288"/>
            <a:ext cx="1083564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414016"/>
            <a:ext cx="3968496" cy="484631"/>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Smolana et al. (2021)</a:t>
            </a:r>
          </a:p>
        </p:txBody>
      </p:sp>
      <p:sp>
        <p:nvSpPr>
          <p:cNvPr id="13" name="TextBox 12"/>
          <p:cNvSpPr txBox="1"/>
          <p:nvPr/>
        </p:nvSpPr>
        <p:spPr>
          <a:xfrm>
            <a:off x="5010912" y="2414016"/>
            <a:ext cx="6391656" cy="484631"/>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Secuencia, aislación y efecto del ambiente.</a:t>
            </a:r>
          </a:p>
        </p:txBody>
      </p:sp>
      <p:sp>
        <p:nvSpPr>
          <p:cNvPr id="14" name="Rectangle 13"/>
          <p:cNvSpPr/>
          <p:nvPr/>
        </p:nvSpPr>
        <p:spPr>
          <a:xfrm>
            <a:off x="685800" y="2935224"/>
            <a:ext cx="10835640" cy="630936"/>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044952"/>
            <a:ext cx="3968496" cy="484631"/>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Wang et al. (2025)</a:t>
            </a:r>
          </a:p>
        </p:txBody>
      </p:sp>
      <p:sp>
        <p:nvSpPr>
          <p:cNvPr id="16" name="TextBox 15"/>
          <p:cNvSpPr txBox="1"/>
          <p:nvPr/>
        </p:nvSpPr>
        <p:spPr>
          <a:xfrm>
            <a:off x="5010912" y="3044952"/>
            <a:ext cx="6391656" cy="484631"/>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Instrumentación térmica y calidad de datos.</a:t>
            </a:r>
          </a:p>
        </p:txBody>
      </p:sp>
      <p:sp>
        <p:nvSpPr>
          <p:cNvPr id="17" name="Rectangle 16"/>
          <p:cNvSpPr/>
          <p:nvPr/>
        </p:nvSpPr>
        <p:spPr>
          <a:xfrm>
            <a:off x="685800" y="3566160"/>
            <a:ext cx="1083564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675887"/>
            <a:ext cx="3968496" cy="484631"/>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Iowa / InTrans (2011)</a:t>
            </a:r>
          </a:p>
        </p:txBody>
      </p:sp>
      <p:sp>
        <p:nvSpPr>
          <p:cNvPr id="19" name="TextBox 18"/>
          <p:cNvSpPr txBox="1"/>
          <p:nvPr/>
        </p:nvSpPr>
        <p:spPr>
          <a:xfrm>
            <a:off x="5010912" y="3675887"/>
            <a:ext cx="6391656" cy="484631"/>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Sensibilidad a mezcla y decisiones de ejecución.</a:t>
            </a:r>
          </a:p>
        </p:txBody>
      </p:sp>
      <p:sp>
        <p:nvSpPr>
          <p:cNvPr id="20" name="Rectangle 19"/>
          <p:cNvSpPr/>
          <p:nvPr/>
        </p:nvSpPr>
        <p:spPr>
          <a:xfrm>
            <a:off x="685800" y="4197096"/>
            <a:ext cx="10835640" cy="630936"/>
          </a:xfrm>
          <a:prstGeom prst="rect">
            <a:avLst/>
          </a:prstGeom>
          <a:solidFill>
            <a:srgbClr val="EEE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4306824"/>
            <a:ext cx="3968496" cy="484631"/>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Bester (2013)</a:t>
            </a:r>
          </a:p>
        </p:txBody>
      </p:sp>
      <p:sp>
        <p:nvSpPr>
          <p:cNvPr id="22" name="TextBox 21"/>
          <p:cNvSpPr txBox="1"/>
          <p:nvPr/>
        </p:nvSpPr>
        <p:spPr>
          <a:xfrm>
            <a:off x="5010912" y="4306824"/>
            <a:ext cx="6391656" cy="484631"/>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Contexto de hormigón en edificios altos.</a:t>
            </a:r>
          </a:p>
        </p:txBody>
      </p:sp>
      <p:sp>
        <p:nvSpPr>
          <p:cNvPr id="23" name="Rectangle 22"/>
          <p:cNvSpPr/>
          <p:nvPr/>
        </p:nvSpPr>
        <p:spPr>
          <a:xfrm>
            <a:off x="685800" y="4828031"/>
            <a:ext cx="10835640" cy="6309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937759"/>
            <a:ext cx="3968496" cy="484631"/>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Esmaeelpour et al. / 26-009</a:t>
            </a:r>
          </a:p>
        </p:txBody>
      </p:sp>
      <p:sp>
        <p:nvSpPr>
          <p:cNvPr id="25" name="TextBox 24"/>
          <p:cNvSpPr txBox="1"/>
          <p:nvPr/>
        </p:nvSpPr>
        <p:spPr>
          <a:xfrm>
            <a:off x="5010912" y="4937759"/>
            <a:ext cx="6391656" cy="484631"/>
          </a:xfrm>
          <a:prstGeom prst="rect">
            <a:avLst/>
          </a:prstGeom>
          <a:noFill/>
        </p:spPr>
        <p:txBody>
          <a:bodyPr wrap="square" lIns="0" rIns="0" tIns="0" bIns="0">
            <a:spAutoFit/>
          </a:bodyPr>
          <a:lstStyle/>
          <a:p>
            <a:pPr>
              <a:spcAft>
                <a:spcPts val="600"/>
              </a:spcAft>
              <a:defRPr sz="2000" b="0">
                <a:solidFill>
                  <a:srgbClr val="163244"/>
                </a:solidFill>
                <a:latin typeface="Liberation Sans"/>
              </a:defRPr>
            </a:pPr>
            <a:r>
              <a:t>Creep y retracción: fuera del núcleo exigido.</a:t>
            </a:r>
          </a:p>
        </p:txBody>
      </p:sp>
      <p:sp>
        <p:nvSpPr>
          <p:cNvPr id="26" name="TextBox 25"/>
          <p:cNvSpPr txBox="1"/>
          <p:nvPr/>
        </p:nvSpPr>
        <p:spPr>
          <a:xfrm>
            <a:off x="777240" y="5806440"/>
            <a:ext cx="10789920" cy="411480"/>
          </a:xfrm>
          <a:prstGeom prst="rect">
            <a:avLst/>
          </a:prstGeom>
          <a:noFill/>
        </p:spPr>
        <p:txBody>
          <a:bodyPr wrap="square" lIns="0" rIns="0" tIns="0" bIns="0">
            <a:spAutoFit/>
          </a:bodyPr>
          <a:lstStyle/>
          <a:p>
            <a:pPr>
              <a:spcAft>
                <a:spcPts val="630"/>
              </a:spcAft>
              <a:defRPr sz="2100" b="1">
                <a:solidFill>
                  <a:srgbClr val="267F83"/>
                </a:solidFill>
                <a:latin typeface="Liberation Sans"/>
              </a:defRPr>
            </a:pPr>
            <a:r>
              <a:t>Los criterios y entregables oficiales se toman de los documentos del curso.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502920" y="228600"/>
            <a:ext cx="7315200" cy="228600"/>
          </a:xfrm>
          <a:prstGeom prst="rect">
            <a:avLst/>
          </a:prstGeom>
          <a:noFill/>
        </p:spPr>
        <p:txBody>
          <a:bodyPr wrap="square" lIns="0" rIns="0" tIns="0" bIns="0">
            <a:spAutoFit/>
          </a:bodyPr>
          <a:lstStyle/>
          <a:p>
            <a:pPr>
              <a:spcAft>
                <a:spcPts val="300"/>
              </a:spcAft>
              <a:defRPr sz="1000" b="1">
                <a:solidFill>
                  <a:srgbClr val="267F83"/>
                </a:solidFill>
                <a:latin typeface="Liberation Sans"/>
              </a:defRPr>
            </a:pPr>
            <a:r>
              <a:t>MÉTODOS COMPUTACIONALES  /  PROYECTO 2</a:t>
            </a:r>
          </a:p>
        </p:txBody>
      </p:sp>
      <p:sp>
        <p:nvSpPr>
          <p:cNvPr id="3" name="TextBox 2"/>
          <p:cNvSpPr txBox="1"/>
          <p:nvPr/>
        </p:nvSpPr>
        <p:spPr>
          <a:xfrm>
            <a:off x="8229600" y="228600"/>
            <a:ext cx="3429000" cy="228600"/>
          </a:xfrm>
          <a:prstGeom prst="rect">
            <a:avLst/>
          </a:prstGeom>
          <a:noFill/>
        </p:spPr>
        <p:txBody>
          <a:bodyPr wrap="square" lIns="0" rIns="0" tIns="0" bIns="0">
            <a:spAutoFit/>
          </a:bodyPr>
          <a:lstStyle/>
          <a:p>
            <a:pPr algn="r">
              <a:spcAft>
                <a:spcPts val="300"/>
              </a:spcAft>
              <a:defRPr sz="1000" b="0">
                <a:solidFill>
                  <a:srgbClr val="526572"/>
                </a:solidFill>
                <a:latin typeface="Liberation Sans"/>
              </a:defRPr>
            </a:pPr>
            <a:r>
              <a:t>ANEXO / FUENTES</a:t>
            </a:r>
          </a:p>
        </p:txBody>
      </p:sp>
      <p:sp>
        <p:nvSpPr>
          <p:cNvPr id="4" name="TextBox 3"/>
          <p:cNvSpPr txBox="1"/>
          <p:nvPr/>
        </p:nvSpPr>
        <p:spPr>
          <a:xfrm>
            <a:off x="502920" y="731520"/>
            <a:ext cx="11064240" cy="914400"/>
          </a:xfrm>
          <a:prstGeom prst="rect">
            <a:avLst/>
          </a:prstGeom>
          <a:noFill/>
        </p:spPr>
        <p:txBody>
          <a:bodyPr wrap="square" lIns="0" rIns="0" tIns="0" bIns="0">
            <a:spAutoFit/>
          </a:bodyPr>
          <a:lstStyle/>
          <a:p>
            <a:pPr>
              <a:spcAft>
                <a:spcPts val="960"/>
              </a:spcAft>
              <a:defRPr sz="3200" b="1">
                <a:solidFill>
                  <a:srgbClr val="163244"/>
                </a:solidFill>
                <a:latin typeface="Liberation Sans"/>
              </a:defRPr>
            </a:pPr>
            <a:r>
              <a:t>Créditos de imágenes y fuentes consultadas</a:t>
            </a:r>
          </a:p>
        </p:txBody>
      </p:sp>
      <p:cxnSp>
        <p:nvCxnSpPr>
          <p:cNvPr id="5" name="Connector 4"/>
          <p:cNvCxnSpPr/>
          <p:nvPr/>
        </p:nvCxnSpPr>
        <p:spPr>
          <a:xfrm>
            <a:off x="502920" y="6382512"/>
            <a:ext cx="11183112" cy="0"/>
          </a:xfrm>
          <a:prstGeom prst="line">
            <a:avLst/>
          </a:prstGeom>
          <a:ln w="10160">
            <a:solidFill>
              <a:srgbClr val="D6DD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83096"/>
            <a:ext cx="10561320" cy="210312"/>
          </a:xfrm>
          <a:prstGeom prst="rect">
            <a:avLst/>
          </a:prstGeom>
          <a:noFill/>
        </p:spPr>
        <p:txBody>
          <a:bodyPr wrap="square" lIns="0" rIns="0" tIns="0" bIns="0">
            <a:spAutoFit/>
          </a:bodyPr>
          <a:lstStyle/>
          <a:p>
            <a:pPr>
              <a:spcAft>
                <a:spcPts val="270"/>
              </a:spcAft>
              <a:defRPr sz="900" b="0">
                <a:solidFill>
                  <a:srgbClr val="526572"/>
                </a:solidFill>
                <a:latin typeface="Liberation Sans"/>
              </a:defRPr>
            </a:pPr>
            <a:r>
              <a:t>URLs completas, archivos y páginas en las notas y en FUENTES_Y_NOTAS.md</a:t>
            </a:r>
          </a:p>
        </p:txBody>
      </p:sp>
      <p:sp>
        <p:nvSpPr>
          <p:cNvPr id="7" name="TextBox 6"/>
          <p:cNvSpPr txBox="1"/>
          <p:nvPr/>
        </p:nvSpPr>
        <p:spPr>
          <a:xfrm>
            <a:off x="11064240" y="6464808"/>
            <a:ext cx="594360" cy="256032"/>
          </a:xfrm>
          <a:prstGeom prst="rect">
            <a:avLst/>
          </a:prstGeom>
          <a:noFill/>
        </p:spPr>
        <p:txBody>
          <a:bodyPr wrap="square" lIns="0" rIns="0" tIns="0" bIns="0">
            <a:spAutoFit/>
          </a:bodyPr>
          <a:lstStyle/>
          <a:p>
            <a:pPr algn="r">
              <a:spcAft>
                <a:spcPts val="330"/>
              </a:spcAft>
              <a:defRPr sz="1100" b="1">
                <a:solidFill>
                  <a:srgbClr val="267F83"/>
                </a:solidFill>
                <a:latin typeface="Liberation Sans"/>
              </a:defRPr>
            </a:pPr>
            <a:r>
              <a:t>33</a:t>
            </a:r>
          </a:p>
        </p:txBody>
      </p:sp>
      <p:sp>
        <p:nvSpPr>
          <p:cNvPr id="8" name="TextBox 7"/>
          <p:cNvSpPr txBox="1"/>
          <p:nvPr/>
        </p:nvSpPr>
        <p:spPr>
          <a:xfrm>
            <a:off x="731520" y="1783080"/>
            <a:ext cx="3474720" cy="411480"/>
          </a:xfrm>
          <a:prstGeom prst="rect">
            <a:avLst/>
          </a:prstGeom>
          <a:noFill/>
        </p:spPr>
        <p:txBody>
          <a:bodyPr wrap="square" lIns="0" rIns="0" tIns="0" bIns="0">
            <a:spAutoFit/>
          </a:bodyPr>
          <a:lstStyle/>
          <a:p>
            <a:pPr>
              <a:spcAft>
                <a:spcPts val="600"/>
              </a:spcAft>
              <a:defRPr sz="2000" b="1">
                <a:solidFill>
                  <a:srgbClr val="267F83"/>
                </a:solidFill>
                <a:latin typeface="Liberation Sans"/>
              </a:defRPr>
            </a:pPr>
            <a:r>
              <a:t>Figuras del caso base</a:t>
            </a:r>
          </a:p>
        </p:txBody>
      </p:sp>
      <p:sp>
        <p:nvSpPr>
          <p:cNvPr id="9" name="TextBox 8"/>
          <p:cNvSpPr txBox="1"/>
          <p:nvPr/>
        </p:nvSpPr>
        <p:spPr>
          <a:xfrm>
            <a:off x="4297680" y="1783080"/>
            <a:ext cx="7132320" cy="530352"/>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rPr>
                <a:hlinkClick r:id="rId2"/>
              </a:rPr>
              <a:t>Ju y Lei (2019) · figs. 1, 2, 4, 7, 10 y 11 · CC BY</a:t>
            </a:r>
          </a:p>
        </p:txBody>
      </p:sp>
      <p:sp>
        <p:nvSpPr>
          <p:cNvPr id="10" name="TextBox 9"/>
          <p:cNvSpPr txBox="1"/>
          <p:nvPr/>
        </p:nvSpPr>
        <p:spPr>
          <a:xfrm>
            <a:off x="731520" y="2478024"/>
            <a:ext cx="3474720" cy="411480"/>
          </a:xfrm>
          <a:prstGeom prst="rect">
            <a:avLst/>
          </a:prstGeom>
          <a:noFill/>
        </p:spPr>
        <p:txBody>
          <a:bodyPr wrap="square" lIns="0" rIns="0" tIns="0" bIns="0">
            <a:spAutoFit/>
          </a:bodyPr>
          <a:lstStyle/>
          <a:p>
            <a:pPr>
              <a:spcAft>
                <a:spcPts val="600"/>
              </a:spcAft>
              <a:defRPr sz="2000" b="1">
                <a:solidFill>
                  <a:srgbClr val="267F83"/>
                </a:solidFill>
                <a:latin typeface="Liberation Sans"/>
              </a:defRPr>
            </a:pPr>
            <a:r>
              <a:t>Diagrama de sensores</a:t>
            </a:r>
          </a:p>
        </p:txBody>
      </p:sp>
      <p:sp>
        <p:nvSpPr>
          <p:cNvPr id="11" name="TextBox 10"/>
          <p:cNvSpPr txBox="1"/>
          <p:nvPr/>
        </p:nvSpPr>
        <p:spPr>
          <a:xfrm>
            <a:off x="4297680" y="2478024"/>
            <a:ext cx="7132320" cy="530352"/>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rPr>
                <a:hlinkClick r:id="rId3"/>
              </a:rPr>
              <a:t>Wang et al. (2025) · fig. 3 · CC BY</a:t>
            </a:r>
          </a:p>
        </p:txBody>
      </p:sp>
      <p:sp>
        <p:nvSpPr>
          <p:cNvPr id="12" name="TextBox 11"/>
          <p:cNvSpPr txBox="1"/>
          <p:nvPr/>
        </p:nvSpPr>
        <p:spPr>
          <a:xfrm>
            <a:off x="731520" y="3172968"/>
            <a:ext cx="3474720" cy="411480"/>
          </a:xfrm>
          <a:prstGeom prst="rect">
            <a:avLst/>
          </a:prstGeom>
          <a:noFill/>
        </p:spPr>
        <p:txBody>
          <a:bodyPr wrap="square" lIns="0" rIns="0" tIns="0" bIns="0">
            <a:spAutoFit/>
          </a:bodyPr>
          <a:lstStyle/>
          <a:p>
            <a:pPr>
              <a:spcAft>
                <a:spcPts val="600"/>
              </a:spcAft>
              <a:defRPr sz="2000" b="1">
                <a:solidFill>
                  <a:srgbClr val="267F83"/>
                </a:solidFill>
                <a:latin typeface="Liberation Sans"/>
              </a:defRPr>
            </a:pPr>
            <a:r>
              <a:t>Fotografía eólica</a:t>
            </a:r>
          </a:p>
        </p:txBody>
      </p:sp>
      <p:sp>
        <p:nvSpPr>
          <p:cNvPr id="13" name="TextBox 12"/>
          <p:cNvSpPr txBox="1"/>
          <p:nvPr/>
        </p:nvSpPr>
        <p:spPr>
          <a:xfrm>
            <a:off x="4297680" y="3172968"/>
            <a:ext cx="7132320" cy="530352"/>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rPr>
                <a:hlinkClick r:id="rId4"/>
              </a:rPr>
              <a:t>ACCIONA · Punta Palmeras, Chile · crédito al titular</a:t>
            </a:r>
          </a:p>
        </p:txBody>
      </p:sp>
      <p:sp>
        <p:nvSpPr>
          <p:cNvPr id="14" name="TextBox 13"/>
          <p:cNvSpPr txBox="1"/>
          <p:nvPr/>
        </p:nvSpPr>
        <p:spPr>
          <a:xfrm>
            <a:off x="731520" y="3867912"/>
            <a:ext cx="3474720" cy="411480"/>
          </a:xfrm>
          <a:prstGeom prst="rect">
            <a:avLst/>
          </a:prstGeom>
          <a:noFill/>
        </p:spPr>
        <p:txBody>
          <a:bodyPr wrap="square" lIns="0" rIns="0" tIns="0" bIns="0">
            <a:spAutoFit/>
          </a:bodyPr>
          <a:lstStyle/>
          <a:p>
            <a:pPr>
              <a:spcAft>
                <a:spcPts val="600"/>
              </a:spcAft>
              <a:defRPr sz="2000" b="1">
                <a:solidFill>
                  <a:srgbClr val="267F83"/>
                </a:solidFill>
                <a:latin typeface="Liberation Sans"/>
              </a:defRPr>
            </a:pPr>
            <a:r>
              <a:t>Captura de interfaz</a:t>
            </a:r>
          </a:p>
        </p:txBody>
      </p:sp>
      <p:sp>
        <p:nvSpPr>
          <p:cNvPr id="15" name="TextBox 14"/>
          <p:cNvSpPr txBox="1"/>
          <p:nvPr/>
        </p:nvSpPr>
        <p:spPr>
          <a:xfrm>
            <a:off x="4297680" y="3867912"/>
            <a:ext cx="7132320" cy="530352"/>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rPr>
                <a:hlinkClick r:id="rId5"/>
              </a:rPr>
              <a:t>Documentación oficial de Bonsai / IfcOpenShell</a:t>
            </a:r>
          </a:p>
        </p:txBody>
      </p:sp>
      <p:sp>
        <p:nvSpPr>
          <p:cNvPr id="16" name="TextBox 15"/>
          <p:cNvSpPr txBox="1"/>
          <p:nvPr/>
        </p:nvSpPr>
        <p:spPr>
          <a:xfrm>
            <a:off x="731520" y="4562856"/>
            <a:ext cx="3474720" cy="411480"/>
          </a:xfrm>
          <a:prstGeom prst="rect">
            <a:avLst/>
          </a:prstGeom>
          <a:noFill/>
        </p:spPr>
        <p:txBody>
          <a:bodyPr wrap="square" lIns="0" rIns="0" tIns="0" bIns="0">
            <a:spAutoFit/>
          </a:bodyPr>
          <a:lstStyle/>
          <a:p>
            <a:pPr>
              <a:spcAft>
                <a:spcPts val="600"/>
              </a:spcAft>
              <a:defRPr sz="2000" b="1">
                <a:solidFill>
                  <a:srgbClr val="267F83"/>
                </a:solidFill>
                <a:latin typeface="Liberation Sans"/>
              </a:defRPr>
            </a:pPr>
            <a:r>
              <a:t>Mapa y esquemas</a:t>
            </a:r>
          </a:p>
        </p:txBody>
      </p:sp>
      <p:sp>
        <p:nvSpPr>
          <p:cNvPr id="17" name="TextBox 16"/>
          <p:cNvSpPr txBox="1"/>
          <p:nvPr/>
        </p:nvSpPr>
        <p:spPr>
          <a:xfrm>
            <a:off x="4297680" y="4562856"/>
            <a:ext cx="7132320" cy="530352"/>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rPr>
                <a:hlinkClick r:id="rId6"/>
              </a:rPr>
              <a:t>Natural Earth (dominio público) + sitios.yaml; esquemas propios</a:t>
            </a:r>
          </a:p>
        </p:txBody>
      </p:sp>
      <p:sp>
        <p:nvSpPr>
          <p:cNvPr id="18" name="TextBox 17"/>
          <p:cNvSpPr txBox="1"/>
          <p:nvPr/>
        </p:nvSpPr>
        <p:spPr>
          <a:xfrm>
            <a:off x="731520" y="5257800"/>
            <a:ext cx="3474720" cy="411480"/>
          </a:xfrm>
          <a:prstGeom prst="rect">
            <a:avLst/>
          </a:prstGeom>
          <a:noFill/>
        </p:spPr>
        <p:txBody>
          <a:bodyPr wrap="square" lIns="0" rIns="0" tIns="0" bIns="0">
            <a:spAutoFit/>
          </a:bodyPr>
          <a:lstStyle/>
          <a:p>
            <a:pPr>
              <a:spcAft>
                <a:spcPts val="600"/>
              </a:spcAft>
              <a:defRPr sz="2000" b="1">
                <a:solidFill>
                  <a:srgbClr val="267F83"/>
                </a:solidFill>
                <a:latin typeface="Liberation Sans"/>
              </a:defRPr>
            </a:pPr>
            <a:r>
              <a:t>Criterios y datos meteorológicos</a:t>
            </a:r>
          </a:p>
        </p:txBody>
      </p:sp>
      <p:sp>
        <p:nvSpPr>
          <p:cNvPr id="19" name="TextBox 18"/>
          <p:cNvSpPr txBox="1"/>
          <p:nvPr/>
        </p:nvSpPr>
        <p:spPr>
          <a:xfrm>
            <a:off x="4297680" y="5257800"/>
            <a:ext cx="7132320" cy="530352"/>
          </a:xfrm>
          <a:prstGeom prst="rect">
            <a:avLst/>
          </a:prstGeom>
          <a:noFill/>
        </p:spPr>
        <p:txBody>
          <a:bodyPr wrap="square" lIns="0" rIns="0" tIns="0" bIns="0">
            <a:spAutoFit/>
          </a:bodyPr>
          <a:lstStyle/>
          <a:p>
            <a:pPr>
              <a:spcAft>
                <a:spcPts val="540"/>
              </a:spcAft>
              <a:defRPr sz="1800" b="0">
                <a:solidFill>
                  <a:srgbClr val="526572"/>
                </a:solidFill>
                <a:latin typeface="Liberation Sans"/>
              </a:defRPr>
            </a:pPr>
            <a:r>
              <a:rPr>
                <a:hlinkClick r:id="rId7"/>
              </a:rPr>
              <a:t>Especificación ICH; ACI FAQ; documentación Open-Meteo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Planificación de vertidas de hormigón masivo mediante simulación</dc:title>
  <dc:subject>Métodos Computacionales · Proyecto 2 · Lanzamiento 15 de octubre de 2026</dc:subject>
  <dc:creator>Métodos Computacionales</dc:creator>
  <cp:keywords>hormigón masivo, BIM, IFC, difusión térmica, confiabilidad, HPC</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